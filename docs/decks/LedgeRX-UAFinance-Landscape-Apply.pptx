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A1C3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 ·  CTO &amp; INTERNAL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briefing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· capabilities · architecture · landscape apply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draft for alignment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13716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16642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SDK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12480" y="24688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27614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architecture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3566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0" y="385876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landscape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0" y="46634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49560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mapping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deck — product to UAF apply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A1–A6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17520" y="1417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· value · SDK-first · IT journey · capabilities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B7–B10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3317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landscape · request paths · engagement · outcomes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C11–C16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246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as-is · wishlist · target apply · box mapping · runtime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D17–D21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41605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map guide · CC 01–21 · Loan · workshop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846320"/>
            <a:ext cx="111556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5074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17520" y="50749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next conversation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enterprise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points are financial liabilities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scatter across CRM, campaigns, files.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554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40664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change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29400" y="22860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rules wait on release trains.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audit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prove earn or skip.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3520440"/>
            <a:ext cx="5532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38862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406640" y="3931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tax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29400" y="46177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re-builds wallet logic.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LedgeRX 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microservice for programme balances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for wallets &amp; loyalty points — cloud-native, double-entry, runtime-configurable. UA Finance Internal IT integrates via Java SDK + stable HTTP APIs.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provide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(ledger-engine)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 for Internal 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plane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Books · COA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/ trace / fail ops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54406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 owns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3337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membership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749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&amp; loan cores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4160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 / adapters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coupon fulfil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observability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LedgeRX is built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0" y="164592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retail earn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→ points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206240"/>
            <a:ext cx="2697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526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rule change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164592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books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vs Loan COA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4206240"/>
            <a:ext cx="2697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4526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· separable books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1234440"/>
            <a:ext cx="3611880" cy="466344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509760" y="1645920"/>
            <a:ext cx="868680" cy="868680"/>
          </a:xfrm>
          <a:prstGeom prst="ellipse">
            <a:avLst/>
          </a:prstGeom>
          <a:solidFill>
            <a:srgbClr val="E6F5F3"/>
          </a:solidFill>
          <a:ln/>
        </p:spPr>
      </p:sp>
      <p:sp>
        <p:nvSpPr>
          <p:cNvPr id="21" name="Text 19"/>
          <p:cNvSpPr/>
          <p:nvPr/>
        </p:nvSpPr>
        <p:spPr>
          <a:xfrm>
            <a:off x="9509760" y="1828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412480" y="2834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→ settle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12480" y="35661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lock LP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641080" y="4206240"/>
            <a:ext cx="26974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45262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Issuer-style control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SDK-first for Internal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integration is a product feature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Java SDK (ledger-engine-sdk) — typed clients, playbooks, dry-run — so cc-xapi / loan adapters integrate in a sprint, not a research project.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SDK package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JAR under contract for enterprise 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4231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Happy-path APIs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· ingest · dry-run · balances ·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24231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6974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32004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Bootstrap, errors, idempotent eventId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control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/ Brain / COA without platform release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43400" y="4251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cut-over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+ eligibilityTrace + fail queue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83880" y="425196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0" y="45262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native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5029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· mesh · your observability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IT journey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SDK → production events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6012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020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+ guide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92608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6616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233172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2316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PG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3212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429768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8912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Brain COA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9808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364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 + SDK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82396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882396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464040" y="1508760"/>
            <a:ext cx="118872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2" name="Shape 30"/>
          <p:cNvSpPr/>
          <p:nvPr/>
        </p:nvSpPr>
        <p:spPr>
          <a:xfrm>
            <a:off x="822960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32104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matrix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789920" y="1280160"/>
            <a:ext cx="548640" cy="548640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36" name="Text 34"/>
          <p:cNvSpPr/>
          <p:nvPr/>
        </p:nvSpPr>
        <p:spPr>
          <a:xfrm>
            <a:off x="10789920" y="13716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195560" y="2103120"/>
            <a:ext cx="1828800" cy="2194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287000" y="24688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028700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runbooks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02920" y="4709160"/>
            <a:ext cx="11155680" cy="1325880"/>
          </a:xfrm>
          <a:prstGeom prst="roundRect">
            <a:avLst>
              <a:gd name="adj" fmla="val 5517"/>
            </a:avLst>
          </a:prstGeom>
          <a:solidFill>
            <a:srgbClr val="E6F5F3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Buzzword-accurate · engineering-honest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· SDK-assisted · cloud-native · event-driven earn · runtime policy engine · audit-grade double-entry · zero-trust friendly (in-cluster; API key roadmap).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Wallet · Books · COA · Trust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· auto-wallet · default COA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0" y="114300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+ formula JSON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83880" y="114300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58200" y="1463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58200" y="19659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books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24231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ownerId · multi-ccy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661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724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pool · legs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43400" y="35661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1772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1772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/ Loan profiles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83880" y="356616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58200" y="3886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C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458200" y="43891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pack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846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· trace · fail queue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A0E1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UA FINANCE CTO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microservices landscape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platform view  ·  ★ LedgeRX + SDK  ·  Internal IT adapters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1521440" cy="822960"/>
          </a:xfrm>
          <a:prstGeom prst="roundRect">
            <a:avLst>
              <a:gd name="adj" fmla="val 6667"/>
            </a:avLst>
          </a:prstGeom>
          <a:solidFill>
            <a:srgbClr val="1218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353312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9" name="Text 7"/>
          <p:cNvSpPr/>
          <p:nvPr/>
        </p:nvSpPr>
        <p:spPr>
          <a:xfrm>
            <a:off x="1408176" y="1426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08176" y="16824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e6 · POS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353312"/>
            <a:ext cx="1920240" cy="594360"/>
          </a:xfrm>
          <a:prstGeom prst="roundRect">
            <a:avLst>
              <a:gd name="adj" fmla="val 9231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419856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19856" y="168249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TLS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1353312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5522976" y="1426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2976" y="16824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· retries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98080" y="1353312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7534656" y="142646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34656" y="1682496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IdP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509760" y="1353312"/>
            <a:ext cx="2011680" cy="594360"/>
          </a:xfrm>
          <a:prstGeom prst="roundRect">
            <a:avLst>
              <a:gd name="adj" fmla="val 9231"/>
            </a:avLst>
          </a:prstGeom>
          <a:solidFill>
            <a:srgbClr val="1A2332"/>
          </a:solidFill>
          <a:ln/>
        </p:spPr>
      </p:sp>
      <p:sp>
        <p:nvSpPr>
          <p:cNvPr id="21" name="Text 19"/>
          <p:cNvSpPr/>
          <p:nvPr/>
        </p:nvSpPr>
        <p:spPr>
          <a:xfrm>
            <a:off x="9546336" y="14264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46336" y="168249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194560"/>
            <a:ext cx="11521440" cy="2240280"/>
          </a:xfrm>
          <a:prstGeom prst="roundRect">
            <a:avLst>
              <a:gd name="adj" fmla="val 2449"/>
            </a:avLst>
          </a:prstGeom>
          <a:solidFill>
            <a:srgbClr val="12182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01752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9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325880" y="233172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26" name="Text 24"/>
          <p:cNvSpPr/>
          <p:nvPr/>
        </p:nvSpPr>
        <p:spPr>
          <a:xfrm>
            <a:off x="1362456" y="240487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62456" y="266090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71800" y="233172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29" name="Text 27"/>
          <p:cNvSpPr/>
          <p:nvPr/>
        </p:nvSpPr>
        <p:spPr>
          <a:xfrm>
            <a:off x="3008376" y="240487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008376" y="266090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23317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32" name="Text 30"/>
          <p:cNvSpPr/>
          <p:nvPr/>
        </p:nvSpPr>
        <p:spPr>
          <a:xfrm>
            <a:off x="4654296" y="24048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path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54296" y="266090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286000"/>
            <a:ext cx="2331720" cy="73152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377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LedgeRX + SDK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2697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ledger-engine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732520" y="233172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38" name="Text 36"/>
          <p:cNvSpPr/>
          <p:nvPr/>
        </p:nvSpPr>
        <p:spPr>
          <a:xfrm>
            <a:off x="8769096" y="240487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69096" y="266090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0287000" y="2331720"/>
            <a:ext cx="1325880" cy="640080"/>
          </a:xfrm>
          <a:prstGeom prst="roundRect">
            <a:avLst>
              <a:gd name="adj" fmla="val 8571"/>
            </a:avLst>
          </a:prstGeom>
          <a:solidFill>
            <a:srgbClr val="243044"/>
          </a:solidFill>
          <a:ln/>
        </p:spPr>
      </p:sp>
      <p:sp>
        <p:nvSpPr>
          <p:cNvPr id="41" name="Text 39"/>
          <p:cNvSpPr/>
          <p:nvPr/>
        </p:nvSpPr>
        <p:spPr>
          <a:xfrm>
            <a:off x="10323576" y="2404872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323576" y="266090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25880" y="315468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44" name="Text 42"/>
          <p:cNvSpPr/>
          <p:nvPr/>
        </p:nvSpPr>
        <p:spPr>
          <a:xfrm>
            <a:off x="1362456" y="322783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362456" y="348386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971800" y="3154680"/>
            <a:ext cx="150876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47" name="Text 45"/>
          <p:cNvSpPr/>
          <p:nvPr/>
        </p:nvSpPr>
        <p:spPr>
          <a:xfrm>
            <a:off x="3008376" y="3227832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008376" y="3483864"/>
            <a:ext cx="1435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17720" y="3154680"/>
            <a:ext cx="1417320" cy="640080"/>
          </a:xfrm>
          <a:prstGeom prst="roundRect">
            <a:avLst>
              <a:gd name="adj" fmla="val 8571"/>
            </a:avLst>
          </a:prstGeom>
          <a:solidFill>
            <a:srgbClr val="134E4A"/>
          </a:solidFill>
          <a:ln/>
        </p:spPr>
      </p:sp>
      <p:sp>
        <p:nvSpPr>
          <p:cNvPr id="50" name="Text 48"/>
          <p:cNvSpPr/>
          <p:nvPr/>
        </p:nvSpPr>
        <p:spPr>
          <a:xfrm>
            <a:off x="4654296" y="3227832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BFF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54296" y="3483864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UI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17920" y="3154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34E4A"/>
          </a:solidFill>
          <a:ln/>
        </p:spPr>
      </p:sp>
      <p:sp>
        <p:nvSpPr>
          <p:cNvPr id="53" name="Text 51"/>
          <p:cNvSpPr/>
          <p:nvPr/>
        </p:nvSpPr>
        <p:spPr>
          <a:xfrm>
            <a:off x="6254496" y="32278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adapters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54496" y="34838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clients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955280" y="3154680"/>
            <a:ext cx="155448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56" name="Text 54"/>
          <p:cNvSpPr/>
          <p:nvPr/>
        </p:nvSpPr>
        <p:spPr>
          <a:xfrm>
            <a:off x="7991856" y="322783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991856" y="34838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646920" y="3154680"/>
            <a:ext cx="1965960" cy="640080"/>
          </a:xfrm>
          <a:prstGeom prst="roundRect">
            <a:avLst>
              <a:gd name="adj" fmla="val 8571"/>
            </a:avLst>
          </a:prstGeom>
          <a:solidFill>
            <a:srgbClr val="1E2A3A"/>
          </a:solidFill>
          <a:ln/>
        </p:spPr>
      </p:sp>
      <p:sp>
        <p:nvSpPr>
          <p:cNvPr id="59" name="Text 57"/>
          <p:cNvSpPr/>
          <p:nvPr/>
        </p:nvSpPr>
        <p:spPr>
          <a:xfrm>
            <a:off x="9683496" y="3227832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683496" y="3483864"/>
            <a:ext cx="1892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325880" y="397764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· Brain · Books · COA · Trust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20040" y="4617720"/>
            <a:ext cx="11521440" cy="640080"/>
          </a:xfrm>
          <a:prstGeom prst="roundRect">
            <a:avLst>
              <a:gd name="adj" fmla="val 8571"/>
            </a:avLst>
          </a:prstGeom>
          <a:solidFill>
            <a:srgbClr val="1A1030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7731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371600" y="47091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65" name="Text 63"/>
          <p:cNvSpPr/>
          <p:nvPr/>
        </p:nvSpPr>
        <p:spPr>
          <a:xfrm>
            <a:off x="1408176" y="47823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Kafka* optional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408176" y="5038344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840480" y="47091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68" name="Text 66"/>
          <p:cNvSpPr/>
          <p:nvPr/>
        </p:nvSpPr>
        <p:spPr>
          <a:xfrm>
            <a:off x="3877056" y="4782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Txn events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877056" y="50383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Loan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00800" y="4709160"/>
            <a:ext cx="2377440" cy="457200"/>
          </a:xfrm>
          <a:prstGeom prst="roundRect">
            <a:avLst>
              <a:gd name="adj" fmla="val 12000"/>
            </a:avLst>
          </a:prstGeom>
          <a:solidFill>
            <a:srgbClr val="2E1065"/>
          </a:solidFill>
          <a:ln/>
        </p:spPr>
      </p:sp>
      <p:sp>
        <p:nvSpPr>
          <p:cNvPr id="71" name="Text 69"/>
          <p:cNvSpPr/>
          <p:nvPr/>
        </p:nvSpPr>
        <p:spPr>
          <a:xfrm>
            <a:off x="6437376" y="478231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outcomes*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437376" y="503834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earned/skip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8961120" y="4709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312E81"/>
          </a:solidFill>
          <a:ln/>
        </p:spPr>
      </p:sp>
      <p:sp>
        <p:nvSpPr>
          <p:cNvPr id="74" name="Text 72"/>
          <p:cNvSpPr/>
          <p:nvPr/>
        </p:nvSpPr>
        <p:spPr>
          <a:xfrm>
            <a:off x="8997696" y="4782312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sync SDK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8997696" y="5038344"/>
            <a:ext cx="257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async-ready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" y="5394960"/>
            <a:ext cx="11521440" cy="685800"/>
          </a:xfrm>
          <a:prstGeom prst="roundRect">
            <a:avLst>
              <a:gd name="adj" fmla="val 8000"/>
            </a:avLst>
          </a:prstGeom>
          <a:solidFill>
            <a:srgbClr val="0F1F17"/>
          </a:solidFill>
          <a:ln/>
        </p:spPr>
      </p:sp>
      <p:sp>
        <p:nvSpPr>
          <p:cNvPr id="77" name="Text 75"/>
          <p:cNvSpPr/>
          <p:nvPr/>
        </p:nvSpPr>
        <p:spPr>
          <a:xfrm>
            <a:off x="457200" y="55595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371600" y="5504688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/>
        </p:spPr>
      </p:sp>
      <p:sp>
        <p:nvSpPr>
          <p:cNvPr id="79" name="Text 77"/>
          <p:cNvSpPr/>
          <p:nvPr/>
        </p:nvSpPr>
        <p:spPr>
          <a:xfrm>
            <a:off x="1408176" y="55778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DB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1408176" y="58338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383280" y="5504688"/>
            <a:ext cx="2468880" cy="475488"/>
          </a:xfrm>
          <a:prstGeom prst="roundRect">
            <a:avLst>
              <a:gd name="adj" fmla="val 11538"/>
            </a:avLst>
          </a:prstGeom>
          <a:solidFill>
            <a:srgbClr val="115E59"/>
          </a:solidFill>
          <a:ln/>
        </p:spPr>
      </p:sp>
      <p:sp>
        <p:nvSpPr>
          <p:cNvPr id="82" name="Text 80"/>
          <p:cNvSpPr/>
          <p:nvPr/>
        </p:nvSpPr>
        <p:spPr>
          <a:xfrm>
            <a:off x="3419856" y="5577840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PG ★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3419856" y="583387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rules legs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035040" y="5504688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/>
        </p:spPr>
      </p:sp>
      <p:sp>
        <p:nvSpPr>
          <p:cNvPr id="85" name="Text 83"/>
          <p:cNvSpPr/>
          <p:nvPr/>
        </p:nvSpPr>
        <p:spPr>
          <a:xfrm>
            <a:off x="6071616" y="55778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DBs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6071616" y="58338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8046720" y="5504688"/>
            <a:ext cx="182880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/>
        </p:spPr>
      </p:sp>
      <p:sp>
        <p:nvSpPr>
          <p:cNvPr id="88" name="Text 86"/>
          <p:cNvSpPr/>
          <p:nvPr/>
        </p:nvSpPr>
        <p:spPr>
          <a:xfrm>
            <a:off x="8083296" y="557784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8083296" y="58338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10058400" y="5504688"/>
            <a:ext cx="1554480" cy="475488"/>
          </a:xfrm>
          <a:prstGeom prst="roundRect">
            <a:avLst>
              <a:gd name="adj" fmla="val 11538"/>
            </a:avLst>
          </a:prstGeom>
          <a:solidFill>
            <a:srgbClr val="14532D"/>
          </a:solidFill>
          <a:ln/>
        </p:spPr>
      </p:sp>
      <p:sp>
        <p:nvSpPr>
          <p:cNvPr id="91" name="Text 89"/>
          <p:cNvSpPr/>
          <p:nvPr/>
        </p:nvSpPr>
        <p:spPr>
          <a:xfrm>
            <a:off x="10094976" y="5577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094976" y="58338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411480" y="6263640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Illustrative. ★ LedgeRX-owned. Not three ledger microservices.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Internal IT plugs 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call paths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143000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0896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job → SDK.createWallet() → LedgeRX → PG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47672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47672"/>
            <a:ext cx="109728" cy="7132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30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sync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08960" y="2130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 / loan → SDK.ingestEvent() → Door→Brain→Books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752344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752344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935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2935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IT/Ops → SDK.dryRun() → trace only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557016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557016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73989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08960" y="37398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→ Admin/API → Door·Brain·COA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361688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4361688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445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4544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BFF → SDK.getWallet() → balances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66360"/>
            <a:ext cx="111556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5166360"/>
            <a:ext cx="109728" cy="713232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349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later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08960" y="5349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consumer → same event contract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UA Finance receives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package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engine — deployable domain service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client — onboard, ingest, dry-run, query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880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Door, Brain, COA, simulator, review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4747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START_HERE · flows · event skeleton · runbooks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42519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pack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apply + Netflix-style CTO view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212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path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5212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delivery · IT workshop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UA Finance landscape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whiteboard (CC + Loan Reward) → target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as-is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Reward System (CC + Loan)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4937760"/>
          </a:xfrm>
          <a:prstGeom prst="roundRect">
            <a:avLst>
              <a:gd name="adj" fmla="val 200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web (CC)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~21 CC events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(Loan)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Loan events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cc-xapi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loan path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1097280"/>
            <a:ext cx="5577840" cy="4937760"/>
          </a:xfrm>
          <a:prstGeom prst="roundRect">
            <a:avLst>
              <a:gd name="adj" fmla="val 1111"/>
            </a:avLst>
          </a:prstGeom>
          <a:solidFill>
            <a:srgbClr val="D1FAE5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1280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(green)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+ SDK v1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0" y="1828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integrate surface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/ wallet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MGT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35040" y="3200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movements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Rules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0" y="3657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Config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3504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/ formulas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520440" y="4572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× N (yellow)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4572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books drawn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520440" y="5029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Rules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5029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policy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052560" y="1097280"/>
            <a:ext cx="2743200" cy="4937760"/>
          </a:xfrm>
          <a:prstGeom prst="roundRect">
            <a:avLst>
              <a:gd name="adj" fmla="val 20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897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89720" y="1920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Loan:CC existing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189720" y="24688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Loan:Loan existing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18972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 new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189720" y="35661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new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89720" y="4114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new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897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ownership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sticky → honest split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cashback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+ xapi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→ Books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11247120" cy="68580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stack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2560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2560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86384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history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10896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4048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352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+ Coupon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+ fulfil out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11247120" cy="68580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/ ranking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40480" y="4023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0352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CRM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638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LedgeRX core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1124712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4754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merch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40480" y="4754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0352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86384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→ event in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5303520"/>
            <a:ext cx="11247120" cy="685800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6" name="Text 34"/>
          <p:cNvSpPr/>
          <p:nvPr/>
        </p:nvSpPr>
        <p:spPr>
          <a:xfrm>
            <a:off x="594360" y="54864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 MGT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40480" y="5486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03520" y="5486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UAF New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6384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emit earn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— LedgeRX applied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 service · multi-book · SDK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148840" cy="50292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E0E7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 / digital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~21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E0E7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461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loan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611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events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E0E7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2628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1051560"/>
            <a:ext cx="2286000" cy="5029200"/>
          </a:xfrm>
          <a:prstGeom prst="roundRect">
            <a:avLst>
              <a:gd name="adj" fmla="val 2400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8892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34640" y="18288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2148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34640" y="26517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SDK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34640" y="3657600"/>
            <a:ext cx="196596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834640" y="3977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adapter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834640" y="44805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SDK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20640" y="1051560"/>
            <a:ext cx="4160520" cy="5029200"/>
          </a:xfrm>
          <a:prstGeom prst="roundRect">
            <a:avLst>
              <a:gd name="adj" fmla="val 2198"/>
            </a:avLst>
          </a:prstGeom>
          <a:solidFill>
            <a:srgbClr val="0C2340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LedgeRX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03520" y="1600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domain service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0352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+ Java SDK v1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49240" y="25146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3760" y="25146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2715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2376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Rules+calc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49240" y="361188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/>
        </p:spPr>
      </p:sp>
      <p:sp>
        <p:nvSpPr>
          <p:cNvPr id="35" name="Text 33"/>
          <p:cNvSpPr/>
          <p:nvPr/>
        </p:nvSpPr>
        <p:spPr>
          <a:xfrm>
            <a:off x="5349240" y="3813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4924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post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23760" y="361188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134E4A"/>
          </a:solidFill>
          <a:ln/>
        </p:spPr>
      </p:sp>
      <p:sp>
        <p:nvSpPr>
          <p:cNvPr id="38" name="Text 36"/>
          <p:cNvSpPr/>
          <p:nvPr/>
        </p:nvSpPr>
        <p:spPr>
          <a:xfrm>
            <a:off x="7223760" y="3813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223760" y="4114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CC/Loan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5212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3 ledger MS — multi-book one SoR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9464040" y="1051560"/>
            <a:ext cx="2377440" cy="50292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012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01200" y="173736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/>
        </p:spPr>
      </p:sp>
      <p:sp>
        <p:nvSpPr>
          <p:cNvPr id="44" name="Text 42"/>
          <p:cNvSpPr/>
          <p:nvPr/>
        </p:nvSpPr>
        <p:spPr>
          <a:xfrm>
            <a:off x="9601200" y="1920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Loan:CC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601200" y="2212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01200" y="274320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FEF3C7"/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0" y="29260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Loan:Loan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601200" y="32186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01200" y="374904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6F5F3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0" y="3931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E-Coupon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9601200" y="42245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601200" y="4754880"/>
            <a:ext cx="2057400" cy="868680"/>
          </a:xfrm>
          <a:prstGeom prst="roundRect">
            <a:avLst>
              <a:gd name="adj" fmla="val 6316"/>
            </a:avLst>
          </a:prstGeom>
          <a:solidFill>
            <a:srgbClr val="E6F5F3"/>
          </a:solidFill>
          <a:ln/>
        </p:spPr>
      </p:sp>
      <p:sp>
        <p:nvSpPr>
          <p:cNvPr id="53" name="Text 51"/>
          <p:cNvSpPr/>
          <p:nvPr/>
        </p:nvSpPr>
        <p:spPr>
          <a:xfrm>
            <a:off x="9601200" y="4937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601200" y="52303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→ LedgeRX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yellow ledgers become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11247120" cy="384048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1155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0664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00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: SDK v1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Java SDK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1600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IT surface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× N yellow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2057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One engine + COA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0" y="2057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vs Loan books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Books 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Earn/burn/hold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Rules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Brain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3375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Config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Formula JSON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06640" y="3429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rates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Rules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Admin + APIs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6640" y="3886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redeploy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42519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343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Wallet only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0664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stays UAF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7091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4800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93192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Outside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06640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earn events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5166360"/>
            <a:ext cx="112471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5257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cc-xapi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93192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Keep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06640" y="5257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→ SDK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5623560"/>
            <a:ext cx="11247120" cy="43891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5715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Coupon/Stock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931920" y="5715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Outbound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06640" y="5715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then fulfil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path (CC)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uses same spine · different COA/rules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4068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3232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2396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0C2340"/>
          </a:solidFill>
          <a:ln/>
        </p:spPr>
      </p:sp>
      <p:sp>
        <p:nvSpPr>
          <p:cNvPr id="21" name="Text 19"/>
          <p:cNvSpPr/>
          <p:nvPr/>
        </p:nvSpPr>
        <p:spPr>
          <a:xfrm>
            <a:off x="882396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241280" y="16916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515600" y="137160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112471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7240" y="3200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one-liner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77240" y="37947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cc-xapi and loan cores. Put one LedgeRX in the green box. Internal IT integrates with the Java SDK. Configuration Rules = Door + Brain + COA — not a second rules platform and not three ledger microservices.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→ Brain mapping skeleton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~21 · Loan N  ·  also in docs/UAF_EVENT_MAPPING_SKELETON.md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columns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sheet dictionary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0" y="1207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UAF / e6 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801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06240" y="1801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| LOAN | BOTH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mapsToEventType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0" y="23957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TransactionalEvent.eventType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8036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2990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brainRuleCode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29900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digestion_rule.code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47472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5844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formulaIntent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06240" y="35844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FIXED / AMT / NONE / HOLD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06908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4178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coaProfile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1788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stream vs LOAN stream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466344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773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06240" y="47731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dry-run · P1 live · P2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525780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53675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06240" y="53675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· MAPPED · UAT · LIVE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skeleton 01–12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codes with real e6 catalogue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1521440" cy="36576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972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097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0" y="1097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0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63040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5361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5361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CC_PURCHASE_POSTED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536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5361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15361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1536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0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847088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920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19202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CC_PURCHASE_AUTH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19202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1920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CC_HOLD_OPT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19202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0" y="1920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231136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23042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CC_PURCHASE_CAPTURE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CC_EARN_BASE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2304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0" y="23042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698480" y="23042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615184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6883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26883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CC_REFUND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26883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0720" y="2688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CC_BURN_REFUND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26883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0" y="26883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698480" y="2688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999232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30723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" y="3072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CC_CHARGEBACK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0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60720" y="30723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CC_BURN_CB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30723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601200" y="30723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698480" y="30723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383280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345643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8680" y="34564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CC_FX_MARKUP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760720" y="3456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CC_EARN_FX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46720" y="34564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01200" y="3456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698480" y="34564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3767328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38404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68680" y="38404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CC_CASH_ADVANCE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57600" y="3840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CASH_ADV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760720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SKIP_OR_RATE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046720" y="3840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601200" y="3840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69848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4151376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4224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68680" y="42245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CC_FEE_POSTED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5760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760720" y="4224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046720" y="4224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601200" y="4224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0698480" y="42245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20040" y="4535424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460857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68680" y="46085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CC_PAYMENT_RECV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657600" y="4608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760720" y="46085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046720" y="4608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9601200" y="4608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698480" y="4608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0040" y="4919472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49926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68680" y="49926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CC_INTEREST_POST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3657600" y="4992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760720" y="49926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046720" y="49926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9601200" y="4992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698480" y="4992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20040" y="5303520"/>
            <a:ext cx="1152144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365760" y="53766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68680" y="53766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CC_MCC_GROCERY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657600" y="5376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760720" y="53766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CC_EARN_MCC_5411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8046720" y="53766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RATE+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9601200" y="5376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10698480" y="5376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320040" y="5687568"/>
            <a:ext cx="11521440" cy="384048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02" name="Text 100"/>
          <p:cNvSpPr/>
          <p:nvPr/>
        </p:nvSpPr>
        <p:spPr>
          <a:xfrm>
            <a:off x="365760" y="57607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868680" y="57607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CC_MCC_DINING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3657600" y="5760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760720" y="5760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CC_EARN_MCC_5812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8046720" y="57607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RATE+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9601200" y="5760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10698480" y="5760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09" name="Text 10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13–21 + Loan skeleton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sheet in UAF_EVENT_MAPPING_SKELETON.md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1521440" cy="329184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42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0424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042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04241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rule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0" y="10424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0" y="10424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0" y="1042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371600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4173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1417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CC_MCC_TRAVEL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417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CC_EARN_TRAVEL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1417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0" y="1417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1719072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1764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176479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CC_ONLINE_ECOM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0" y="17647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1764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CC_EARN_ONLINE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17647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17647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0" y="17647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066544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1122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" y="21122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CC_INSTALMENT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2112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21122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CC_EARN_OR_SKIP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2112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0" y="2112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698480" y="21122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414016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245973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24597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CC_REWARD_REDEEM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2459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60720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CC_BURN_REDEEM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24597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0" y="2459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698480" y="24597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2761488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28072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" y="28072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CC_REWARD_EXPIRE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760720" y="2807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CC_BURN_EXPIRE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046720" y="2807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601200" y="28072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698480" y="28072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108960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68680" y="315468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CC_ADJUSTMENT_CR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657600" y="31546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ADJ_CR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760720" y="31546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CC_EARN_ADJ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46720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960120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698480" y="3154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3456432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3502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68680" y="350215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CC_ADJUSTMENT_DR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57600" y="3502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ADJ_DR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760720" y="35021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CC_BURN_ADJ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046720" y="3502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AMT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9601200" y="3502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10698480" y="3502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3803904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" y="38496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68680" y="384962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CC_CARD_ACTIVATION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3657600" y="3849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760720" y="38496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CC_EARN_WELCOME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046720" y="38496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601200" y="3849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0698480" y="3849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20040" y="4151376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365760" y="4197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68680" y="41970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CC_ANNUAL_FEE_WAIVE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3657600" y="41970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FEE_WAIVE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5760720" y="41970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SKIP_OR_FIXED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046720" y="41970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9601200" y="41970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10698480" y="41970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320040" y="4498848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86" name="Text 84"/>
          <p:cNvSpPr/>
          <p:nvPr/>
        </p:nvSpPr>
        <p:spPr>
          <a:xfrm>
            <a:off x="365760" y="454456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68680" y="45445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LOAN_DISBURSE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3657600" y="45445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760720" y="4544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LN_EARN_OR_SKIP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046720" y="4544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9601200" y="4544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698480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320040" y="4846320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365760" y="4892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68680" y="48920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LOAN_REPAYMENT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365760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5760720" y="4892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LN_EARN_REPAY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8046720" y="48920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9601200" y="4892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10698480" y="4892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01" name="Shape 99"/>
          <p:cNvSpPr/>
          <p:nvPr/>
        </p:nvSpPr>
        <p:spPr>
          <a:xfrm>
            <a:off x="320040" y="5193792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02" name="Text 100"/>
          <p:cNvSpPr/>
          <p:nvPr/>
        </p:nvSpPr>
        <p:spPr>
          <a:xfrm>
            <a:off x="365760" y="523951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868680" y="52395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LOAN_EARLY_SETTLE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3657600" y="5239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5760720" y="5239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LN_EARN_BONUS</a:t>
            </a:r>
            <a:endParaRPr lang="en-US" sz="1100" dirty="0"/>
          </a:p>
        </p:txBody>
      </p:sp>
      <p:sp>
        <p:nvSpPr>
          <p:cNvPr id="106" name="Text 104"/>
          <p:cNvSpPr/>
          <p:nvPr/>
        </p:nvSpPr>
        <p:spPr>
          <a:xfrm>
            <a:off x="8046720" y="523951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9601200" y="5239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10698480" y="5239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320040" y="5541264"/>
            <a:ext cx="1152144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365760" y="55869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868680" y="55869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LOAN_OVERDUE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3657600" y="5586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5760720" y="5586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SKIP_OR_HOLD</a:t>
            </a:r>
            <a:endParaRPr lang="en-US" sz="1100" dirty="0"/>
          </a:p>
        </p:txBody>
      </p:sp>
      <p:sp>
        <p:nvSpPr>
          <p:cNvPr id="114" name="Text 112"/>
          <p:cNvSpPr/>
          <p:nvPr/>
        </p:nvSpPr>
        <p:spPr>
          <a:xfrm>
            <a:off x="8046720" y="55869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9601200" y="55869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116" name="Text 114"/>
          <p:cNvSpPr/>
          <p:nvPr/>
        </p:nvSpPr>
        <p:spPr>
          <a:xfrm>
            <a:off x="10698480" y="55869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320040" y="5888736"/>
            <a:ext cx="11521440" cy="347472"/>
          </a:xfrm>
          <a:prstGeom prst="rect">
            <a:avLst/>
          </a:prstGeom>
          <a:solidFill>
            <a:srgbClr val="EEF2F6"/>
          </a:solidFill>
          <a:ln/>
        </p:spPr>
      </p:sp>
      <p:sp>
        <p:nvSpPr>
          <p:cNvPr id="118" name="Text 116"/>
          <p:cNvSpPr/>
          <p:nvPr/>
        </p:nvSpPr>
        <p:spPr>
          <a:xfrm>
            <a:off x="365760" y="593445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L+</a:t>
            </a:r>
            <a:endParaRPr lang="en-US" sz="1100" dirty="0"/>
          </a:p>
        </p:txBody>
      </p:sp>
      <p:sp>
        <p:nvSpPr>
          <p:cNvPr id="119" name="Text 117"/>
          <p:cNvSpPr/>
          <p:nvPr/>
        </p:nvSpPr>
        <p:spPr>
          <a:xfrm>
            <a:off x="868680" y="59344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N more</a:t>
            </a:r>
            <a:endParaRPr lang="en-US" sz="1100" dirty="0"/>
          </a:p>
        </p:txBody>
      </p:sp>
      <p:sp>
        <p:nvSpPr>
          <p:cNvPr id="120" name="Text 118"/>
          <p:cNvSpPr/>
          <p:nvPr/>
        </p:nvSpPr>
        <p:spPr>
          <a:xfrm>
            <a:off x="3657600" y="5934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21" name="Text 119"/>
          <p:cNvSpPr/>
          <p:nvPr/>
        </p:nvSpPr>
        <p:spPr>
          <a:xfrm>
            <a:off x="5760720" y="5934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22" name="Text 120"/>
          <p:cNvSpPr/>
          <p:nvPr/>
        </p:nvSpPr>
        <p:spPr>
          <a:xfrm>
            <a:off x="8046720" y="59344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9601200" y="59344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100" dirty="0"/>
          </a:p>
        </p:txBody>
      </p:sp>
      <p:sp>
        <p:nvSpPr>
          <p:cNvPr id="124" name="Text 122"/>
          <p:cNvSpPr/>
          <p:nvPr/>
        </p:nvSpPr>
        <p:spPr>
          <a:xfrm>
            <a:off x="10698480" y="5934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100" dirty="0"/>
          </a:p>
        </p:txBody>
      </p:sp>
      <p:sp>
        <p:nvSpPr>
          <p:cNvPr id="125" name="Text 123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126" name="Text 124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workshop &amp; asks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IT + Biz + LedgeRX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234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catalogue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23360" y="12344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21 CC + Loan N codes into the sheet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874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xapi → TransactionalEvent field map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5146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rules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2514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formulas for P1 rows only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1546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154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 / ownerId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023360" y="3154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vs Loan books strategy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37947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spike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23360" y="379476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golden dry-runs from cc-xapi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11247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22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4434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23360" y="44348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burn ↔ E-Coupon sequence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LedgeRX × UA Finance  ·  Full briefing  ·  Confidential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5105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 FINANCE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LedgeRX domain service.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for Internal IT.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+ Loan books — not three ledgers.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rules. Audit-grade posts.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SDK package  ·  sandbox  ·  joint IT workshop  ·  filled event matrix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· Questions · Pilot scope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LedgeRX × UA Finance — Full Briefing</dc:title>
  <dc:subject>CTO + Landscape + Event mapping</dc:subject>
  <dc:creator>LedgeRX</dc:creator>
  <cp:lastModifiedBy>LedgeRX</cp:lastModifiedBy>
  <cp:revision>1</cp:revision>
  <dcterms:created xsi:type="dcterms:W3CDTF">2026-08-19T00:56:13Z</dcterms:created>
  <dcterms:modified xsi:type="dcterms:W3CDTF">2026-08-19T00:56:13Z</dcterms:modified>
</cp:coreProperties>
</file>