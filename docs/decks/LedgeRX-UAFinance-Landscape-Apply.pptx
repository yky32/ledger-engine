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FINANCE  ·  REWARD SYSTEM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LedgeRX into your landscape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whiteboard (CC + Loan) → target architecture + event mapping skeleton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CTO &amp; Internal 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alignment  ·  Not a commercial proposal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discussed — whiteboard summary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Reward System (CC + Loan) · In / New / Out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743200" cy="493776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Channels / events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103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 web (CC)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~21 CC events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(Loan)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Loan events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cc-xapi (existing)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4617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loan path (TBD)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1097280"/>
            <a:ext cx="5577840" cy="4937760"/>
          </a:xfrm>
          <a:prstGeom prst="roundRect">
            <a:avLst>
              <a:gd name="adj" fmla="val 1111"/>
            </a:avLst>
          </a:prstGeom>
          <a:solidFill>
            <a:srgbClr val="D1FAE5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74720" y="1234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(green box)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1600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core · whiteboard intent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2044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+ SDK v1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surface for IT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520440" y="24505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52160" y="245059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/ wallet setup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520440" y="28895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MGT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28895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programme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20440" y="332841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852160" y="332841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points / movements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0440" y="37673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Rules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3767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/ decisioning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520440" y="4206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Config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852160" y="4206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/ formulas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20440" y="464515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× N (yellow)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52160" y="46451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books drawn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520440" y="50840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Rules (bottom)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852160" y="50840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policy layer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52560" y="1097280"/>
            <a:ext cx="2743200" cy="4937760"/>
          </a:xfrm>
          <a:prstGeom prst="roundRect">
            <a:avLst>
              <a:gd name="adj" fmla="val 20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18972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89720" y="1600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/ cores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9720" y="21031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Loan:CC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189720" y="2606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Loan:Loan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189720" y="3108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E-Coupon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189720" y="36118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Adapter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189720" y="41148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Stock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9189720" y="46177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adapters…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from sticky notes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ownership — honest split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0" y="1188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12471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28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cashback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0" y="18288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0" y="1828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+ xapi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77240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→ Door→Brain→Books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11247120" cy="68580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stack / balances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2560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0352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 multi-ccy + history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112471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291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redemption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0" y="3291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1–2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03520" y="32918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+ Coupon/Stock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3291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Burn/hold in ledger; fulfil outside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tier / ranking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657600" y="40233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CRM / loyalty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77240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LedgeRX core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1124712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 / merchandising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657600" y="4754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03520" y="4754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77240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→ post event to ledger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303520"/>
            <a:ext cx="11247120" cy="68580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" y="5486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management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0" y="5486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0" y="5486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New service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7724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emit earn events only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landscape — LedgeRX applied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domain service · SDK · CC + Loan books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2148840" cy="502920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874520" cy="1051560"/>
          </a:xfrm>
          <a:prstGeom prst="roundRect">
            <a:avLst>
              <a:gd name="adj" fmla="val 5217"/>
            </a:avLst>
          </a:prstGeom>
          <a:solidFill>
            <a:srgbClr val="E0E7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7452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 / digital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events (~21)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1874520" cy="1051560"/>
          </a:xfrm>
          <a:prstGeom prst="roundRect">
            <a:avLst>
              <a:gd name="adj" fmla="val 5217"/>
            </a:avLst>
          </a:prstGeom>
          <a:solidFill>
            <a:srgbClr val="E0E7F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15468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/ loan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3520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events (N)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1874520" cy="1051560"/>
          </a:xfrm>
          <a:prstGeom prst="roundRect">
            <a:avLst>
              <a:gd name="adj" fmla="val 5217"/>
            </a:avLst>
          </a:prstGeom>
          <a:solidFill>
            <a:srgbClr val="E0E7FF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348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4800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ownerId source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51760" y="1051560"/>
            <a:ext cx="2286000" cy="5029200"/>
          </a:xfrm>
          <a:prstGeom prst="roundRect">
            <a:avLst>
              <a:gd name="adj" fmla="val 2400"/>
            </a:avLst>
          </a:prstGeom>
          <a:solidFill>
            <a:srgbClr val="FEF3C7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88920" y="1188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EDGE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834640" y="173736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2834640" y="201168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926080" y="246888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21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SDK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34640" y="3383280"/>
            <a:ext cx="196596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2834640" y="3657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adapter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926080" y="411480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N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SDK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34640" y="51206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Anti-corruption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20640" y="1051560"/>
            <a:ext cx="4160520" cy="5029200"/>
          </a:xfrm>
          <a:prstGeom prst="roundRect">
            <a:avLst>
              <a:gd name="adj" fmla="val 2198"/>
            </a:avLst>
          </a:prstGeom>
          <a:solidFill>
            <a:srgbClr val="0C2340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 ·  LedgeRX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15087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domain service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03520" y="18745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ledger-engine + Java SDK v1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49240" y="23317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0" name="Text 28"/>
          <p:cNvSpPr/>
          <p:nvPr/>
        </p:nvSpPr>
        <p:spPr>
          <a:xfrm>
            <a:off x="534924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349240" y="2834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policy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223760" y="233172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3" name="Text 31"/>
          <p:cNvSpPr/>
          <p:nvPr/>
        </p:nvSpPr>
        <p:spPr>
          <a:xfrm>
            <a:off x="7223760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223760" y="2834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calc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49240" y="33832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6" name="Text 34"/>
          <p:cNvSpPr/>
          <p:nvPr/>
        </p:nvSpPr>
        <p:spPr>
          <a:xfrm>
            <a:off x="534924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4924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posting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223760" y="338328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34E4A"/>
          </a:solidFill>
          <a:ln/>
        </p:spPr>
      </p:sp>
      <p:sp>
        <p:nvSpPr>
          <p:cNvPr id="39" name="Text 37"/>
          <p:cNvSpPr/>
          <p:nvPr/>
        </p:nvSpPr>
        <p:spPr>
          <a:xfrm>
            <a:off x="7223760" y="35661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223760" y="3886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/ Loan schemes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49240" y="4617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= configuration plane   ·   Own PostgreSQL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349240" y="5349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D3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3 ledger microservices — multi-book inside one SoR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464040" y="1051560"/>
            <a:ext cx="2377440" cy="502920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601200" y="11887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0" y="169164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6" name="Text 44"/>
          <p:cNvSpPr/>
          <p:nvPr/>
        </p:nvSpPr>
        <p:spPr>
          <a:xfrm>
            <a:off x="9601200" y="185623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Loan:CC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9601200" y="21488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core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601200" y="269748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FEF3C7"/>
          </a:solidFill>
          <a:ln/>
        </p:spPr>
      </p:sp>
      <p:sp>
        <p:nvSpPr>
          <p:cNvPr id="49" name="Text 47"/>
          <p:cNvSpPr/>
          <p:nvPr/>
        </p:nvSpPr>
        <p:spPr>
          <a:xfrm>
            <a:off x="9601200" y="286207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Loan:Loan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9601200" y="31546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core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9601200" y="370332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E6F5F3"/>
          </a:solidFill>
          <a:ln/>
        </p:spPr>
      </p:sp>
      <p:sp>
        <p:nvSpPr>
          <p:cNvPr id="52" name="Text 50"/>
          <p:cNvSpPr/>
          <p:nvPr/>
        </p:nvSpPr>
        <p:spPr>
          <a:xfrm>
            <a:off x="9601200" y="386791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E-Coupon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9601200" y="41605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fulfil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601200" y="4709160"/>
            <a:ext cx="2057400" cy="868680"/>
          </a:xfrm>
          <a:prstGeom prst="roundRect">
            <a:avLst>
              <a:gd name="adj" fmla="val 6316"/>
            </a:avLst>
          </a:prstGeom>
          <a:solidFill>
            <a:srgbClr val="E6F5F3"/>
          </a:solidFill>
          <a:ln/>
        </p:spPr>
      </p:sp>
      <p:sp>
        <p:nvSpPr>
          <p:cNvPr id="55" name="Text 53"/>
          <p:cNvSpPr/>
          <p:nvPr/>
        </p:nvSpPr>
        <p:spPr>
          <a:xfrm>
            <a:off x="9601200" y="4873752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/ Adapter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601200" y="51663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fulfil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 box → LedgeRX mapping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replaces the yellow Ledger × 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1155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Whiteboard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840480" y="11155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/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0" y="1115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: SDK v1.0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0480" y="1645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ledger-engine-sdk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1645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IT primary integrate surface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103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(yellow ×N)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84048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One LedgeRX + COA profiles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stream vs Loan stream — not N services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2560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40480" y="2560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Books / DE shooter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0" y="2560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Earn burn hold → movements + legs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Rules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404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Brain (digestion)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15200" y="3017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filters + priority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Config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840480" y="3474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Brain formula JSON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FIXED / LINEAR runtime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8404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Rules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840480" y="39319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Admin + APIs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0" y="3931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/ Brain / COA no redeploy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42976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2"/>
          <p:cNvSpPr/>
          <p:nvPr/>
        </p:nvSpPr>
        <p:spPr>
          <a:xfrm>
            <a:off x="594360" y="4389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840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Wallet onboard only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KYC/referrer stays UAF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7548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8" name="Text 36"/>
          <p:cNvSpPr/>
          <p:nvPr/>
        </p:nvSpPr>
        <p:spPr>
          <a:xfrm>
            <a:off x="594360" y="48463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Referrer MGT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40480" y="4846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Outside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15200" y="4846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earn events into LedgeRX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5212080"/>
            <a:ext cx="1124712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94360" y="5303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8404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Keep existing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315200" y="5303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→ SDK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5669280"/>
            <a:ext cx="11247120" cy="43891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5760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E-Coupon / Stock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840480" y="5760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Outbound New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7315200" y="5760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burns; they fulfil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path (CC example)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for Loan with different COA / ruleset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e6 cc purchase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46888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46888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06324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201168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10312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10312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fields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6052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8" name="Text 16"/>
          <p:cNvSpPr/>
          <p:nvPr/>
        </p:nvSpPr>
        <p:spPr>
          <a:xfrm>
            <a:off x="416052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0332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9476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79476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ingestEvent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5216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4" name="Text 22"/>
          <p:cNvSpPr/>
          <p:nvPr/>
        </p:nvSpPr>
        <p:spPr>
          <a:xfrm>
            <a:off x="585216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4652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26" name="Shape 24"/>
          <p:cNvSpPr/>
          <p:nvPr/>
        </p:nvSpPr>
        <p:spPr>
          <a:xfrm>
            <a:off x="539496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accept?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4380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30" name="Text 28"/>
          <p:cNvSpPr/>
          <p:nvPr/>
        </p:nvSpPr>
        <p:spPr>
          <a:xfrm>
            <a:off x="754380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13816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2" name="Shape 30"/>
          <p:cNvSpPr/>
          <p:nvPr/>
        </p:nvSpPr>
        <p:spPr>
          <a:xfrm>
            <a:off x="708660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17804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17804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rule+pts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23544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36" name="Text 34"/>
          <p:cNvSpPr/>
          <p:nvPr/>
        </p:nvSpPr>
        <p:spPr>
          <a:xfrm>
            <a:off x="923544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829800" y="1481328"/>
            <a:ext cx="960120" cy="54864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8" name="Shape 36"/>
          <p:cNvSpPr/>
          <p:nvPr/>
        </p:nvSpPr>
        <p:spPr>
          <a:xfrm>
            <a:off x="877824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86968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post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0927080" y="1280160"/>
            <a:ext cx="502920" cy="50292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42" name="Text 40"/>
          <p:cNvSpPr/>
          <p:nvPr/>
        </p:nvSpPr>
        <p:spPr>
          <a:xfrm>
            <a:off x="10927080" y="13533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69880" y="2011680"/>
            <a:ext cx="1554480" cy="182880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0561320" y="2286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10561320" y="28803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/ burn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4206240"/>
            <a:ext cx="11247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one-liner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cc-xapi and loan cores. Put one LedgeRX in the green box. Internal IT integrates with the Java SDK. Configuration Rules = Door + Brain + COA — not a second rules platform.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mapping skeleton — how to use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~21 events · Loan N events → Brain rules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247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1247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90472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6362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eventCode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0" y="15636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/ e6 stable code (source of truth from xapi)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9384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0025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0" y="200253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| LOAN | BOTH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368296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4144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samplePayload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0" y="2441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 after xapi normalize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2807208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880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mapsToEventType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TransactionalEvent.eventType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246120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3192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brainRuleCode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114800" y="33192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digestion_rule.code (or NEW)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37581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formulaIntent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0" y="3758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FIXED / NONE (informational only)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4123944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197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coaProfile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114800" y="41970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stream vs LOAN stream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562856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4636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114800" y="46360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dry-run · P1 live · P2 · OUT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57200" y="5001768"/>
            <a:ext cx="112471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640080" y="5074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114800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UAF IT / Biz / LedgeRX support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440680"/>
            <a:ext cx="11247120" cy="411480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513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4114800" y="55138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· MAPPED · UAT · LIVE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event map (skeleton 1–12)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codes with UAF e6 catalogue — placeholders shown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11521440" cy="365760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0972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eventCode (UAF)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eventType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rule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418320" y="10972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0" y="1097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463040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53619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5361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CC_PURCHASE_POSTED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0" y="1536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5361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863840" y="15361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418320" y="15361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0" y="15361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1847088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9202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19202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CC_PURCHASE_AUTH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6072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CC_HOLD_OPT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63840" y="1920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NONE/HOLD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418320" y="19202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515600" y="19202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2231136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30428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230428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CC_PURCHASE_CAPTURE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0" y="23042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760720" y="23042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CC_EARN_BASE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863840" y="23042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18320" y="23042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515600" y="230428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" y="2615184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26883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" y="26883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CC_REFUND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0" y="2688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760720" y="26883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CC_BURN_REFUND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863840" y="26883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RATE/AMT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418320" y="26883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0" y="2688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0040" y="2999232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30723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14400" y="30723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CC_CHARGEBACK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0" y="3072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60720" y="3072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CC_BURN_CB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863840" y="3072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418320" y="30723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515600" y="30723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0040" y="3383280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54" name="Text 52"/>
          <p:cNvSpPr/>
          <p:nvPr/>
        </p:nvSpPr>
        <p:spPr>
          <a:xfrm>
            <a:off x="365760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" y="34564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CC_FX_MARKUP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0" y="3456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760720" y="34564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CC_EARN_FX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863840" y="3456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418320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515600" y="34564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20040" y="3767328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38404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14400" y="38404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CC_CASH_ADVANCE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657600" y="3840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CASH_ADV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760720" y="38404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SKIP_OR_RATE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863840" y="38404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9418320" y="38404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0515600" y="38404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320040" y="4151376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42245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914400" y="4224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CC_FEE_POSTED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0" y="42245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760720" y="42245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7863840" y="42245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18320" y="4224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1051560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320040" y="4535424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460857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914400" y="460857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CC_PAYMENT_RECV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3657600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760720" y="46085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863840" y="46085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9418320" y="4608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0515600" y="460857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20040" y="4919472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86" name="Text 84"/>
          <p:cNvSpPr/>
          <p:nvPr/>
        </p:nvSpPr>
        <p:spPr>
          <a:xfrm>
            <a:off x="365760" y="49926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914400" y="49926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CC_INTEREST_POST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3657600" y="4992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5760720" y="49926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7863840" y="49926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9418320" y="49926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0515600" y="49926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320040" y="5303520"/>
            <a:ext cx="115214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365760" y="53766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14400" y="5376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CC_MCC_GROCERY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3657600" y="53766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5760720" y="53766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CC_EARN_MCC_5411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7863840" y="53766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RATE+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9418320" y="5376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10515600" y="53766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320040" y="5687568"/>
            <a:ext cx="11521440" cy="384048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02" name="Text 100"/>
          <p:cNvSpPr/>
          <p:nvPr/>
        </p:nvSpPr>
        <p:spPr>
          <a:xfrm>
            <a:off x="365760" y="57607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914400" y="5760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CC_MCC_DINING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3657600" y="5760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5760720" y="57607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CC_EARN_MCC_5812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7863840" y="57607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RATE+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9418320" y="57607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0515600" y="57607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9" name="Text 107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110" name="Text 108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map (13–21) + Loan skeleton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with real UAF codes in workshop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11521440" cy="347472"/>
          </a:xfrm>
          <a:prstGeom prst="rect">
            <a:avLst/>
          </a:prstGeom>
          <a:solidFill>
            <a:srgbClr val="0C234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5156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105156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eventCode (UAF)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0" y="10515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eventType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760720" y="10515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rule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0" y="105156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418320" y="10515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0" y="10515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389888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4356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435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CC_MCC_TRAVEL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0" y="14356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760720" y="14356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CC_EARN_TRAVEL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863840" y="14356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418320" y="1435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515600" y="143560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1737360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78308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17830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CC_ONLINE_ECOM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0" y="1783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760720" y="1783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CC_EARN_ONLINE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63840" y="17830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418320" y="17830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515600" y="1783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2084832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13055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4400" y="213055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CC_INSTALMENT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657600" y="2130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760720" y="21305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CC_EARN_OR_SKIP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863840" y="2130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418320" y="21305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0515600" y="21305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" y="2432304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247802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14400" y="247802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CC_REWARD_REDEEM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657600" y="2478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760720" y="247802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CC_BURN_REDEEM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863840" y="247802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418320" y="247802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515600" y="247802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20040" y="2779776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/>
          <p:nvPr/>
        </p:nvSpPr>
        <p:spPr>
          <a:xfrm>
            <a:off x="365760" y="28254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14400" y="28254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CC_REWARD_EXPIRE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0" y="28254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760720" y="282549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CC_BURN_EXPIRE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863840" y="28254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418320" y="28254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515600" y="282549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20040" y="3127248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54" name="Text 52"/>
          <p:cNvSpPr/>
          <p:nvPr/>
        </p:nvSpPr>
        <p:spPr>
          <a:xfrm>
            <a:off x="365760" y="31729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" y="31729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CC_ADJUSTMENT_CR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3657600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ADJ_CR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760720" y="317296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CC_EARN_ADJ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863840" y="31729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41832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515600" y="31729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20040" y="3474720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365760" y="352044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14400" y="35204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CC_ADJUSTMENT_DR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3657600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ADJ_DR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760720" y="35204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CC_BURN_ADJ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7863840" y="35204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9418320" y="3520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10515600" y="35204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320040" y="3822192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70" name="Text 68"/>
          <p:cNvSpPr/>
          <p:nvPr/>
        </p:nvSpPr>
        <p:spPr>
          <a:xfrm>
            <a:off x="365760" y="386791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914400" y="38679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CC_CARD_ACTIVATION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0" y="38679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SIGNUP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760720" y="38679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CC_EARN_WELCOME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7863840" y="38679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18320" y="38679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1051560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320040" y="4169664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42153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914400" y="42153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CC_ANNUAL_FEE_WAIVE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3657600" y="4215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FEE_WAIVE</a:t>
            </a:r>
            <a:endParaRPr lang="en-US" sz="1100" dirty="0"/>
          </a:p>
        </p:txBody>
      </p:sp>
      <p:sp>
        <p:nvSpPr>
          <p:cNvPr id="81" name="Text 79"/>
          <p:cNvSpPr/>
          <p:nvPr/>
        </p:nvSpPr>
        <p:spPr>
          <a:xfrm>
            <a:off x="5760720" y="42153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SKIP_OR_FIXED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7863840" y="421538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9418320" y="42153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10515600" y="42153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20040" y="4517136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86" name="Text 84"/>
          <p:cNvSpPr/>
          <p:nvPr/>
        </p:nvSpPr>
        <p:spPr>
          <a:xfrm>
            <a:off x="365760" y="45628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914400" y="45628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LOAN_DISBURSE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3657600" y="45628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DISBURSE</a:t>
            </a:r>
            <a:endParaRPr lang="en-US" sz="1100" dirty="0"/>
          </a:p>
        </p:txBody>
      </p:sp>
      <p:sp>
        <p:nvSpPr>
          <p:cNvPr id="89" name="Text 87"/>
          <p:cNvSpPr/>
          <p:nvPr/>
        </p:nvSpPr>
        <p:spPr>
          <a:xfrm>
            <a:off x="5760720" y="45628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LN_EARN_OR_SKIP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7863840" y="45628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9418320" y="45628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10515600" y="456285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320040" y="4864608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Text 92"/>
          <p:cNvSpPr/>
          <p:nvPr/>
        </p:nvSpPr>
        <p:spPr>
          <a:xfrm>
            <a:off x="365760" y="491032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914400" y="49103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LOAN_REPAYMENT</a:t>
            </a:r>
            <a:endParaRPr lang="en-US" sz="1100" dirty="0"/>
          </a:p>
        </p:txBody>
      </p:sp>
      <p:sp>
        <p:nvSpPr>
          <p:cNvPr id="96" name="Text 94"/>
          <p:cNvSpPr/>
          <p:nvPr/>
        </p:nvSpPr>
        <p:spPr>
          <a:xfrm>
            <a:off x="3657600" y="49103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REPAY</a:t>
            </a:r>
            <a:endParaRPr lang="en-US" sz="1100" dirty="0"/>
          </a:p>
        </p:txBody>
      </p:sp>
      <p:sp>
        <p:nvSpPr>
          <p:cNvPr id="97" name="Text 95"/>
          <p:cNvSpPr/>
          <p:nvPr/>
        </p:nvSpPr>
        <p:spPr>
          <a:xfrm>
            <a:off x="5760720" y="491032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LN_EARN_REPAY</a:t>
            </a:r>
            <a:endParaRPr lang="en-US" sz="1100" dirty="0"/>
          </a:p>
        </p:txBody>
      </p:sp>
      <p:sp>
        <p:nvSpPr>
          <p:cNvPr id="98" name="Text 96"/>
          <p:cNvSpPr/>
          <p:nvPr/>
        </p:nvSpPr>
        <p:spPr>
          <a:xfrm>
            <a:off x="7863840" y="491032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RATE/FIXED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9418320" y="4910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00" name="Text 98"/>
          <p:cNvSpPr/>
          <p:nvPr/>
        </p:nvSpPr>
        <p:spPr>
          <a:xfrm>
            <a:off x="10515600" y="49103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101" name="Shape 99"/>
          <p:cNvSpPr/>
          <p:nvPr/>
        </p:nvSpPr>
        <p:spPr>
          <a:xfrm>
            <a:off x="320040" y="5212080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02" name="Text 100"/>
          <p:cNvSpPr/>
          <p:nvPr/>
        </p:nvSpPr>
        <p:spPr>
          <a:xfrm>
            <a:off x="365760" y="5257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100" dirty="0"/>
          </a:p>
        </p:txBody>
      </p:sp>
      <p:sp>
        <p:nvSpPr>
          <p:cNvPr id="103" name="Text 101"/>
          <p:cNvSpPr/>
          <p:nvPr/>
        </p:nvSpPr>
        <p:spPr>
          <a:xfrm>
            <a:off x="914400" y="52578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LOAN_EARLY_SETTLE</a:t>
            </a:r>
            <a:endParaRPr lang="en-US" sz="1100" dirty="0"/>
          </a:p>
        </p:txBody>
      </p:sp>
      <p:sp>
        <p:nvSpPr>
          <p:cNvPr id="104" name="Text 102"/>
          <p:cNvSpPr/>
          <p:nvPr/>
        </p:nvSpPr>
        <p:spPr>
          <a:xfrm>
            <a:off x="3657600" y="5257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5760720" y="525780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LN_EARN_BONUS</a:t>
            </a:r>
            <a:endParaRPr lang="en-US" sz="1100" dirty="0"/>
          </a:p>
        </p:txBody>
      </p:sp>
      <p:sp>
        <p:nvSpPr>
          <p:cNvPr id="106" name="Text 104"/>
          <p:cNvSpPr/>
          <p:nvPr/>
        </p:nvSpPr>
        <p:spPr>
          <a:xfrm>
            <a:off x="7863840" y="5257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9418320" y="5257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08" name="Text 106"/>
          <p:cNvSpPr/>
          <p:nvPr/>
        </p:nvSpPr>
        <p:spPr>
          <a:xfrm>
            <a:off x="10515600" y="52578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109" name="Shape 107"/>
          <p:cNvSpPr/>
          <p:nvPr/>
        </p:nvSpPr>
        <p:spPr>
          <a:xfrm>
            <a:off x="320040" y="5559552"/>
            <a:ext cx="11521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/>
          <p:nvPr/>
        </p:nvSpPr>
        <p:spPr>
          <a:xfrm>
            <a:off x="365760" y="5605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</a:t>
            </a:r>
            <a:endParaRPr lang="en-US" sz="1100" dirty="0"/>
          </a:p>
        </p:txBody>
      </p:sp>
      <p:sp>
        <p:nvSpPr>
          <p:cNvPr id="111" name="Text 109"/>
          <p:cNvSpPr/>
          <p:nvPr/>
        </p:nvSpPr>
        <p:spPr>
          <a:xfrm>
            <a:off x="914400" y="56052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LOAN_OVERDUE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3657600" y="5605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</a:t>
            </a:r>
            <a:endParaRPr lang="en-US" sz="1100" dirty="0"/>
          </a:p>
        </p:txBody>
      </p:sp>
      <p:sp>
        <p:nvSpPr>
          <p:cNvPr id="113" name="Text 111"/>
          <p:cNvSpPr/>
          <p:nvPr/>
        </p:nvSpPr>
        <p:spPr>
          <a:xfrm>
            <a:off x="5760720" y="5605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SKIP_OR_HOLD</a:t>
            </a:r>
            <a:endParaRPr lang="en-US" sz="1100" dirty="0"/>
          </a:p>
        </p:txBody>
      </p:sp>
      <p:sp>
        <p:nvSpPr>
          <p:cNvPr id="114" name="Text 112"/>
          <p:cNvSpPr/>
          <p:nvPr/>
        </p:nvSpPr>
        <p:spPr>
          <a:xfrm>
            <a:off x="7863840" y="560527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9418320" y="56052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16" name="Text 114"/>
          <p:cNvSpPr/>
          <p:nvPr/>
        </p:nvSpPr>
        <p:spPr>
          <a:xfrm>
            <a:off x="10515600" y="560527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117" name="Shape 115"/>
          <p:cNvSpPr/>
          <p:nvPr/>
        </p:nvSpPr>
        <p:spPr>
          <a:xfrm>
            <a:off x="320040" y="5907024"/>
            <a:ext cx="11521440" cy="347472"/>
          </a:xfrm>
          <a:prstGeom prst="rect">
            <a:avLst/>
          </a:prstGeom>
          <a:solidFill>
            <a:srgbClr val="EEF2F6"/>
          </a:solidFill>
          <a:ln/>
        </p:spPr>
      </p:sp>
      <p:sp>
        <p:nvSpPr>
          <p:cNvPr id="118" name="Text 116"/>
          <p:cNvSpPr/>
          <p:nvPr/>
        </p:nvSpPr>
        <p:spPr>
          <a:xfrm>
            <a:off x="365760" y="59527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L+</a:t>
            </a:r>
            <a:endParaRPr lang="en-US" sz="1100" dirty="0"/>
          </a:p>
        </p:txBody>
      </p:sp>
      <p:sp>
        <p:nvSpPr>
          <p:cNvPr id="119" name="Text 117"/>
          <p:cNvSpPr/>
          <p:nvPr/>
        </p:nvSpPr>
        <p:spPr>
          <a:xfrm>
            <a:off x="914400" y="595274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(N-4 more)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3657600" y="59527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1" name="Text 119"/>
          <p:cNvSpPr/>
          <p:nvPr/>
        </p:nvSpPr>
        <p:spPr>
          <a:xfrm>
            <a:off x="5760720" y="59527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2" name="Text 120"/>
          <p:cNvSpPr/>
          <p:nvPr/>
        </p:nvSpPr>
        <p:spPr>
          <a:xfrm>
            <a:off x="7863840" y="59527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3" name="Text 121"/>
          <p:cNvSpPr/>
          <p:nvPr/>
        </p:nvSpPr>
        <p:spPr>
          <a:xfrm>
            <a:off x="9418320" y="59527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</a:t>
            </a:r>
            <a:endParaRPr lang="en-US" sz="1100" dirty="0"/>
          </a:p>
        </p:txBody>
      </p:sp>
      <p:sp>
        <p:nvSpPr>
          <p:cNvPr id="124" name="Text 122"/>
          <p:cNvSpPr/>
          <p:nvPr/>
        </p:nvSpPr>
        <p:spPr>
          <a:xfrm>
            <a:off x="10515600" y="595274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</a:t>
            </a:r>
            <a:endParaRPr lang="en-US" sz="1100" dirty="0"/>
          </a:p>
        </p:txBody>
      </p:sp>
      <p:sp>
        <p:nvSpPr>
          <p:cNvPr id="125" name="Text 123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126" name="Text 124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workshop (Internal IT + Biz)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skeleton → production matrix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28016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4416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1325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event catalogue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63440" y="1325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real e6 21 codes + loan N list into the sheet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05740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2140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103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contract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63440" y="21031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xapi → TransactionalEvent field map (amount, mcc, eventId…)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83464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89864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28803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design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8803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P1 row: Brain rule + formula + skip reasons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361188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67588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3657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 decision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663440" y="3657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vs Loan profile codes; ownerId strategy if split books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25196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438912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45312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4434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spike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663440" y="44348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cc-xapi calls dry-run for 5 golden events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7200" y="5029200"/>
            <a:ext cx="1124712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B122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0080" y="5166360"/>
            <a:ext cx="411480" cy="411480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5230368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280160" y="5212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Outbound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4663440" y="52120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Redemption: burn API vs coupon adapter sequence diagram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510528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LedgeRX × UA Finance  ·  Confidential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972800" y="65105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× UA Finance — Landscape Apply + Event Mapping</dc:title>
  <dc:subject>UAF Reward CC+Loan</dc:subject>
  <dc:creator>LedgeRX</dc:creator>
  <cp:lastModifiedBy>LedgeRX</cp:lastModifiedBy>
  <cp:revision>1</cp:revision>
  <dcterms:created xsi:type="dcterms:W3CDTF">2026-08-19T00:50:33Z</dcterms:created>
  <dcterms:modified xsi:type="dcterms:W3CDTF">2026-08-19T00:50:33Z</dcterms:modified>
</cp:coreProperties>
</file>