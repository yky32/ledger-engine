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af_badg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"/>
            <a:ext cx="114300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1640" y="146304"/>
            <a:ext cx="82296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Target architecture  ·  Rewards platform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420624"/>
            <a:ext cx="82296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UAF builds the platform  ·  clear domain boundaries  ·  Reward System as the core domain capability</a:t>
            </a:r>
          </a:p>
        </p:txBody>
      </p:sp>
      <p:pic>
        <p:nvPicPr>
          <p:cNvPr id="7" name="Picture 6" descr="sim_mark_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182880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1360" y="237744"/>
            <a:ext cx="82296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1 /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731520"/>
            <a:ext cx="11365992" cy="384048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804672"/>
            <a:ext cx="11064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Design principle: channel systems · integration fabric · Reward System · UAF orchestration · fulfillment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280160"/>
            <a:ext cx="2011680" cy="4709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4604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280160"/>
            <a:ext cx="201168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35024"/>
            <a:ext cx="18288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A  Channel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536192"/>
            <a:ext cx="1828800" cy="1645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Existing UAF estate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1280160"/>
            <a:ext cx="1965960" cy="4709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4604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40" y="1280160"/>
            <a:ext cx="196596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1335024"/>
            <a:ext cx="178308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B  Integration fabric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1536192"/>
            <a:ext cx="1783080" cy="1645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How we connect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280160"/>
            <a:ext cx="3520440" cy="4709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4604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280160"/>
            <a:ext cx="352044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335024"/>
            <a:ext cx="333756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C  Reward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536192"/>
            <a:ext cx="3337560" cy="1645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New core domain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1280160"/>
            <a:ext cx="1417320" cy="4709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4604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58200" y="1280160"/>
            <a:ext cx="141732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1335024"/>
            <a:ext cx="123444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D  Platform add-ons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1536192"/>
            <a:ext cx="1234440" cy="1645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Evolve later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1280160"/>
            <a:ext cx="1737360" cy="4709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4604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8400" y="1280160"/>
            <a:ext cx="173736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1335024"/>
            <a:ext cx="155448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E  Fulfillment estate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1536192"/>
            <a:ext cx="1554480" cy="1645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Existing + CBP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450592" y="310896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4599432" y="310896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8302752" y="310896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9902952" y="310896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2450592" y="429768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4599432" y="429768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8302752" y="429768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9902952" y="429768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2920" y="1874520"/>
            <a:ext cx="1828800" cy="86868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1965960"/>
            <a:ext cx="1664208" cy="74066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Credit card systems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Spend / auth events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2880360"/>
            <a:ext cx="1828800" cy="86868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2971800"/>
            <a:ext cx="1664208" cy="74066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Loan systems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Drawdown / DD events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3886200"/>
            <a:ext cx="1828800" cy="86868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977640"/>
            <a:ext cx="1664208" cy="74066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Digital channels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Yes UA · sim · CRM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074920"/>
            <a:ext cx="1828800" cy="6400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Stay as systems of record.
Emit business events only.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7480" y="1828800"/>
            <a:ext cx="178308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Thin, standard connectors
(REST · bus · batch)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97480" y="2331720"/>
            <a:ext cx="1783080" cy="77724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632" y="2560320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108960" y="2496312"/>
            <a:ext cx="1280160" cy="5486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REST API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Use-case invoke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97480" y="3200400"/>
            <a:ext cx="1783080" cy="77724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kafk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0632" y="3429000"/>
            <a:ext cx="274320" cy="2743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108960" y="3364992"/>
            <a:ext cx="1280160" cy="5486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Event bus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Async delivery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97480" y="4069080"/>
            <a:ext cx="1783080" cy="77724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0632" y="4297680"/>
            <a:ext cx="274320" cy="27432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108960" y="4233672"/>
            <a:ext cx="1280160" cy="5486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Batch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File / bulk path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97480" y="5120640"/>
            <a:ext cx="1783080" cy="5943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Stable contract:
ownerId + use-case code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46320" y="1810512"/>
            <a:ext cx="1371600" cy="237744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46320" y="1828800"/>
            <a:ext cx="13716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1">
                <a:solidFill>
                  <a:srgbClr val="14532D"/>
                </a:solidFill>
                <a:latin typeface="Calibri"/>
              </a:rPr>
              <a:t>NEW DOMAIN BUILD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1828800"/>
            <a:ext cx="178308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Central rewards domain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46320" y="2176272"/>
            <a:ext cx="1600200" cy="658368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37760" y="2267712"/>
            <a:ext cx="1435608" cy="5303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Customer onboarding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Wallet · multi-currency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37960" y="2176272"/>
            <a:ext cx="1600200" cy="658368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29400" y="2267712"/>
            <a:ext cx="1435608" cy="5303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Referrer management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Referral rules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46320" y="2907792"/>
            <a:ext cx="1600200" cy="658368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37760" y="2999232"/>
            <a:ext cx="1435608" cy="5303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Posting engine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Double-entry settle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37960" y="2907792"/>
            <a:ext cx="1600200" cy="658368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2999232"/>
            <a:ext cx="1435608" cy="5303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Ledger books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Balances · movements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846320" y="3639312"/>
            <a:ext cx="1600200" cy="658368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37760" y="3730752"/>
            <a:ext cx="1435608" cy="5303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Account rules (COA)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Finance profiles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37960" y="3639312"/>
            <a:ext cx="1600200" cy="658368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29400" y="3730752"/>
            <a:ext cx="1435608" cy="5303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Points calculation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Formula engine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846320" y="4434840"/>
            <a:ext cx="3337560" cy="384048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 w="14604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01184" y="4498848"/>
            <a:ext cx="324612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Calibri"/>
              </a:rPr>
              <a:t>Runtime: event → admit → calculate → post → books → outbound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4983480"/>
            <a:ext cx="3337560" cy="7315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Ops-owned configuration (rules, COA, catalog).
Channel teams call use-cases — they do not re-implement scoring math.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49640" y="1828800"/>
            <a:ext cx="123444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Planned extensions
without forking core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549640" y="2423160"/>
            <a:ext cx="1234440" cy="77724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41080" y="2514600"/>
            <a:ext cx="1069848" cy="64922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Wallet tiering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Roadmap slot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549640" y="3337560"/>
            <a:ext cx="1234440" cy="77724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41080" y="3429000"/>
            <a:ext cx="1069848" cy="64922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Campaign packs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Roadmap slot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49640" y="4251960"/>
            <a:ext cx="1234440" cy="77724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41080" y="4343400"/>
            <a:ext cx="1069848" cy="64922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Future modules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Roadmap slot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49840" y="1810512"/>
            <a:ext cx="15544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Behind UAF hub
(see slide 2)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149840" y="2331720"/>
            <a:ext cx="1554480" cy="6858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241280" y="2459736"/>
            <a:ext cx="1389888" cy="5212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E-coupon / CBP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149840" y="3108960"/>
            <a:ext cx="1554480" cy="6858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241280" y="3236976"/>
            <a:ext cx="1389888" cy="5212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Gift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149840" y="3886200"/>
            <a:ext cx="1554480" cy="6858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241280" y="4014216"/>
            <a:ext cx="1389888" cy="5212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Notification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149840" y="4663440"/>
            <a:ext cx="1554480" cy="6858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41280" y="4791456"/>
            <a:ext cx="1389888" cy="5212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XAPI / CRM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1480" y="6309360"/>
            <a:ext cx="1097280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CTO narrative: We are standing up a modern rewards domain with clean boundaries — channels stay thin, Reward System is centralized, fulfillment remains ours.
This is UAF platform architecture — a domain we own and operate.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af_badg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"/>
            <a:ext cx="114300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1640" y="146304"/>
            <a:ext cx="82296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How UAF owns the landing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420624"/>
            <a:ext cx="82296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One UAF-built hub is the only counterpart to Reward System  ·  everything else is our internal topology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37744"/>
            <a:ext cx="82296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2 /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777240"/>
            <a:ext cx="11365992" cy="960120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 w="1714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886968"/>
            <a:ext cx="2103120" cy="237744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905256"/>
            <a:ext cx="210312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1">
                <a:solidFill>
                  <a:srgbClr val="14532D"/>
                </a:solidFill>
                <a:latin typeface="Calibri"/>
              </a:rPr>
              <a:t>DOMAIN WE STAND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886968"/>
            <a:ext cx="86868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Reward System  ·  wallets, posting, calculation, 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52728"/>
            <a:ext cx="1097280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Produces domain outcomes only: balance updates · redemption requests · ledger facts.
Does not own coupon inventory, partner settlement, or customer notification content.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1828800"/>
            <a:ext cx="118872" cy="118872"/>
          </a:xfrm>
          <a:prstGeom prst="down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828800"/>
            <a:ext cx="2743200" cy="1828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Calibri"/>
              </a:rPr>
              <a:t>contracted interface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084831"/>
            <a:ext cx="11365992" cy="1417320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 w="222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176271"/>
            <a:ext cx="2377440" cy="237744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94559"/>
            <a:ext cx="237744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UAF BUILDS &amp; OWNS THIS</a:t>
            </a:r>
          </a:p>
        </p:txBody>
      </p:sp>
      <p:pic>
        <p:nvPicPr>
          <p:cNvPr id="18" name="Picture 17" descr="uaf_badg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157983"/>
            <a:ext cx="1005840" cy="310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06240" y="2194559"/>
            <a:ext cx="68580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Unified Landing Hub  —  our orchestration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523743"/>
            <a:ext cx="1097280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Single integration surface to Reward System. UAF policy, routing, and business decisions live 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862071"/>
            <a:ext cx="356616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926079"/>
            <a:ext cx="32004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926079"/>
            <a:ext cx="3017520" cy="1828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Collect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127246"/>
            <a:ext cx="3017520" cy="1828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Consume Reward System outcomes (bus / API)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399" y="2862071"/>
            <a:ext cx="356616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7" y="2926079"/>
            <a:ext cx="32004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2926079"/>
            <a:ext cx="3017520" cy="1828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3127246"/>
            <a:ext cx="3017520" cy="1828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Apply UAF rules · eligibility · journey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38" y="2862071"/>
            <a:ext cx="356616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2166" y="2926079"/>
            <a:ext cx="32004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8" y="2926079"/>
            <a:ext cx="3017520" cy="1828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Dispatch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8" y="3127246"/>
            <a:ext cx="3017520" cy="1828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Drive CBP, gift, notify, CRM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1737360" y="3611880"/>
            <a:ext cx="118872" cy="118872"/>
          </a:xfrm>
          <a:prstGeom prst="down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wn Arrow 33"/>
          <p:cNvSpPr/>
          <p:nvPr/>
        </p:nvSpPr>
        <p:spPr>
          <a:xfrm>
            <a:off x="4434840" y="3611880"/>
            <a:ext cx="118872" cy="118872"/>
          </a:xfrm>
          <a:prstGeom prst="down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own Arrow 34"/>
          <p:cNvSpPr/>
          <p:nvPr/>
        </p:nvSpPr>
        <p:spPr>
          <a:xfrm>
            <a:off x="7132320" y="3611880"/>
            <a:ext cx="118872" cy="118872"/>
          </a:xfrm>
          <a:prstGeom prst="down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wn Arrow 35"/>
          <p:cNvSpPr/>
          <p:nvPr/>
        </p:nvSpPr>
        <p:spPr>
          <a:xfrm>
            <a:off x="9829800" y="3611880"/>
            <a:ext cx="118872" cy="118872"/>
          </a:xfrm>
          <a:prstGeom prst="down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794760"/>
            <a:ext cx="109728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UAF internal topology — not exposed as Reward System integration surfaces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4069080"/>
            <a:ext cx="2697480" cy="1143000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 w="1714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4160520"/>
            <a:ext cx="2478024" cy="1828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Calibri"/>
              </a:rPr>
              <a:t>EXAMPLE DOWNSTREAM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" y="4361688"/>
            <a:ext cx="2478024" cy="23774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E-coupon / CBP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" y="4654296"/>
            <a:ext cx="2478024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Our coupon platform
inventory · issue · redeem ·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" y="4937760"/>
            <a:ext cx="2478024" cy="1828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UAF-controlled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73552" y="4069080"/>
            <a:ext cx="269748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0" y="4197096"/>
            <a:ext cx="2478024" cy="23774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Gift systems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489704"/>
            <a:ext cx="2478024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Fulfillment we already run
triggered by hub decisions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937760"/>
            <a:ext cx="2478024" cy="1828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UAF-controlled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35624" y="4069080"/>
            <a:ext cx="269748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5352" y="4197096"/>
            <a:ext cx="2478024" cy="23774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Notification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5352" y="4489704"/>
            <a:ext cx="2478024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Customer messaging
Push · SMS · inbox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4937760"/>
            <a:ext cx="2478024" cy="1828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UAF-controlled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97696" y="4069080"/>
            <a:ext cx="269748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07424" y="4197096"/>
            <a:ext cx="2478024" cy="23774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XAPI / CRM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07424" y="4489704"/>
            <a:ext cx="2478024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Customer &amp; channel APIs
Yes UA · sim</a:t>
            </a:r>
          </a:p>
        </p:txBody>
      </p:sp>
      <p:pic>
        <p:nvPicPr>
          <p:cNvPr id="54" name="Picture 53" descr="uaf_mark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4882896"/>
            <a:ext cx="219456" cy="219456"/>
          </a:xfrm>
          <a:prstGeom prst="rect">
            <a:avLst/>
          </a:prstGeom>
        </p:spPr>
      </p:pic>
      <p:pic>
        <p:nvPicPr>
          <p:cNvPr id="55" name="Picture 54" descr="sim_mark_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4882896"/>
            <a:ext cx="219456" cy="219456"/>
          </a:xfrm>
          <a:prstGeom prst="rect">
            <a:avLst/>
          </a:prstGeom>
        </p:spPr>
      </p:pic>
      <p:pic>
        <p:nvPicPr>
          <p:cNvPr id="56" name="Picture 55" descr="yesua_mark_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88" y="4882896"/>
            <a:ext cx="219456" cy="219456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411480" y="5349240"/>
            <a:ext cx="2697480" cy="32004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394960"/>
            <a:ext cx="251460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→ COD / partners (our network)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73552" y="5349240"/>
            <a:ext cx="8503920" cy="320040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83280" y="5394960"/>
            <a:ext cx="868680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18181B"/>
                </a:solidFill>
                <a:latin typeface="Calibri"/>
              </a:rPr>
              <a:t>Architecture rule we set: Reward System never wires directly to fulfillment — hub is the control plane.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5989320"/>
            <a:ext cx="11155680" cy="685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8181B"/>
                </a:solidFill>
                <a:latin typeface="Calibri"/>
              </a:rPr>
              <a:t>What we are proud of building
1) A real domain split — channels / Reward System / orchestration / fulfillment
2) One controlled interface into rewards — not N brittle point-to-point links
3) CBP and partners stay UAF assets; Reward System stays focused and evolvable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