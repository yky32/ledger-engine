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7"/>
    <p:sldId id="267" r:id="rId18"/>
    <p:sldId id="268" r:id="rId19"/>
    <p:sldId id="269" r:id="rId20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 FINANCE  ·  REWARD SYSTEM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LedgeRX into your landscape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31089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whiteboard (CC + Loan) → target architecture + event mapping skeleton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CTO &amp; Internal IT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58521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for alignment  ·  Not a commercial proposal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discussed — whiteboard summary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UAF Reward System (CC + Loan) · In / New / Out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2743200" cy="4937760"/>
          </a:xfrm>
          <a:prstGeom prst="roundRect">
            <a:avLst>
              <a:gd name="adj" fmla="val 2000"/>
            </a:avLst>
          </a:prstGeom>
          <a:solidFill>
            <a:srgbClr val="DBEAFE"/>
          </a:solidFill>
          <a:ln/>
          <a:effectLst>
            <a:outerShdw sx="100000" sy="100000" kx="0" ky="0" algn="bl" rotWithShape="0" blurRad="101600" dist="25400" dir="5400000">
              <a:srgbClr val="0B1220">
                <a:alpha val="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2344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1600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Channels / events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21031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e6 web (CC)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26060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~21 CC events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3108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(Loan)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36118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Loan events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41148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cc-xapi (existing)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46177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loan path (TBD)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91840" y="1097280"/>
            <a:ext cx="5577840" cy="4937760"/>
          </a:xfrm>
          <a:prstGeom prst="roundRect">
            <a:avLst>
              <a:gd name="adj" fmla="val 1111"/>
            </a:avLst>
          </a:prstGeom>
          <a:solidFill>
            <a:srgbClr val="D1FAE5"/>
          </a:solidFill>
          <a:ln/>
          <a:effectLst>
            <a:outerShdw sx="100000" sy="100000" kx="0" ky="0" algn="bl" rotWithShape="0" blurRad="101600" dist="25400" dir="5400000">
              <a:srgbClr val="0B1220">
                <a:alpha val="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474720" y="12344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(green box)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474720" y="16002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core · whiteboard intent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520440" y="2011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+ SDK v1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852160" y="2011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surface for IT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520440" y="24505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852160" y="245059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/ wallet setup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520440" y="288950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Referrer MGT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852160" y="288950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programme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520440" y="332841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852160" y="332841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points / movements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520440" y="37673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Rules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852160" y="37673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 / decisioning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520440" y="4206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 Config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852160" y="4206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Rates / formulas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520440" y="464515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× N (yellow)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852160" y="464515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books drawn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520440" y="508406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Rules (bottom)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852160" y="508406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policy layer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052560" y="1097280"/>
            <a:ext cx="2743200" cy="4937760"/>
          </a:xfrm>
          <a:prstGeom prst="roundRect">
            <a:avLst>
              <a:gd name="adj" fmla="val 2000"/>
            </a:avLst>
          </a:prstGeom>
          <a:solidFill>
            <a:srgbClr val="FEF3C7"/>
          </a:solidFill>
          <a:ln/>
          <a:effectLst>
            <a:outerShdw sx="100000" sy="100000" kx="0" ky="0" algn="bl" rotWithShape="0" blurRad="101600" dist="25400" dir="5400000">
              <a:srgbClr val="0B1220">
                <a:alpha val="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9189720" y="12344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189720" y="1600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 / cores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189720" y="21031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Loan:CC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9189720" y="26060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Loan:Loan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9189720" y="3108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New: E-Coupon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9189720" y="36118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New: Adapter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9189720" y="41148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New: Stock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9189720" y="46177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adapters…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57200" y="65105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× UA Finance  ·  Confidential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10972800" y="651052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2/10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from sticky notes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ownership — honest split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188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0" y="11887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303520" y="1188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0" y="1188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1247120" cy="685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1828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cashback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0" y="18288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03520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+ xapi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772400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→ Door→Brain→Books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2377440"/>
            <a:ext cx="11247120" cy="685800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25603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 stack / balances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0" y="25603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303520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0" y="2560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multi-ccy + history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11247120" cy="685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32918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redemption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7600" y="32918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1–2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303520" y="3291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+ Coupon/Stock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772400" y="3291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Burn/hold in ledger; fulfil outside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3840480"/>
            <a:ext cx="11247120" cy="685800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40233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tier / ranking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657600" y="40233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303520" y="4023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UAF CRM / loyalty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772400" y="4023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LedgeRX core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57200" y="4572000"/>
            <a:ext cx="11247120" cy="685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594360" y="4754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 / merchandising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657600" y="47548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303520" y="4754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772400" y="4754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→ post event to ledger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57200" y="5303520"/>
            <a:ext cx="11247120" cy="685800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36" name="Text 34"/>
          <p:cNvSpPr/>
          <p:nvPr/>
        </p:nvSpPr>
        <p:spPr>
          <a:xfrm>
            <a:off x="594360" y="54864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Referrer management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3657600" y="54864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303520" y="5486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UAF New service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777240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emit earn events only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57200" y="65105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× UA Finance  ·  Confidential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0972800" y="651052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3/10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landscape — LedgeRX applied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domain service · SDK · CC + Loan books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051560"/>
            <a:ext cx="2148840" cy="502920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220">
                <a:alpha val="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188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1874520" cy="1051560"/>
          </a:xfrm>
          <a:prstGeom prst="roundRect">
            <a:avLst>
              <a:gd name="adj" fmla="val 5217"/>
            </a:avLst>
          </a:prstGeom>
          <a:solidFill>
            <a:srgbClr val="E0E7FF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8745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e6 / digital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2402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events (~21)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926080"/>
            <a:ext cx="1874520" cy="1051560"/>
          </a:xfrm>
          <a:prstGeom prst="roundRect">
            <a:avLst>
              <a:gd name="adj" fmla="val 5217"/>
            </a:avLst>
          </a:prstGeom>
          <a:solidFill>
            <a:srgbClr val="E0E7FF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1546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/ loan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35204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events (N)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4206240"/>
            <a:ext cx="1874520" cy="1051560"/>
          </a:xfrm>
          <a:prstGeom prst="roundRect">
            <a:avLst>
              <a:gd name="adj" fmla="val 5217"/>
            </a:avLst>
          </a:prstGeom>
          <a:solidFill>
            <a:srgbClr val="E0E7FF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4348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48006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ownerId source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651760" y="1051560"/>
            <a:ext cx="2286000" cy="5029200"/>
          </a:xfrm>
          <a:prstGeom prst="roundRect">
            <a:avLst>
              <a:gd name="adj" fmla="val 2400"/>
            </a:avLst>
          </a:prstGeom>
          <a:solidFill>
            <a:srgbClr val="FEF3C7"/>
          </a:solidFill>
          <a:ln/>
          <a:effectLst>
            <a:outerShdw sx="100000" sy="100000" kx="0" ky="0" algn="bl" rotWithShape="0" blurRad="101600" dist="25400" dir="5400000">
              <a:srgbClr val="0B1220">
                <a:alpha val="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788920" y="1188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EDGE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834640" y="1737360"/>
            <a:ext cx="196596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2834640" y="201168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cc-xapi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2926080" y="246888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 21 events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SDK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834640" y="3383280"/>
            <a:ext cx="196596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2834640" y="36576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adapter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2926080" y="411480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 N events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SDK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834640" y="512064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Anti-corruption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120640" y="1051560"/>
            <a:ext cx="4160520" cy="5029200"/>
          </a:xfrm>
          <a:prstGeom prst="roundRect">
            <a:avLst>
              <a:gd name="adj" fmla="val 2198"/>
            </a:avLst>
          </a:prstGeom>
          <a:solidFill>
            <a:srgbClr val="0C2340"/>
          </a:solidFill>
          <a:ln/>
        </p:spPr>
      </p:sp>
      <p:sp>
        <p:nvSpPr>
          <p:cNvPr id="26" name="Text 24"/>
          <p:cNvSpPr/>
          <p:nvPr/>
        </p:nvSpPr>
        <p:spPr>
          <a:xfrm>
            <a:off x="5303520" y="11887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 ·  LedgeRX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303520" y="15087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domain service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303520" y="18745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ledger-engine + Java SDK v1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349240" y="2331720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134E4A"/>
          </a:solidFill>
          <a:ln/>
        </p:spPr>
      </p:sp>
      <p:sp>
        <p:nvSpPr>
          <p:cNvPr id="30" name="Text 28"/>
          <p:cNvSpPr/>
          <p:nvPr/>
        </p:nvSpPr>
        <p:spPr>
          <a:xfrm>
            <a:off x="5349240" y="2514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349240" y="28346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policy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223760" y="2331720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134E4A"/>
          </a:solidFill>
          <a:ln/>
        </p:spPr>
      </p:sp>
      <p:sp>
        <p:nvSpPr>
          <p:cNvPr id="33" name="Text 31"/>
          <p:cNvSpPr/>
          <p:nvPr/>
        </p:nvSpPr>
        <p:spPr>
          <a:xfrm>
            <a:off x="7223760" y="2514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223760" y="28346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+ calc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349240" y="3383280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134E4A"/>
          </a:solidFill>
          <a:ln/>
        </p:spPr>
      </p:sp>
      <p:sp>
        <p:nvSpPr>
          <p:cNvPr id="36" name="Text 34"/>
          <p:cNvSpPr/>
          <p:nvPr/>
        </p:nvSpPr>
        <p:spPr>
          <a:xfrm>
            <a:off x="5349240" y="3566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349240" y="3886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posting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223760" y="3383280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134E4A"/>
          </a:solidFill>
          <a:ln/>
        </p:spPr>
      </p:sp>
      <p:sp>
        <p:nvSpPr>
          <p:cNvPr id="39" name="Text 37"/>
          <p:cNvSpPr/>
          <p:nvPr/>
        </p:nvSpPr>
        <p:spPr>
          <a:xfrm>
            <a:off x="7223760" y="3566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223760" y="3886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/ Loan schemes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349240" y="46177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= configuration plane   ·   Own PostgreSQL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349240" y="53492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3 ledger microservices — multi-book inside one SoR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9464040" y="1051560"/>
            <a:ext cx="2377440" cy="502920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220">
                <a:alpha val="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601200" y="11887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9601200" y="1691640"/>
            <a:ext cx="2057400" cy="868680"/>
          </a:xfrm>
          <a:prstGeom prst="roundRect">
            <a:avLst>
              <a:gd name="adj" fmla="val 6316"/>
            </a:avLst>
          </a:prstGeom>
          <a:solidFill>
            <a:srgbClr val="FEF3C7"/>
          </a:solidFill>
          <a:ln/>
        </p:spPr>
      </p:sp>
      <p:sp>
        <p:nvSpPr>
          <p:cNvPr id="46" name="Text 44"/>
          <p:cNvSpPr/>
          <p:nvPr/>
        </p:nvSpPr>
        <p:spPr>
          <a:xfrm>
            <a:off x="9601200" y="185623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Loan:CC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9601200" y="21488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core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9601200" y="2697480"/>
            <a:ext cx="2057400" cy="868680"/>
          </a:xfrm>
          <a:prstGeom prst="roundRect">
            <a:avLst>
              <a:gd name="adj" fmla="val 6316"/>
            </a:avLst>
          </a:prstGeom>
          <a:solidFill>
            <a:srgbClr val="FEF3C7"/>
          </a:solidFill>
          <a:ln/>
        </p:spPr>
      </p:sp>
      <p:sp>
        <p:nvSpPr>
          <p:cNvPr id="49" name="Text 47"/>
          <p:cNvSpPr/>
          <p:nvPr/>
        </p:nvSpPr>
        <p:spPr>
          <a:xfrm>
            <a:off x="9601200" y="286207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Loan:Loan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9601200" y="31546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core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9601200" y="3703320"/>
            <a:ext cx="2057400" cy="868680"/>
          </a:xfrm>
          <a:prstGeom prst="roundRect">
            <a:avLst>
              <a:gd name="adj" fmla="val 6316"/>
            </a:avLst>
          </a:prstGeom>
          <a:solidFill>
            <a:srgbClr val="E6F5F3"/>
          </a:solidFill>
          <a:ln/>
        </p:spPr>
      </p:sp>
      <p:sp>
        <p:nvSpPr>
          <p:cNvPr id="52" name="Text 50"/>
          <p:cNvSpPr/>
          <p:nvPr/>
        </p:nvSpPr>
        <p:spPr>
          <a:xfrm>
            <a:off x="9601200" y="38679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E-Coupon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9601200" y="41605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fulfil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9601200" y="4709160"/>
            <a:ext cx="2057400" cy="868680"/>
          </a:xfrm>
          <a:prstGeom prst="roundRect">
            <a:avLst>
              <a:gd name="adj" fmla="val 6316"/>
            </a:avLst>
          </a:prstGeom>
          <a:solidFill>
            <a:srgbClr val="E6F5F3"/>
          </a:solidFill>
          <a:ln/>
        </p:spPr>
      </p:sp>
      <p:sp>
        <p:nvSpPr>
          <p:cNvPr id="55" name="Text 53"/>
          <p:cNvSpPr/>
          <p:nvPr/>
        </p:nvSpPr>
        <p:spPr>
          <a:xfrm>
            <a:off x="9601200" y="487375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/ Adapter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9601200" y="51663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fulfil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57200" y="65105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× UA Finance  ·  Confidential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10972800" y="651052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4/10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Whiteboard box → LedgeRX mapping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replaces the yellow Ledger × 3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1247120" cy="41148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1155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Whiteboard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840480" y="11155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/ decision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0" y="11155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554480"/>
            <a:ext cx="112471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1645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: SDK v1.0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840480" y="16459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ledger-engine-sdk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0" y="16459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IT primary integrate surface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011680"/>
            <a:ext cx="11247120" cy="438912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103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(yellow ×N)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840480" y="21031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One LedgeRX + COA profiles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0" y="21031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stream vs Loan stream — not N services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468880"/>
            <a:ext cx="112471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2560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840480" y="2560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Books / DE shooter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0" y="2560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 burn hold → movements + legs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2926080"/>
            <a:ext cx="11247120" cy="438912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3017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Rules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840480" y="3017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Brain (digestion)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315200" y="3017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 filters + priority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383280"/>
            <a:ext cx="112471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3474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 Config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840480" y="3474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Brain formula JSON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315200" y="34747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/ FIXED / LINEAR runtime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7200" y="3840480"/>
            <a:ext cx="11247120" cy="438912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30" name="Text 28"/>
          <p:cNvSpPr/>
          <p:nvPr/>
        </p:nvSpPr>
        <p:spPr>
          <a:xfrm>
            <a:off x="594360" y="3931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Rules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840480" y="39319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Admin + APIs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315200" y="39319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 / Brain / COA no redeploy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57200" y="4297680"/>
            <a:ext cx="112471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594360" y="4389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840480" y="43891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Wallet onboard only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0" y="43891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KYC/referrer stays UAF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57200" y="4754880"/>
            <a:ext cx="11247120" cy="438912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38" name="Text 36"/>
          <p:cNvSpPr/>
          <p:nvPr/>
        </p:nvSpPr>
        <p:spPr>
          <a:xfrm>
            <a:off x="594360" y="4846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Referrer MGT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840480" y="4846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Outside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7315200" y="4846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 earn events into LedgeRX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" y="5212080"/>
            <a:ext cx="112471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594360" y="5303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cc-xapi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38404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Keep existing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7315200" y="5303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 → SDK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" y="5669280"/>
            <a:ext cx="11247120" cy="438912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46" name="Text 44"/>
          <p:cNvSpPr/>
          <p:nvPr/>
        </p:nvSpPr>
        <p:spPr>
          <a:xfrm>
            <a:off x="594360" y="5760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E-Coupon / Stock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3840480" y="5760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Outbound New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7315200" y="57607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burns; they fulfil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57200" y="65105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× UA Finance  ·  Confidential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10972800" y="651052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5/10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path (CC example)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pattern for Loan with different COA / ruleset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280160"/>
            <a:ext cx="502920" cy="502920"/>
          </a:xfrm>
          <a:prstGeom prst="ellipse">
            <a:avLst/>
          </a:prstGeom>
          <a:solidFill>
            <a:srgbClr val="0C2340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35331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1481328"/>
            <a:ext cx="960120" cy="54864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8" name="Shape 6"/>
          <p:cNvSpPr/>
          <p:nvPr/>
        </p:nvSpPr>
        <p:spPr>
          <a:xfrm>
            <a:off x="320040" y="2011680"/>
            <a:ext cx="1554480" cy="182880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220">
                <a:alpha val="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11480" y="2286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11480" y="28803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e6 cc purchase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468880" y="1280160"/>
            <a:ext cx="502920" cy="502920"/>
          </a:xfrm>
          <a:prstGeom prst="ellipse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2468880" y="135331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063240" y="1481328"/>
            <a:ext cx="960120" cy="54864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4" name="Shape 12"/>
          <p:cNvSpPr/>
          <p:nvPr/>
        </p:nvSpPr>
        <p:spPr>
          <a:xfrm>
            <a:off x="2011680" y="2011680"/>
            <a:ext cx="1554480" cy="182880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220">
                <a:alpha val="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103120" y="2286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cc-xapi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103120" y="28803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fields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160520" y="1280160"/>
            <a:ext cx="502920" cy="502920"/>
          </a:xfrm>
          <a:prstGeom prst="ellipse">
            <a:avLst/>
          </a:prstGeom>
          <a:solidFill>
            <a:srgbClr val="0C2340"/>
          </a:solidFill>
          <a:ln/>
        </p:spPr>
      </p:sp>
      <p:sp>
        <p:nvSpPr>
          <p:cNvPr id="18" name="Text 16"/>
          <p:cNvSpPr/>
          <p:nvPr/>
        </p:nvSpPr>
        <p:spPr>
          <a:xfrm>
            <a:off x="4160520" y="135331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754880" y="1481328"/>
            <a:ext cx="960120" cy="54864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0" name="Shape 18"/>
          <p:cNvSpPr/>
          <p:nvPr/>
        </p:nvSpPr>
        <p:spPr>
          <a:xfrm>
            <a:off x="3703320" y="2011680"/>
            <a:ext cx="1554480" cy="182880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220">
                <a:alpha val="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794760" y="2286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794760" y="28803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ingestEvent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852160" y="1280160"/>
            <a:ext cx="502920" cy="502920"/>
          </a:xfrm>
          <a:prstGeom prst="ellipse">
            <a:avLst/>
          </a:prstGeom>
          <a:solidFill>
            <a:srgbClr val="0C2340"/>
          </a:solidFill>
          <a:ln/>
        </p:spPr>
      </p:sp>
      <p:sp>
        <p:nvSpPr>
          <p:cNvPr id="24" name="Text 22"/>
          <p:cNvSpPr/>
          <p:nvPr/>
        </p:nvSpPr>
        <p:spPr>
          <a:xfrm>
            <a:off x="5852160" y="135331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46520" y="1481328"/>
            <a:ext cx="960120" cy="54864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6" name="Shape 24"/>
          <p:cNvSpPr/>
          <p:nvPr/>
        </p:nvSpPr>
        <p:spPr>
          <a:xfrm>
            <a:off x="5394960" y="2011680"/>
            <a:ext cx="1554480" cy="182880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220">
                <a:alpha val="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0" y="2286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486400" y="28803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accept?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543800" y="1280160"/>
            <a:ext cx="502920" cy="502920"/>
          </a:xfrm>
          <a:prstGeom prst="ellipse">
            <a:avLst/>
          </a:prstGeom>
          <a:solidFill>
            <a:srgbClr val="0C2340"/>
          </a:solidFill>
          <a:ln/>
        </p:spPr>
      </p:sp>
      <p:sp>
        <p:nvSpPr>
          <p:cNvPr id="30" name="Text 28"/>
          <p:cNvSpPr/>
          <p:nvPr/>
        </p:nvSpPr>
        <p:spPr>
          <a:xfrm>
            <a:off x="7543800" y="135331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8138160" y="1481328"/>
            <a:ext cx="960120" cy="54864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2" name="Shape 30"/>
          <p:cNvSpPr/>
          <p:nvPr/>
        </p:nvSpPr>
        <p:spPr>
          <a:xfrm>
            <a:off x="7086600" y="2011680"/>
            <a:ext cx="1554480" cy="182880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220">
                <a:alpha val="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7178040" y="2286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178040" y="28803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rule+pts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235440" y="1280160"/>
            <a:ext cx="502920" cy="502920"/>
          </a:xfrm>
          <a:prstGeom prst="ellipse">
            <a:avLst/>
          </a:prstGeom>
          <a:solidFill>
            <a:srgbClr val="0C2340"/>
          </a:solidFill>
          <a:ln/>
        </p:spPr>
      </p:sp>
      <p:sp>
        <p:nvSpPr>
          <p:cNvPr id="36" name="Text 34"/>
          <p:cNvSpPr/>
          <p:nvPr/>
        </p:nvSpPr>
        <p:spPr>
          <a:xfrm>
            <a:off x="9235440" y="135331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9829800" y="1481328"/>
            <a:ext cx="960120" cy="54864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8" name="Shape 36"/>
          <p:cNvSpPr/>
          <p:nvPr/>
        </p:nvSpPr>
        <p:spPr>
          <a:xfrm>
            <a:off x="8778240" y="2011680"/>
            <a:ext cx="1554480" cy="182880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220">
                <a:alpha val="5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8869680" y="2286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869680" y="28803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post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10927080" y="1280160"/>
            <a:ext cx="502920" cy="502920"/>
          </a:xfrm>
          <a:prstGeom prst="ellipse">
            <a:avLst/>
          </a:prstGeom>
          <a:solidFill>
            <a:srgbClr val="0C2340"/>
          </a:solidFill>
          <a:ln/>
        </p:spPr>
      </p:sp>
      <p:sp>
        <p:nvSpPr>
          <p:cNvPr id="42" name="Text 40"/>
          <p:cNvSpPr/>
          <p:nvPr/>
        </p:nvSpPr>
        <p:spPr>
          <a:xfrm>
            <a:off x="10927080" y="135331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10469880" y="2011680"/>
            <a:ext cx="1554480" cy="182880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220">
                <a:alpha val="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10561320" y="2286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10561320" y="28803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/ burn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457200" y="4206240"/>
            <a:ext cx="1124712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220">
                <a:alpha val="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731520" y="443484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CTO one-liner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731520" y="48920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cc-xapi and loan cores. Put one LedgeRX in the green box. Internal IT integrates with the Java SDK. Configuration Rules = Door + Brain + COA — not a second rules platform.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457200" y="65105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× UA Finance  ·  Confidential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10972800" y="651052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6/10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mapping skeleton — how to use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~21 events · Loan N events → Brain rules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1247120" cy="41148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1247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0" y="11247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490472"/>
            <a:ext cx="112471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56362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eventCode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0" y="156362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UAF / e6 stable code (source of truth from xapi)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9384"/>
            <a:ext cx="11247120" cy="411480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00253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114800" y="20025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| LOAN | BOTH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2368296"/>
            <a:ext cx="112471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4414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samplePayload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0" y="24414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fields after xapi normalize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2807208"/>
            <a:ext cx="11247120" cy="411480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880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mapsToEventType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114800" y="2880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TransactionalEvent.eventType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246120"/>
            <a:ext cx="112471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3192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brainRuleCode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114800" y="33192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digestion_rule.code (or NEW)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685032"/>
            <a:ext cx="11247120" cy="411480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75818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formulaIntent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114800" y="37581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/ FIXED / NONE (informational only)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57200" y="4123944"/>
            <a:ext cx="112471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419709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coaProfile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114800" y="41970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stream vs LOAN stream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57200" y="4562856"/>
            <a:ext cx="11247120" cy="411480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46360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114800" y="46360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dry-run · P1 live · P2 · OUT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57200" y="5001768"/>
            <a:ext cx="112471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640080" y="5074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114800" y="5074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UAF IT / Biz / LedgeRX support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57200" y="5440680"/>
            <a:ext cx="11247120" cy="411480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" y="55138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114800" y="55138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· MAPPED · UAT · LIVE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57200" y="65105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× UA Finance  ·  Confidential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0972800" y="651052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7/10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event map (skeleton 1–12)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codes with UAF e6 catalogue — placeholders shown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051560"/>
            <a:ext cx="11521440" cy="3657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0972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1097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eventCode (UAF)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0" y="10972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eventType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760720" y="10972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 rule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863840" y="1097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418320" y="10972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515600" y="10972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1463040"/>
            <a:ext cx="115214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153619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15361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CC_PURCHASE_POSTED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57600" y="15361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760720" y="15361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CC_EARN_BASE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863840" y="15361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%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418320" y="153619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515600" y="15361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0040" y="1847088"/>
            <a:ext cx="11521440" cy="384048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92024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4400" y="19202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CC_PURCHASE_AUTH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0" y="19202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760720" y="19202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CC_HOLD_OPT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863840" y="1920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NONE/HOLD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418320" y="19202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515600" y="192024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20040" y="2231136"/>
            <a:ext cx="115214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365760" y="230428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14400" y="230428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CC_PURCHASE_CAPTURE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657600" y="230428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760720" y="230428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CC_EARN_BASE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863840" y="23042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%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418320" y="230428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0515600" y="230428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20040" y="2615184"/>
            <a:ext cx="11521440" cy="384048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38" name="Text 36"/>
          <p:cNvSpPr/>
          <p:nvPr/>
        </p:nvSpPr>
        <p:spPr>
          <a:xfrm>
            <a:off x="365760" y="268833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14400" y="268833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CC_REFUND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657600" y="268833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760720" y="268833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CC_BURN_REFUND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863840" y="26883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RATE/AMT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9418320" y="26883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515600" y="26883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320040" y="2999232"/>
            <a:ext cx="115214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365760" y="307238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914400" y="307238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CC_CHARGEBACK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657600" y="307238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CHARGEBACK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760720" y="307238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CC_BURN_CB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7863840" y="307238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AMT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9418320" y="307238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10515600" y="30723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320040" y="3383280"/>
            <a:ext cx="11521440" cy="384048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54" name="Text 52"/>
          <p:cNvSpPr/>
          <p:nvPr/>
        </p:nvSpPr>
        <p:spPr>
          <a:xfrm>
            <a:off x="365760" y="3456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914400" y="345643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CC_FX_MARKUP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3657600" y="345643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760720" y="345643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CC_EARN_FX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7863840" y="3456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9418320" y="34564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10515600" y="345643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320040" y="3767328"/>
            <a:ext cx="115214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Text 60"/>
          <p:cNvSpPr/>
          <p:nvPr/>
        </p:nvSpPr>
        <p:spPr>
          <a:xfrm>
            <a:off x="365760" y="384048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914400" y="38404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CC_CASH_ADVANCE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3657600" y="38404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CASH_ADV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5760720" y="38404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SKIP_OR_RATE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7863840" y="384048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TBD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9418320" y="384048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10515600" y="38404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320040" y="4151376"/>
            <a:ext cx="11521440" cy="384048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70" name="Text 68"/>
          <p:cNvSpPr/>
          <p:nvPr/>
        </p:nvSpPr>
        <p:spPr>
          <a:xfrm>
            <a:off x="365760" y="422452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914400" y="422452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CC_FEE_POSTED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3657600" y="422452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5760720" y="422452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7863840" y="422452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9418320" y="422452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10515600" y="422452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320040" y="4535424"/>
            <a:ext cx="115214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8" name="Text 76"/>
          <p:cNvSpPr/>
          <p:nvPr/>
        </p:nvSpPr>
        <p:spPr>
          <a:xfrm>
            <a:off x="365760" y="460857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914400" y="460857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CC_PAYMENT_RECV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3657600" y="46085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5760720" y="46085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7863840" y="46085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9418320" y="46085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10515600" y="460857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00" dirty="0"/>
          </a:p>
        </p:txBody>
      </p:sp>
      <p:sp>
        <p:nvSpPr>
          <p:cNvPr id="85" name="Shape 83"/>
          <p:cNvSpPr/>
          <p:nvPr/>
        </p:nvSpPr>
        <p:spPr>
          <a:xfrm>
            <a:off x="320040" y="4919472"/>
            <a:ext cx="11521440" cy="384048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86" name="Text 84"/>
          <p:cNvSpPr/>
          <p:nvPr/>
        </p:nvSpPr>
        <p:spPr>
          <a:xfrm>
            <a:off x="365760" y="499262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87" name="Text 85"/>
          <p:cNvSpPr/>
          <p:nvPr/>
        </p:nvSpPr>
        <p:spPr>
          <a:xfrm>
            <a:off x="914400" y="499262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CC_INTEREST_POST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3657600" y="499262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</a:t>
            </a:r>
            <a:endParaRPr lang="en-US" sz="1100" dirty="0"/>
          </a:p>
        </p:txBody>
      </p:sp>
      <p:sp>
        <p:nvSpPr>
          <p:cNvPr id="89" name="Text 87"/>
          <p:cNvSpPr/>
          <p:nvPr/>
        </p:nvSpPr>
        <p:spPr>
          <a:xfrm>
            <a:off x="5760720" y="499262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7863840" y="499262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100" dirty="0"/>
          </a:p>
        </p:txBody>
      </p:sp>
      <p:sp>
        <p:nvSpPr>
          <p:cNvPr id="91" name="Text 89"/>
          <p:cNvSpPr/>
          <p:nvPr/>
        </p:nvSpPr>
        <p:spPr>
          <a:xfrm>
            <a:off x="9418320" y="499262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endParaRPr lang="en-US" sz="1100" dirty="0"/>
          </a:p>
        </p:txBody>
      </p:sp>
      <p:sp>
        <p:nvSpPr>
          <p:cNvPr id="92" name="Text 90"/>
          <p:cNvSpPr/>
          <p:nvPr/>
        </p:nvSpPr>
        <p:spPr>
          <a:xfrm>
            <a:off x="10515600" y="499262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00" dirty="0"/>
          </a:p>
        </p:txBody>
      </p:sp>
      <p:sp>
        <p:nvSpPr>
          <p:cNvPr id="93" name="Shape 91"/>
          <p:cNvSpPr/>
          <p:nvPr/>
        </p:nvSpPr>
        <p:spPr>
          <a:xfrm>
            <a:off x="320040" y="5303520"/>
            <a:ext cx="115214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4" name="Text 92"/>
          <p:cNvSpPr/>
          <p:nvPr/>
        </p:nvSpPr>
        <p:spPr>
          <a:xfrm>
            <a:off x="365760" y="537667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95" name="Text 93"/>
          <p:cNvSpPr/>
          <p:nvPr/>
        </p:nvSpPr>
        <p:spPr>
          <a:xfrm>
            <a:off x="914400" y="537667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CC_MCC_GROCERY</a:t>
            </a:r>
            <a:endParaRPr lang="en-US" sz="1100" dirty="0"/>
          </a:p>
        </p:txBody>
      </p:sp>
      <p:sp>
        <p:nvSpPr>
          <p:cNvPr id="96" name="Text 94"/>
          <p:cNvSpPr/>
          <p:nvPr/>
        </p:nvSpPr>
        <p:spPr>
          <a:xfrm>
            <a:off x="3657600" y="537667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</a:t>
            </a:r>
            <a:endParaRPr lang="en-US" sz="1100" dirty="0"/>
          </a:p>
        </p:txBody>
      </p:sp>
      <p:sp>
        <p:nvSpPr>
          <p:cNvPr id="97" name="Text 95"/>
          <p:cNvSpPr/>
          <p:nvPr/>
        </p:nvSpPr>
        <p:spPr>
          <a:xfrm>
            <a:off x="5760720" y="537667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CC_EARN_MCC_5411</a:t>
            </a:r>
            <a:endParaRPr lang="en-US" sz="1100" dirty="0"/>
          </a:p>
        </p:txBody>
      </p:sp>
      <p:sp>
        <p:nvSpPr>
          <p:cNvPr id="98" name="Text 96"/>
          <p:cNvSpPr/>
          <p:nvPr/>
        </p:nvSpPr>
        <p:spPr>
          <a:xfrm>
            <a:off x="7863840" y="537667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RATE+</a:t>
            </a:r>
            <a:endParaRPr lang="en-US" sz="1100" dirty="0"/>
          </a:p>
        </p:txBody>
      </p:sp>
      <p:sp>
        <p:nvSpPr>
          <p:cNvPr id="99" name="Text 97"/>
          <p:cNvSpPr/>
          <p:nvPr/>
        </p:nvSpPr>
        <p:spPr>
          <a:xfrm>
            <a:off x="9418320" y="53766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endParaRPr lang="en-US" sz="1100" dirty="0"/>
          </a:p>
        </p:txBody>
      </p:sp>
      <p:sp>
        <p:nvSpPr>
          <p:cNvPr id="100" name="Text 98"/>
          <p:cNvSpPr/>
          <p:nvPr/>
        </p:nvSpPr>
        <p:spPr>
          <a:xfrm>
            <a:off x="10515600" y="537667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00" dirty="0"/>
          </a:p>
        </p:txBody>
      </p:sp>
      <p:sp>
        <p:nvSpPr>
          <p:cNvPr id="101" name="Shape 99"/>
          <p:cNvSpPr/>
          <p:nvPr/>
        </p:nvSpPr>
        <p:spPr>
          <a:xfrm>
            <a:off x="320040" y="5687568"/>
            <a:ext cx="11521440" cy="384048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102" name="Text 100"/>
          <p:cNvSpPr/>
          <p:nvPr/>
        </p:nvSpPr>
        <p:spPr>
          <a:xfrm>
            <a:off x="365760" y="576072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103" name="Text 101"/>
          <p:cNvSpPr/>
          <p:nvPr/>
        </p:nvSpPr>
        <p:spPr>
          <a:xfrm>
            <a:off x="914400" y="57607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CC_MCC_DINING</a:t>
            </a:r>
            <a:endParaRPr lang="en-US" sz="1100" dirty="0"/>
          </a:p>
        </p:txBody>
      </p:sp>
      <p:sp>
        <p:nvSpPr>
          <p:cNvPr id="104" name="Text 102"/>
          <p:cNvSpPr/>
          <p:nvPr/>
        </p:nvSpPr>
        <p:spPr>
          <a:xfrm>
            <a:off x="3657600" y="57607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</a:t>
            </a:r>
            <a:endParaRPr lang="en-US" sz="1100" dirty="0"/>
          </a:p>
        </p:txBody>
      </p:sp>
      <p:sp>
        <p:nvSpPr>
          <p:cNvPr id="105" name="Text 103"/>
          <p:cNvSpPr/>
          <p:nvPr/>
        </p:nvSpPr>
        <p:spPr>
          <a:xfrm>
            <a:off x="5760720" y="57607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CC_EARN_MCC_5812</a:t>
            </a:r>
            <a:endParaRPr lang="en-US" sz="1100" dirty="0"/>
          </a:p>
        </p:txBody>
      </p:sp>
      <p:sp>
        <p:nvSpPr>
          <p:cNvPr id="106" name="Text 104"/>
          <p:cNvSpPr/>
          <p:nvPr/>
        </p:nvSpPr>
        <p:spPr>
          <a:xfrm>
            <a:off x="7863840" y="57607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RATE+</a:t>
            </a:r>
            <a:endParaRPr lang="en-US" sz="1100" dirty="0"/>
          </a:p>
        </p:txBody>
      </p:sp>
      <p:sp>
        <p:nvSpPr>
          <p:cNvPr id="107" name="Text 105"/>
          <p:cNvSpPr/>
          <p:nvPr/>
        </p:nvSpPr>
        <p:spPr>
          <a:xfrm>
            <a:off x="9418320" y="576072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endParaRPr lang="en-US" sz="1100" dirty="0"/>
          </a:p>
        </p:txBody>
      </p:sp>
      <p:sp>
        <p:nvSpPr>
          <p:cNvPr id="108" name="Text 106"/>
          <p:cNvSpPr/>
          <p:nvPr/>
        </p:nvSpPr>
        <p:spPr>
          <a:xfrm>
            <a:off x="10515600" y="576072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00" dirty="0"/>
          </a:p>
        </p:txBody>
      </p:sp>
      <p:sp>
        <p:nvSpPr>
          <p:cNvPr id="109" name="Text 107"/>
          <p:cNvSpPr/>
          <p:nvPr/>
        </p:nvSpPr>
        <p:spPr>
          <a:xfrm>
            <a:off x="457200" y="65105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× UA Finance  ·  Confidential</a:t>
            </a:r>
            <a:endParaRPr lang="en-US" sz="1000" dirty="0"/>
          </a:p>
        </p:txBody>
      </p:sp>
      <p:sp>
        <p:nvSpPr>
          <p:cNvPr id="110" name="Text 108"/>
          <p:cNvSpPr/>
          <p:nvPr/>
        </p:nvSpPr>
        <p:spPr>
          <a:xfrm>
            <a:off x="10972800" y="651052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8/10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map (13–21) + Loan skeleton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with real UAF codes in workshop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005840"/>
            <a:ext cx="11521440" cy="347472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051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105156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eventCode (UAF)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0" y="10515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eventType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760720" y="10515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 rule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863840" y="105156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418320" y="105156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515600" y="105156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1389888"/>
            <a:ext cx="115214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143560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143560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CC_MCC_TRAVEL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57600" y="143560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760720" y="143560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CC_EARN_TRAVEL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863840" y="14356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RATE+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418320" y="14356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515600" y="143560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0040" y="1737360"/>
            <a:ext cx="11521440" cy="347472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78308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4400" y="17830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CC_ONLINE_ECOM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0" y="1783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760720" y="1783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CC_EARN_ONLINE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863840" y="178308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418320" y="178308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515600" y="17830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20040" y="2084832"/>
            <a:ext cx="115214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365760" y="213055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14400" y="213055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CC_INSTALMENT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657600" y="21305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760720" y="21305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CC_EARN_OR_SKIP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863840" y="213055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TBD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418320" y="213055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0515600" y="21305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20040" y="2432304"/>
            <a:ext cx="11521440" cy="347472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38" name="Text 36"/>
          <p:cNvSpPr/>
          <p:nvPr/>
        </p:nvSpPr>
        <p:spPr>
          <a:xfrm>
            <a:off x="365760" y="247802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14400" y="247802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CC_REWARD_REDEEM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657600" y="247802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REDEEM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760720" y="247802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CC_BURN_REDEEM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863840" y="247802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AMT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9418320" y="247802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515600" y="247802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320040" y="2779776"/>
            <a:ext cx="115214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365760" y="282549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914400" y="28254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CC_REWARD_EXPIRE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657600" y="282549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EXPIRE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760720" y="282549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CC_BURN_EXPIRE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7863840" y="282549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AMT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9418320" y="282549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10515600" y="282549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320040" y="3127248"/>
            <a:ext cx="11521440" cy="347472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54" name="Text 52"/>
          <p:cNvSpPr/>
          <p:nvPr/>
        </p:nvSpPr>
        <p:spPr>
          <a:xfrm>
            <a:off x="365760" y="31729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914400" y="317296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CC_ADJUSTMENT_CR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3657600" y="317296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ADJ_CR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760720" y="317296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CC_EARN_ADJ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7863840" y="317296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AMT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9418320" y="31729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10515600" y="31729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320040" y="3474720"/>
            <a:ext cx="115214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Text 60"/>
          <p:cNvSpPr/>
          <p:nvPr/>
        </p:nvSpPr>
        <p:spPr>
          <a:xfrm>
            <a:off x="365760" y="352044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914400" y="35204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CC_ADJUSTMENT_DR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3657600" y="35204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ADJ_DR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5760720" y="35204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CC_BURN_ADJ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7863840" y="35204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AMT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9418320" y="35204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10515600" y="352044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320040" y="3822192"/>
            <a:ext cx="11521440" cy="347472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70" name="Text 68"/>
          <p:cNvSpPr/>
          <p:nvPr/>
        </p:nvSpPr>
        <p:spPr>
          <a:xfrm>
            <a:off x="365760" y="386791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914400" y="386791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CC_CARD_ACTIVATION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3657600" y="386791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SIGNUP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5760720" y="386791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CC_EARN_WELCOME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7863840" y="386791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9418320" y="38679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1051560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320040" y="4169664"/>
            <a:ext cx="115214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8" name="Text 76"/>
          <p:cNvSpPr/>
          <p:nvPr/>
        </p:nvSpPr>
        <p:spPr>
          <a:xfrm>
            <a:off x="365760" y="421538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914400" y="421538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CC_ANNUAL_FEE_WAIVE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3657600" y="421538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FEE_WAIVE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5760720" y="421538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SKIP_OR_FIXED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7863840" y="421538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TBD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9418320" y="421538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10515600" y="42153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00" dirty="0"/>
          </a:p>
        </p:txBody>
      </p:sp>
      <p:sp>
        <p:nvSpPr>
          <p:cNvPr id="85" name="Shape 83"/>
          <p:cNvSpPr/>
          <p:nvPr/>
        </p:nvSpPr>
        <p:spPr>
          <a:xfrm>
            <a:off x="320040" y="4517136"/>
            <a:ext cx="11521440" cy="347472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86" name="Text 84"/>
          <p:cNvSpPr/>
          <p:nvPr/>
        </p:nvSpPr>
        <p:spPr>
          <a:xfrm>
            <a:off x="365760" y="456285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</a:t>
            </a:r>
            <a:endParaRPr lang="en-US" sz="1100" dirty="0"/>
          </a:p>
        </p:txBody>
      </p:sp>
      <p:sp>
        <p:nvSpPr>
          <p:cNvPr id="87" name="Text 85"/>
          <p:cNvSpPr/>
          <p:nvPr/>
        </p:nvSpPr>
        <p:spPr>
          <a:xfrm>
            <a:off x="914400" y="456285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LOAN_DISBURSE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3657600" y="45628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DISBURSE</a:t>
            </a:r>
            <a:endParaRPr lang="en-US" sz="1100" dirty="0"/>
          </a:p>
        </p:txBody>
      </p:sp>
      <p:sp>
        <p:nvSpPr>
          <p:cNvPr id="89" name="Text 87"/>
          <p:cNvSpPr/>
          <p:nvPr/>
        </p:nvSpPr>
        <p:spPr>
          <a:xfrm>
            <a:off x="5760720" y="45628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LN_EARN_OR_SKIP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7863840" y="456285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TBD</a:t>
            </a:r>
            <a:endParaRPr lang="en-US" sz="1100" dirty="0"/>
          </a:p>
        </p:txBody>
      </p:sp>
      <p:sp>
        <p:nvSpPr>
          <p:cNvPr id="91" name="Text 89"/>
          <p:cNvSpPr/>
          <p:nvPr/>
        </p:nvSpPr>
        <p:spPr>
          <a:xfrm>
            <a:off x="9418320" y="456285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</a:t>
            </a:r>
            <a:endParaRPr lang="en-US" sz="1100" dirty="0"/>
          </a:p>
        </p:txBody>
      </p:sp>
      <p:sp>
        <p:nvSpPr>
          <p:cNvPr id="92" name="Text 90"/>
          <p:cNvSpPr/>
          <p:nvPr/>
        </p:nvSpPr>
        <p:spPr>
          <a:xfrm>
            <a:off x="10515600" y="456285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00" dirty="0"/>
          </a:p>
        </p:txBody>
      </p:sp>
      <p:sp>
        <p:nvSpPr>
          <p:cNvPr id="93" name="Shape 91"/>
          <p:cNvSpPr/>
          <p:nvPr/>
        </p:nvSpPr>
        <p:spPr>
          <a:xfrm>
            <a:off x="320040" y="4864608"/>
            <a:ext cx="115214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4" name="Text 92"/>
          <p:cNvSpPr/>
          <p:nvPr/>
        </p:nvSpPr>
        <p:spPr>
          <a:xfrm>
            <a:off x="365760" y="491032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</a:t>
            </a:r>
            <a:endParaRPr lang="en-US" sz="1100" dirty="0"/>
          </a:p>
        </p:txBody>
      </p:sp>
      <p:sp>
        <p:nvSpPr>
          <p:cNvPr id="95" name="Text 93"/>
          <p:cNvSpPr/>
          <p:nvPr/>
        </p:nvSpPr>
        <p:spPr>
          <a:xfrm>
            <a:off x="914400" y="491032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LOAN_REPAYMENT</a:t>
            </a:r>
            <a:endParaRPr lang="en-US" sz="1100" dirty="0"/>
          </a:p>
        </p:txBody>
      </p:sp>
      <p:sp>
        <p:nvSpPr>
          <p:cNvPr id="96" name="Text 94"/>
          <p:cNvSpPr/>
          <p:nvPr/>
        </p:nvSpPr>
        <p:spPr>
          <a:xfrm>
            <a:off x="3657600" y="491032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REPAY</a:t>
            </a:r>
            <a:endParaRPr lang="en-US" sz="1100" dirty="0"/>
          </a:p>
        </p:txBody>
      </p:sp>
      <p:sp>
        <p:nvSpPr>
          <p:cNvPr id="97" name="Text 95"/>
          <p:cNvSpPr/>
          <p:nvPr/>
        </p:nvSpPr>
        <p:spPr>
          <a:xfrm>
            <a:off x="5760720" y="491032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LN_EARN_REPAY</a:t>
            </a:r>
            <a:endParaRPr lang="en-US" sz="1100" dirty="0"/>
          </a:p>
        </p:txBody>
      </p:sp>
      <p:sp>
        <p:nvSpPr>
          <p:cNvPr id="98" name="Text 96"/>
          <p:cNvSpPr/>
          <p:nvPr/>
        </p:nvSpPr>
        <p:spPr>
          <a:xfrm>
            <a:off x="7863840" y="491032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RATE/FIXED</a:t>
            </a:r>
            <a:endParaRPr lang="en-US" sz="1100" dirty="0"/>
          </a:p>
        </p:txBody>
      </p:sp>
      <p:sp>
        <p:nvSpPr>
          <p:cNvPr id="99" name="Text 97"/>
          <p:cNvSpPr/>
          <p:nvPr/>
        </p:nvSpPr>
        <p:spPr>
          <a:xfrm>
            <a:off x="9418320" y="491032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</a:t>
            </a:r>
            <a:endParaRPr lang="en-US" sz="1100" dirty="0"/>
          </a:p>
        </p:txBody>
      </p:sp>
      <p:sp>
        <p:nvSpPr>
          <p:cNvPr id="100" name="Text 98"/>
          <p:cNvSpPr/>
          <p:nvPr/>
        </p:nvSpPr>
        <p:spPr>
          <a:xfrm>
            <a:off x="10515600" y="491032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00" dirty="0"/>
          </a:p>
        </p:txBody>
      </p:sp>
      <p:sp>
        <p:nvSpPr>
          <p:cNvPr id="101" name="Shape 99"/>
          <p:cNvSpPr/>
          <p:nvPr/>
        </p:nvSpPr>
        <p:spPr>
          <a:xfrm>
            <a:off x="320040" y="5212080"/>
            <a:ext cx="11521440" cy="347472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102" name="Text 100"/>
          <p:cNvSpPr/>
          <p:nvPr/>
        </p:nvSpPr>
        <p:spPr>
          <a:xfrm>
            <a:off x="365760" y="525780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</a:t>
            </a:r>
            <a:endParaRPr lang="en-US" sz="1100" dirty="0"/>
          </a:p>
        </p:txBody>
      </p:sp>
      <p:sp>
        <p:nvSpPr>
          <p:cNvPr id="103" name="Text 101"/>
          <p:cNvSpPr/>
          <p:nvPr/>
        </p:nvSpPr>
        <p:spPr>
          <a:xfrm>
            <a:off x="914400" y="52578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LOAN_EARLY_SETTLE</a:t>
            </a:r>
            <a:endParaRPr lang="en-US" sz="1100" dirty="0"/>
          </a:p>
        </p:txBody>
      </p:sp>
      <p:sp>
        <p:nvSpPr>
          <p:cNvPr id="104" name="Text 102"/>
          <p:cNvSpPr/>
          <p:nvPr/>
        </p:nvSpPr>
        <p:spPr>
          <a:xfrm>
            <a:off x="3657600" y="52578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</a:t>
            </a:r>
            <a:endParaRPr lang="en-US" sz="1100" dirty="0"/>
          </a:p>
        </p:txBody>
      </p:sp>
      <p:sp>
        <p:nvSpPr>
          <p:cNvPr id="105" name="Text 103"/>
          <p:cNvSpPr/>
          <p:nvPr/>
        </p:nvSpPr>
        <p:spPr>
          <a:xfrm>
            <a:off x="5760720" y="52578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LN_EARN_BONUS</a:t>
            </a:r>
            <a:endParaRPr lang="en-US" sz="1100" dirty="0"/>
          </a:p>
        </p:txBody>
      </p:sp>
      <p:sp>
        <p:nvSpPr>
          <p:cNvPr id="106" name="Text 104"/>
          <p:cNvSpPr/>
          <p:nvPr/>
        </p:nvSpPr>
        <p:spPr>
          <a:xfrm>
            <a:off x="7863840" y="52578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</a:t>
            </a:r>
            <a:endParaRPr lang="en-US" sz="1100" dirty="0"/>
          </a:p>
        </p:txBody>
      </p:sp>
      <p:sp>
        <p:nvSpPr>
          <p:cNvPr id="107" name="Text 105"/>
          <p:cNvSpPr/>
          <p:nvPr/>
        </p:nvSpPr>
        <p:spPr>
          <a:xfrm>
            <a:off x="9418320" y="525780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</a:t>
            </a:r>
            <a:endParaRPr lang="en-US" sz="1100" dirty="0"/>
          </a:p>
        </p:txBody>
      </p:sp>
      <p:sp>
        <p:nvSpPr>
          <p:cNvPr id="108" name="Text 106"/>
          <p:cNvSpPr/>
          <p:nvPr/>
        </p:nvSpPr>
        <p:spPr>
          <a:xfrm>
            <a:off x="10515600" y="52578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00" dirty="0"/>
          </a:p>
        </p:txBody>
      </p:sp>
      <p:sp>
        <p:nvSpPr>
          <p:cNvPr id="109" name="Shape 107"/>
          <p:cNvSpPr/>
          <p:nvPr/>
        </p:nvSpPr>
        <p:spPr>
          <a:xfrm>
            <a:off x="320040" y="5559552"/>
            <a:ext cx="115214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/>
          <p:nvPr/>
        </p:nvSpPr>
        <p:spPr>
          <a:xfrm>
            <a:off x="365760" y="560527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</a:t>
            </a:r>
            <a:endParaRPr lang="en-US" sz="1100" dirty="0"/>
          </a:p>
        </p:txBody>
      </p:sp>
      <p:sp>
        <p:nvSpPr>
          <p:cNvPr id="111" name="Text 109"/>
          <p:cNvSpPr/>
          <p:nvPr/>
        </p:nvSpPr>
        <p:spPr>
          <a:xfrm>
            <a:off x="914400" y="560527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LOAN_OVERDUE</a:t>
            </a:r>
            <a:endParaRPr lang="en-US" sz="1100" dirty="0"/>
          </a:p>
        </p:txBody>
      </p:sp>
      <p:sp>
        <p:nvSpPr>
          <p:cNvPr id="112" name="Text 110"/>
          <p:cNvSpPr/>
          <p:nvPr/>
        </p:nvSpPr>
        <p:spPr>
          <a:xfrm>
            <a:off x="3657600" y="560527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OVERDUE</a:t>
            </a:r>
            <a:endParaRPr lang="en-US" sz="1100" dirty="0"/>
          </a:p>
        </p:txBody>
      </p:sp>
      <p:sp>
        <p:nvSpPr>
          <p:cNvPr id="113" name="Text 111"/>
          <p:cNvSpPr/>
          <p:nvPr/>
        </p:nvSpPr>
        <p:spPr>
          <a:xfrm>
            <a:off x="5760720" y="560527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SKIP_OR_HOLD</a:t>
            </a:r>
            <a:endParaRPr lang="en-US" sz="1100" dirty="0"/>
          </a:p>
        </p:txBody>
      </p:sp>
      <p:sp>
        <p:nvSpPr>
          <p:cNvPr id="114" name="Text 112"/>
          <p:cNvSpPr/>
          <p:nvPr/>
        </p:nvSpPr>
        <p:spPr>
          <a:xfrm>
            <a:off x="7863840" y="560527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100" dirty="0"/>
          </a:p>
        </p:txBody>
      </p:sp>
      <p:sp>
        <p:nvSpPr>
          <p:cNvPr id="115" name="Text 113"/>
          <p:cNvSpPr/>
          <p:nvPr/>
        </p:nvSpPr>
        <p:spPr>
          <a:xfrm>
            <a:off x="9418320" y="56052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</a:t>
            </a:r>
            <a:endParaRPr lang="en-US" sz="1100" dirty="0"/>
          </a:p>
        </p:txBody>
      </p:sp>
      <p:sp>
        <p:nvSpPr>
          <p:cNvPr id="116" name="Text 114"/>
          <p:cNvSpPr/>
          <p:nvPr/>
        </p:nvSpPr>
        <p:spPr>
          <a:xfrm>
            <a:off x="10515600" y="560527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00" dirty="0"/>
          </a:p>
        </p:txBody>
      </p:sp>
      <p:sp>
        <p:nvSpPr>
          <p:cNvPr id="117" name="Shape 115"/>
          <p:cNvSpPr/>
          <p:nvPr/>
        </p:nvSpPr>
        <p:spPr>
          <a:xfrm>
            <a:off x="320040" y="5907024"/>
            <a:ext cx="11521440" cy="347472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118" name="Text 116"/>
          <p:cNvSpPr/>
          <p:nvPr/>
        </p:nvSpPr>
        <p:spPr>
          <a:xfrm>
            <a:off x="365760" y="595274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L+</a:t>
            </a:r>
            <a:endParaRPr lang="en-US" sz="1100" dirty="0"/>
          </a:p>
        </p:txBody>
      </p:sp>
      <p:sp>
        <p:nvSpPr>
          <p:cNvPr id="119" name="Text 117"/>
          <p:cNvSpPr/>
          <p:nvPr/>
        </p:nvSpPr>
        <p:spPr>
          <a:xfrm>
            <a:off x="914400" y="595274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(N-4 more)</a:t>
            </a:r>
            <a:endParaRPr lang="en-US" sz="1100" dirty="0"/>
          </a:p>
        </p:txBody>
      </p:sp>
      <p:sp>
        <p:nvSpPr>
          <p:cNvPr id="120" name="Text 118"/>
          <p:cNvSpPr/>
          <p:nvPr/>
        </p:nvSpPr>
        <p:spPr>
          <a:xfrm>
            <a:off x="3657600" y="595274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TBD</a:t>
            </a:r>
            <a:endParaRPr lang="en-US" sz="1100" dirty="0"/>
          </a:p>
        </p:txBody>
      </p:sp>
      <p:sp>
        <p:nvSpPr>
          <p:cNvPr id="121" name="Text 119"/>
          <p:cNvSpPr/>
          <p:nvPr/>
        </p:nvSpPr>
        <p:spPr>
          <a:xfrm>
            <a:off x="5760720" y="595274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TBD</a:t>
            </a:r>
            <a:endParaRPr lang="en-US" sz="1100" dirty="0"/>
          </a:p>
        </p:txBody>
      </p:sp>
      <p:sp>
        <p:nvSpPr>
          <p:cNvPr id="122" name="Text 120"/>
          <p:cNvSpPr/>
          <p:nvPr/>
        </p:nvSpPr>
        <p:spPr>
          <a:xfrm>
            <a:off x="7863840" y="595274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TBD</a:t>
            </a:r>
            <a:endParaRPr lang="en-US" sz="1100" dirty="0"/>
          </a:p>
        </p:txBody>
      </p:sp>
      <p:sp>
        <p:nvSpPr>
          <p:cNvPr id="123" name="Text 121"/>
          <p:cNvSpPr/>
          <p:nvPr/>
        </p:nvSpPr>
        <p:spPr>
          <a:xfrm>
            <a:off x="9418320" y="59527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</a:t>
            </a:r>
            <a:endParaRPr lang="en-US" sz="1100" dirty="0"/>
          </a:p>
        </p:txBody>
      </p:sp>
      <p:sp>
        <p:nvSpPr>
          <p:cNvPr id="124" name="Text 122"/>
          <p:cNvSpPr/>
          <p:nvPr/>
        </p:nvSpPr>
        <p:spPr>
          <a:xfrm>
            <a:off x="10515600" y="595274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TBD</a:t>
            </a:r>
            <a:endParaRPr lang="en-US" sz="1100" dirty="0"/>
          </a:p>
        </p:txBody>
      </p:sp>
      <p:sp>
        <p:nvSpPr>
          <p:cNvPr id="125" name="Text 123"/>
          <p:cNvSpPr/>
          <p:nvPr/>
        </p:nvSpPr>
        <p:spPr>
          <a:xfrm>
            <a:off x="457200" y="65105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× UA Finance  ·  Confidential</a:t>
            </a:r>
            <a:endParaRPr lang="en-US" sz="1000" dirty="0"/>
          </a:p>
        </p:txBody>
      </p:sp>
      <p:sp>
        <p:nvSpPr>
          <p:cNvPr id="126" name="Text 124"/>
          <p:cNvSpPr/>
          <p:nvPr/>
        </p:nvSpPr>
        <p:spPr>
          <a:xfrm>
            <a:off x="10972800" y="651052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9/10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next workshop (Internal IT + Biz)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skeleton → production matrix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112471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220">
                <a:alpha val="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280160"/>
            <a:ext cx="411480" cy="411480"/>
          </a:xfrm>
          <a:prstGeom prst="ellipse">
            <a:avLst/>
          </a:prstGeom>
          <a:solidFill>
            <a:srgbClr val="0C2340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344168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80160" y="1325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event catalogue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663440" y="13258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real e6 21 codes + loan N list into the sheet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1920240"/>
            <a:ext cx="112471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220">
                <a:alpha val="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057400"/>
            <a:ext cx="411480" cy="411480"/>
          </a:xfrm>
          <a:prstGeom prst="ellipse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121408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80160" y="2103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 contract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63440" y="210312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xapi → TransactionalEvent field map (amount, mcc, eventId…)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697480"/>
            <a:ext cx="112471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220">
                <a:alpha val="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2834640"/>
            <a:ext cx="411480" cy="411480"/>
          </a:xfrm>
          <a:prstGeom prst="ellipse">
            <a:avLst/>
          </a:prstGeom>
          <a:solidFill>
            <a:srgbClr val="0C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898648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80160" y="28803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design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663440" y="288036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P1 row: Brain rule + formula + skip reasons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112471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220">
                <a:alpha val="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" y="3611880"/>
            <a:ext cx="411480" cy="411480"/>
          </a:xfrm>
          <a:prstGeom prst="ellipse">
            <a:avLst/>
          </a:prstGeom>
          <a:solidFill>
            <a:srgbClr val="0C2340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3675888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80160" y="3657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 decision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663440" y="365760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vs Loan profile codes; ownerId strategy if split books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57200" y="4251960"/>
            <a:ext cx="112471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220">
                <a:alpha val="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0080" y="4389120"/>
            <a:ext cx="411480" cy="411480"/>
          </a:xfrm>
          <a:prstGeom prst="ellipse">
            <a:avLst/>
          </a:prstGeom>
          <a:solidFill>
            <a:srgbClr val="0C2340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4453128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280160" y="4434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spike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663440" y="44348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cc-xapi calls dry-run for 5 golden events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57200" y="5029200"/>
            <a:ext cx="112471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220">
                <a:alpha val="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40080" y="5166360"/>
            <a:ext cx="411480" cy="411480"/>
          </a:xfrm>
          <a:prstGeom prst="ellipse">
            <a:avLst/>
          </a:prstGeom>
          <a:solidFill>
            <a:srgbClr val="0C2340"/>
          </a:solidFill>
          <a:ln/>
        </p:spPr>
      </p:sp>
      <p:sp>
        <p:nvSpPr>
          <p:cNvPr id="32" name="Text 30"/>
          <p:cNvSpPr/>
          <p:nvPr/>
        </p:nvSpPr>
        <p:spPr>
          <a:xfrm>
            <a:off x="640080" y="5230368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280160" y="5212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4663440" y="52120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Redemption: burn API vs coupon adapter sequence diagram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57200" y="65105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× UA Finance  ·  Confidential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0972800" y="651052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10972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4B8A6"/>
                </a:solidFill>
                <a:latin typeface="Calibri"/>
              </a:rPr>
              <a:t>APPENDIX</a:t>
            </a:r>
          </a:p>
          <a:p>
            <a:r>
              <a:rPr sz="3600" b="1">
                <a:solidFill>
                  <a:srgbClr val="FFFFFF"/>
                </a:solidFill>
                <a:latin typeface="Calibri"/>
              </a:rPr>
              <a:t>Earn · Process · Burn</a:t>
            </a:r>
          </a:p>
          <a:p>
            <a:r>
              <a:rPr sz="1800" b="0">
                <a:solidFill>
                  <a:srgbClr val="94A3B8"/>
                </a:solidFill>
                <a:latin typeface="Calibri"/>
              </a:rPr>
              <a:t>Full sequence board — 2 halves (leave-behind)</a:t>
            </a:r>
          </a:p>
          <a:p>
            <a:r>
              <a:rPr sz="1500" b="0">
                <a:solidFill>
                  <a:srgbClr val="CBD5E1"/>
                </a:solidFill>
                <a:latin typeface="Calibri"/>
              </a:rPr>
              <a:t>A1: Pay → Ingest → Calculate → Earn</a:t>
            </a:r>
          </a:p>
          <a:p>
            <a:r>
              <a:rPr sz="1500" b="0">
                <a:solidFill>
                  <a:srgbClr val="CBD5E1"/>
                </a:solidFill>
                <a:latin typeface="Calibri"/>
              </a:rPr>
              <a:t>A2: Result → Burn + summary cards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B8A6"/>
                </a:solidFill>
                <a:latin typeface="Calibri"/>
              </a:rPr>
              <a:t>APPENDIX A1  ·  Sequence board (1/2)  ·  Transaction → Earn</a:t>
            </a:r>
          </a:p>
        </p:txBody>
      </p:sp>
      <p:pic>
        <p:nvPicPr>
          <p:cNvPr id="4" name="Picture 3" descr="uaf-earn-burn-appendix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6593" y="571500"/>
            <a:ext cx="4428332" cy="59893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B8A6"/>
                </a:solidFill>
                <a:latin typeface="Calibri"/>
              </a:rPr>
              <a:t>APPENDIX A2  ·  Sequence board (2/2)  ·  Result → Burn + summary</a:t>
            </a:r>
          </a:p>
        </p:txBody>
      </p:sp>
      <p:pic>
        <p:nvPicPr>
          <p:cNvPr id="4" name="Picture 3" descr="uaf-earn-burn-appendix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931" y="571500"/>
            <a:ext cx="5905656" cy="59893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4B8A6"/>
                </a:solidFill>
                <a:latin typeface="Calibri"/>
              </a:rPr>
              <a:t>UA FINANCE</a:t>
            </a:r>
          </a:p>
          <a:p>
            <a:r>
              <a:rPr sz="2600" b="1">
                <a:solidFill>
                  <a:srgbClr val="FFFFFF"/>
                </a:solidFill>
                <a:latin typeface="Calibri"/>
              </a:rPr>
              <a:t>Main deck = landscape apply.
Appendix = earn/process/burn sequence board.</a:t>
            </a:r>
          </a:p>
          <a:p>
            <a:r>
              <a:rPr sz="1600" b="0">
                <a:solidFill>
                  <a:srgbClr val="94A3B8"/>
                </a:solidFill>
                <a:latin typeface="Calibri"/>
              </a:rPr>
              <a:t>Ask: SDK · sandbox · IT workshop · event matrix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LedgeRX × UA Finance — Landscape Apply + Event Mapping</dc:title>
  <dc:subject>UAF Reward CC+Loan</dc:subject>
  <dc:creator>LedgeRX</dc:creator>
  <cp:lastModifiedBy>LedgeRX</cp:lastModifiedBy>
  <cp:revision>1</cp:revision>
  <dcterms:created xsi:type="dcterms:W3CDTF">2026-08-19T00:50:33Z</dcterms:created>
  <dcterms:modified xsi:type="dcterms:W3CDTF">2026-08-19T00:50:33Z</dcterms:modified>
</cp:coreProperties>
</file>