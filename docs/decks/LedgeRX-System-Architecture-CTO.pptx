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658368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LedgeRX  ·  System Architecture</a:t>
            </a:r>
          </a:p>
        </p:txBody>
      </p:sp>
      <p:pic>
        <p:nvPicPr>
          <p:cNvPr id="5" name="Picture 4" descr="u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28016"/>
            <a:ext cx="329184" cy="329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56448" y="164592"/>
            <a:ext cx="50292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2DD4BF"/>
                </a:solidFill>
                <a:latin typeface="Calibri"/>
              </a:rPr>
              <a:t>UAF</a:t>
            </a:r>
          </a:p>
        </p:txBody>
      </p:sp>
      <p:pic>
        <p:nvPicPr>
          <p:cNvPr id="7" name="Picture 6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28016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16568" y="164592"/>
            <a:ext cx="45720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alibri"/>
              </a:rPr>
              <a:t>sim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95560" y="128016"/>
            <a:ext cx="1600200" cy="329184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95560" y="164592"/>
            <a:ext cx="160020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1 /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75488"/>
            <a:ext cx="914400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Upstream  →  SDK  →  Product engine  →  Landing    ·    Add-ons extend the 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804672"/>
            <a:ext cx="1761082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5488" y="914400"/>
            <a:ext cx="237744" cy="23774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932688"/>
            <a:ext cx="237744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932688"/>
            <a:ext cx="1249018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Upstream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225296"/>
            <a:ext cx="1541626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Client systems of record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1517904"/>
            <a:ext cx="1541626" cy="365760"/>
          </a:xfrm>
          <a:prstGeom prst="roundRect">
            <a:avLst>
              <a:gd name="adj" fmla="val 12000"/>
            </a:avLst>
          </a:prstGeom>
          <a:solidFill>
            <a:srgbClr val="0F2D4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63624"/>
            <a:ext cx="25603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59536" y="1581912"/>
            <a:ext cx="1188720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UAF channels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039112"/>
            <a:ext cx="1541626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2130552"/>
            <a:ext cx="45720" cy="685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2130552"/>
            <a:ext cx="1340458" cy="72237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Credit Card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Spend · auth · MCC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2999232"/>
            <a:ext cx="1541626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3090672"/>
            <a:ext cx="45720" cy="685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90672"/>
            <a:ext cx="1340458" cy="72237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Loan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Drawdown · DD · load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3959352"/>
            <a:ext cx="1541626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5488" y="4050792"/>
            <a:ext cx="45720" cy="685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4050792"/>
            <a:ext cx="1340458" cy="72237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App / CRM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Yes UA · sim apps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5102352"/>
            <a:ext cx="1541626" cy="5029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No ledger logic here.
Business events only.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82874" y="804672"/>
            <a:ext cx="1761082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492602" y="914400"/>
            <a:ext cx="237744" cy="23774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92602" y="932688"/>
            <a:ext cx="237744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5210" y="932688"/>
            <a:ext cx="1249018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Integration</a:t>
            </a:r>
          </a:p>
        </p:txBody>
      </p:sp>
      <p:pic>
        <p:nvPicPr>
          <p:cNvPr id="34" name="Picture 33" descr="sd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0890" y="1243584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858362" y="1261872"/>
            <a:ext cx="1121002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LedgeRX SDK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0890" y="1609344"/>
            <a:ext cx="1505050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One client for every upstream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492602" y="1993392"/>
            <a:ext cx="1541626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92602" y="2084832"/>
            <a:ext cx="45720" cy="6858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r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2330" y="2281428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968090" y="2084832"/>
            <a:ext cx="992986" cy="72237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useCases · catalog · dry-run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92602" y="2953512"/>
            <a:ext cx="1541626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92602" y="3044952"/>
            <a:ext cx="45720" cy="6858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kafk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2330" y="3241548"/>
            <a:ext cx="292608" cy="29260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2968090" y="3044952"/>
            <a:ext cx="992986" cy="72237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Kafka / MQ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Async event stream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92602" y="3913632"/>
            <a:ext cx="1541626" cy="86868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92602" y="4005072"/>
            <a:ext cx="45720" cy="6858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f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2330" y="4201668"/>
            <a:ext cx="292608" cy="29260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968090" y="4005072"/>
            <a:ext cx="992986" cy="72237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File / batch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Bulk ingest jobs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92602" y="5056632"/>
            <a:ext cx="1541626" cy="6400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Idempotent · ownerId + code
No hand-built JSON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2163418" y="2679191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ight Arrow 50"/>
          <p:cNvSpPr/>
          <p:nvPr/>
        </p:nvSpPr>
        <p:spPr>
          <a:xfrm>
            <a:off x="4180532" y="2679191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ight Arrow 51"/>
          <p:cNvSpPr/>
          <p:nvPr/>
        </p:nvSpPr>
        <p:spPr>
          <a:xfrm>
            <a:off x="2163418" y="3959352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ight Arrow 52"/>
          <p:cNvSpPr/>
          <p:nvPr/>
        </p:nvSpPr>
        <p:spPr>
          <a:xfrm>
            <a:off x="4180532" y="3959352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399988" y="804672"/>
            <a:ext cx="3913517" cy="5074920"/>
          </a:xfrm>
          <a:prstGeom prst="roundRect">
            <a:avLst>
              <a:gd name="adj" fmla="val 5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528004" y="896112"/>
            <a:ext cx="3657485" cy="365760"/>
          </a:xfrm>
          <a:prstGeom prst="roundRect">
            <a:avLst>
              <a:gd name="adj" fmla="val 14000"/>
            </a:avLst>
          </a:prstGeom>
          <a:solidFill>
            <a:srgbClr val="0C3532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01156" y="950976"/>
            <a:ext cx="3511181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2DD4BF"/>
                </a:solidFill>
                <a:latin typeface="Calibri"/>
              </a:rPr>
              <a:t>3   LedgeRX Product Engine   =   Reward System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4580" y="1316736"/>
            <a:ext cx="3584333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Purchasable loyalty + multi-currency ledger  ·  modular services  ·  in-cluster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46292" y="16733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46292" y="1764792"/>
            <a:ext cx="45720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74308" y="1764792"/>
            <a:ext cx="1554422" cy="6766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Customer Onboarding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Wallet · owner · currencies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11610" y="16733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11610" y="1764792"/>
            <a:ext cx="45720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39626" y="1764792"/>
            <a:ext cx="1554422" cy="6766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Referrer Management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Referral / affiliate rules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6292" y="25877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46292" y="2679192"/>
            <a:ext cx="45720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4308" y="2679192"/>
            <a:ext cx="1554422" cy="6766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Posting Engine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Double-entry · settle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11610" y="25877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11610" y="2679192"/>
            <a:ext cx="45720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39626" y="2679192"/>
            <a:ext cx="1554422" cy="6766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Ledger Books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 · multi-currency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46292" y="35021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46292" y="3593592"/>
            <a:ext cx="45720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4308" y="3593592"/>
            <a:ext cx="1554422" cy="6766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Account Rules (COA)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Chart of accounts · profiles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11610" y="35021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1610" y="3593592"/>
            <a:ext cx="45720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39626" y="3593592"/>
            <a:ext cx="1554422" cy="6766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Points Calculation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Rates · fixed rewards · tiers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46292" y="4507992"/>
            <a:ext cx="3620909" cy="438912"/>
          </a:xfrm>
          <a:prstGeom prst="roundRect">
            <a:avLst>
              <a:gd name="adj" fmla="val 12000"/>
            </a:avLst>
          </a:prstGeom>
          <a:solidFill>
            <a:srgbClr val="063D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619444" y="4590287"/>
            <a:ext cx="3511181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Runtime:  Event → Rules &amp; calculation → Posting → Ledger books → Outbound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46292" y="5056632"/>
            <a:ext cx="3620909" cy="5486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UA “Reward System”: points ledger · redemption rules · reward outcomes
Ops configures once  ·  Upstream calls use-case codes via SDK only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8350081" y="2679191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ight Arrow 79"/>
          <p:cNvSpPr/>
          <p:nvPr/>
        </p:nvSpPr>
        <p:spPr>
          <a:xfrm>
            <a:off x="8350081" y="3959352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569537" y="804672"/>
            <a:ext cx="1434956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642689" y="914400"/>
            <a:ext cx="237744" cy="237744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42689" y="932688"/>
            <a:ext cx="237744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35297" y="932688"/>
            <a:ext cx="1014332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CD34D"/>
                </a:solidFill>
                <a:latin typeface="Calibri"/>
              </a:rPr>
              <a:t>Add-ons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60977" y="1243584"/>
            <a:ext cx="1270364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Extend core
without forking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660977" y="1856232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660977" y="1947672"/>
            <a:ext cx="45720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88993" y="1947672"/>
            <a:ext cx="1050908" cy="76809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Wallet Tiering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Segments · benefits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660977" y="2907792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60977" y="2999232"/>
            <a:ext cx="45720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88993" y="2999232"/>
            <a:ext cx="1050908" cy="76809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Campaign packs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660977" y="3959352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60977" y="4050792"/>
            <a:ext cx="45720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788993" y="4050792"/>
            <a:ext cx="1050908" cy="76809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Future modules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 …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10041069" y="2679191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ight Arrow 95"/>
          <p:cNvSpPr/>
          <p:nvPr/>
        </p:nvSpPr>
        <p:spPr>
          <a:xfrm>
            <a:off x="10041069" y="3959352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0260525" y="804672"/>
            <a:ext cx="1565407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333677" y="914400"/>
            <a:ext cx="237744" cy="237744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333677" y="932688"/>
            <a:ext cx="237744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626285" y="932688"/>
            <a:ext cx="1144783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C4B5FD"/>
                </a:solidFill>
                <a:latin typeface="Calibri"/>
              </a:rPr>
              <a:t>Landing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51965" y="1225296"/>
            <a:ext cx="1400815" cy="457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alibri"/>
              </a:rPr>
              <a:t>One UAF layer
(see slide 2)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0351965" y="1856232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351965" y="1947672"/>
            <a:ext cx="45720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479981" y="1947672"/>
            <a:ext cx="1181359" cy="63093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Unified hub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Only interface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351965" y="2724912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351965" y="2816352"/>
            <a:ext cx="45720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479981" y="2816352"/>
            <a:ext cx="1181359" cy="63093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CBP / Gift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0351965" y="3593592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351965" y="3685032"/>
            <a:ext cx="45720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479981" y="3685032"/>
            <a:ext cx="1181359" cy="63093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Notify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0351965" y="4462271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351965" y="4553711"/>
            <a:ext cx="45720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479981" y="4553711"/>
            <a:ext cx="1181359" cy="63093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XAPI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65760" y="6080760"/>
            <a:ext cx="11460175" cy="50292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02920" y="6236208"/>
            <a:ext cx="128016" cy="12801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740664" y="6236208"/>
            <a:ext cx="128016" cy="12801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78408" y="6236208"/>
            <a:ext cx="128016" cy="12801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216152" y="6236208"/>
            <a:ext cx="128016" cy="128016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453896" y="6236208"/>
            <a:ext cx="128016" cy="12801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sd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6181344"/>
            <a:ext cx="237744" cy="237744"/>
          </a:xfrm>
          <a:prstGeom prst="rect">
            <a:avLst/>
          </a:prstGeom>
        </p:spPr>
      </p:pic>
      <p:pic>
        <p:nvPicPr>
          <p:cNvPr id="121" name="Picture 120" descr="r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1408" y="6181344"/>
            <a:ext cx="237744" cy="237744"/>
          </a:xfrm>
          <a:prstGeom prst="rect">
            <a:avLst/>
          </a:prstGeom>
        </p:spPr>
      </p:pic>
      <p:pic>
        <p:nvPicPr>
          <p:cNvPr id="122" name="Picture 121" descr="kafk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4016" y="6181344"/>
            <a:ext cx="237744" cy="237744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788920" y="6199632"/>
            <a:ext cx="731520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SDK · REST · Kafka     ·     one Landing interface     ·     UAF fan-out behind the hub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332720" y="6199632"/>
            <a:ext cx="137160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731520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Calibri"/>
              </a:rPr>
              <a:t>Landing  ·  One unified interface to LedgeRX</a:t>
            </a:r>
          </a:p>
        </p:txBody>
      </p:sp>
      <p:pic>
        <p:nvPicPr>
          <p:cNvPr id="5" name="Picture 4" descr="u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46304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58784" y="164592"/>
            <a:ext cx="45720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2DD4BF"/>
                </a:solidFill>
                <a:latin typeface="Calibri"/>
              </a:rPr>
              <a:t>UAF</a:t>
            </a:r>
          </a:p>
        </p:txBody>
      </p:sp>
      <p:pic>
        <p:nvPicPr>
          <p:cNvPr id="7" name="Picture 6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4630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6608" y="164592"/>
            <a:ext cx="4114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alibri"/>
              </a:rPr>
              <a:t>sim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128016"/>
            <a:ext cx="1737360" cy="329184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0" y="164592"/>
            <a:ext cx="173736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2 /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75488"/>
            <a:ext cx="11430000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LedgeRX talks to a single UAF layer only  ·  that layer applies UAF logic  ·  then fans out internally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804672"/>
            <a:ext cx="11457432" cy="868680"/>
          </a:xfrm>
          <a:prstGeom prst="roundRect">
            <a:avLst>
              <a:gd name="adj" fmla="val 6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932688"/>
            <a:ext cx="1691640" cy="256032"/>
          </a:xfrm>
          <a:prstGeom prst="roundRect">
            <a:avLst>
              <a:gd name="adj" fmla="val 800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941832"/>
            <a:ext cx="1691640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OUR 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914400"/>
            <a:ext cx="896112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Calibri"/>
              </a:rPr>
              <a:t>LedgeRX   =   UA “Reward System”</a:t>
            </a:r>
          </a:p>
        </p:txBody>
      </p:sp>
      <p:pic>
        <p:nvPicPr>
          <p:cNvPr id="16" name="Picture 15" descr="kaf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126187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97480" y="1261872"/>
            <a:ext cx="868680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Emits:  balance.updated  ·  reward redemption request  ·  ledger outcomes   (Kafka / HTTP callbacks)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97880" y="1783080"/>
            <a:ext cx="164592" cy="164592"/>
          </a:xfrm>
          <a:prstGeom prst="down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1783080"/>
            <a:ext cx="164592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2DD4BF"/>
                </a:solidFill>
                <a:latin typeface="Calibri"/>
              </a:rPr>
              <a:t>sole interface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029968"/>
            <a:ext cx="11457432" cy="1353312"/>
          </a:xfrm>
          <a:prstGeom prst="roundRect">
            <a:avLst>
              <a:gd name="adj" fmla="val 6000"/>
            </a:avLst>
          </a:prstGeom>
          <a:solidFill>
            <a:srgbClr val="121A3A"/>
          </a:solidFill>
          <a:ln w="285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2139696"/>
            <a:ext cx="2468880" cy="256032"/>
          </a:xfrm>
          <a:prstGeom prst="roundRect">
            <a:avLst>
              <a:gd name="adj" fmla="val 8000"/>
            </a:avLst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148840"/>
            <a:ext cx="2468880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Calibri"/>
              </a:rPr>
              <a:t>ONLY INTERFACE  ·  UAF-owned</a:t>
            </a:r>
          </a:p>
        </p:txBody>
      </p:sp>
      <p:pic>
        <p:nvPicPr>
          <p:cNvPr id="23" name="Picture 22" descr="u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2139696"/>
            <a:ext cx="256032" cy="25603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456432" y="2139696"/>
            <a:ext cx="7955279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Unified Landing Layer  ·  collect results + UAF business logic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532888"/>
            <a:ext cx="3611880" cy="6858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kaf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697480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33272" y="2642616"/>
            <a:ext cx="29260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1  ·  Collect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2916936"/>
            <a:ext cx="29260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Subscribe LedgeRX events / APIs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2532888"/>
            <a:ext cx="3611880" cy="6858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d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697480"/>
            <a:ext cx="34747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809744" y="2642616"/>
            <a:ext cx="29260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2  ·  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9744" y="2916936"/>
            <a:ext cx="29260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UAF policies · eligibility · routing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5864" y="2532888"/>
            <a:ext cx="3611880" cy="6858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5592" y="2697480"/>
            <a:ext cx="347472" cy="34747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586216" y="2642616"/>
            <a:ext cx="29260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3  ·  Dispatch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86216" y="2916936"/>
            <a:ext cx="29260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Call CBP · Gift · Notify · CRM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645920" y="3493008"/>
            <a:ext cx="137160" cy="137160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wn Arrow 37"/>
          <p:cNvSpPr/>
          <p:nvPr/>
        </p:nvSpPr>
        <p:spPr>
          <a:xfrm>
            <a:off x="4297680" y="3493008"/>
            <a:ext cx="137160" cy="137160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wn Arrow 38"/>
          <p:cNvSpPr/>
          <p:nvPr/>
        </p:nvSpPr>
        <p:spPr>
          <a:xfrm>
            <a:off x="6949440" y="3493008"/>
            <a:ext cx="137160" cy="137160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9601200" y="3493008"/>
            <a:ext cx="137160" cy="137160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675887"/>
            <a:ext cx="1143000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 UAF systems  —  LedgeRX never integrates to these directly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3950208"/>
            <a:ext cx="2740914" cy="1234440"/>
          </a:xfrm>
          <a:prstGeom prst="roundRect">
            <a:avLst>
              <a:gd name="adj" fmla="val 10000"/>
            </a:avLst>
          </a:prstGeom>
          <a:solidFill>
            <a:srgbClr val="0A2F24"/>
          </a:solidFill>
          <a:ln w="22225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5488" y="4041648"/>
            <a:ext cx="1325880" cy="219456"/>
          </a:xfrm>
          <a:prstGeom prst="roundRect">
            <a:avLst>
              <a:gd name="adj" fmla="val 8000"/>
            </a:avLst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4050792"/>
            <a:ext cx="132588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ONE DOWNSTREAM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" y="4334256"/>
            <a:ext cx="2484882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E-coupon / CBP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" y="4626864"/>
            <a:ext cx="2484882" cy="457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Central coupon platform
inventory · issue / redeem · track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3776" y="4892040"/>
            <a:ext cx="2484882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6EE7B7"/>
                </a:solidFill>
                <a:latin typeface="Calibri"/>
              </a:rPr>
              <a:t>UAF-owned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71266" y="3950208"/>
            <a:ext cx="2740914" cy="123444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87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99282" y="4078224"/>
            <a:ext cx="2484882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Gift system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99282" y="4370832"/>
            <a:ext cx="2484882" cy="457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Fulfillment
triggered after routing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99282" y="4892040"/>
            <a:ext cx="2484882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C4B5FD"/>
                </a:solidFill>
                <a:latin typeface="Calibri"/>
              </a:rPr>
              <a:t>UAF-owned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76772" y="3950208"/>
            <a:ext cx="2740914" cy="123444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87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4788" y="4078224"/>
            <a:ext cx="2484882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Notification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4788" y="4370832"/>
            <a:ext cx="2484882" cy="457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Push · SMS · inbox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4788" y="4892040"/>
            <a:ext cx="2484882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38BDF8"/>
                </a:solidFill>
                <a:latin typeface="Calibri"/>
              </a:rPr>
              <a:t>UAF-owned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82278" y="3950208"/>
            <a:ext cx="2740914" cy="123444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875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u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0294" y="4078224"/>
            <a:ext cx="237744" cy="237744"/>
          </a:xfrm>
          <a:prstGeom prst="rect">
            <a:avLst/>
          </a:prstGeom>
        </p:spPr>
      </p:pic>
      <p:pic>
        <p:nvPicPr>
          <p:cNvPr id="58" name="Picture 57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4614" y="4078224"/>
            <a:ext cx="237744" cy="23774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795510" y="4078224"/>
            <a:ext cx="1872234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Calibri"/>
              </a:rPr>
              <a:t>XAPI / CRM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10294" y="4425696"/>
            <a:ext cx="2484882" cy="4572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Balances · apps
(Yes UA · sim)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0294" y="4892040"/>
            <a:ext cx="2484882" cy="219456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FB923C"/>
                </a:solidFill>
                <a:latin typeface="Calibri"/>
              </a:rPr>
              <a:t>UAF-owned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65760" y="5321808"/>
            <a:ext cx="2740914" cy="365760"/>
          </a:xfrm>
          <a:prstGeom prst="roundRect">
            <a:avLst>
              <a:gd name="adj" fmla="val 12000"/>
            </a:avLst>
          </a:prstGeom>
          <a:solidFill>
            <a:srgbClr val="2A1424"/>
          </a:solidFill>
          <a:ln w="1270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5488" y="5394960"/>
            <a:ext cx="2521458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F9A8D4"/>
                </a:solidFill>
                <a:latin typeface="Calibri"/>
              </a:rPr>
              <a:t>↓  COD · other partners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71266" y="5321808"/>
            <a:ext cx="8551926" cy="365760"/>
          </a:xfrm>
          <a:prstGeom prst="roundRect">
            <a:avLst>
              <a:gd name="adj" fmla="val 12000"/>
            </a:avLst>
          </a:prstGeom>
          <a:solidFill>
            <a:srgbClr val="102A4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08426" y="5394960"/>
            <a:ext cx="8412480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Pitch: Buy LedgeRX. Integrate once to the Landing hub. CBP / Gift / Notify stay behind your layer.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5760" y="5852160"/>
            <a:ext cx="11457432" cy="64008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sd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5980176"/>
            <a:ext cx="274320" cy="274320"/>
          </a:xfrm>
          <a:prstGeom prst="rect">
            <a:avLst/>
          </a:prstGeom>
        </p:spPr>
      </p:pic>
      <p:pic>
        <p:nvPicPr>
          <p:cNvPr id="68" name="Picture 67" descr="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980176"/>
            <a:ext cx="274320" cy="274320"/>
          </a:xfrm>
          <a:prstGeom prst="rect">
            <a:avLst/>
          </a:prstGeom>
        </p:spPr>
      </p:pic>
      <p:pic>
        <p:nvPicPr>
          <p:cNvPr id="69" name="Picture 68" descr="kaf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5980176"/>
            <a:ext cx="274320" cy="274320"/>
          </a:xfrm>
          <a:prstGeom prst="rect">
            <a:avLst/>
          </a:prstGeom>
        </p:spPr>
      </p:pic>
      <p:pic>
        <p:nvPicPr>
          <p:cNvPr id="70" name="Picture 69" descr="u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5980176"/>
            <a:ext cx="274320" cy="274320"/>
          </a:xfrm>
          <a:prstGeom prst="rect">
            <a:avLst/>
          </a:prstGeom>
        </p:spPr>
      </p:pic>
      <p:pic>
        <p:nvPicPr>
          <p:cNvPr id="71" name="Picture 70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5980176"/>
            <a:ext cx="274320" cy="2743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2468880" y="5961888"/>
            <a:ext cx="9144000" cy="4114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SDK · REST · Kafka     ·     LedgeRX ↔ one UAF interface only     ·     hub runs UAF logic then fan-out
Yes UA · sim sit behind XAPI / CRM  —  not direct LedgeRX connectors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