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Calibri"/>
              </a:rPr>
              <a:t>LedgeRX  ·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One product engine  ·  Upstream systems plug in via SDK  ·  Clear modules  ·  Results land back to client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4B8A6"/>
                </a:solidFill>
                <a:latin typeface="Calibri"/>
              </a:rPr>
              <a:t>CTO  ·  1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1  Upstream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2240280" cy="1417320"/>
          </a:xfrm>
          <a:prstGeom prst="roundRect">
            <a:avLst>
              <a:gd name="adj" fmla="val 12000"/>
            </a:avLst>
          </a:prstGeom>
          <a:solidFill>
            <a:srgbClr val="0C2340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Client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508760"/>
            <a:ext cx="1965960" cy="411480"/>
          </a:xfrm>
          <a:prstGeom prst="roundRect">
            <a:avLst>
              <a:gd name="adj" fmla="val 12000"/>
            </a:avLst>
          </a:prstGeom>
          <a:solidFill>
            <a:srgbClr val="0E2A4A"/>
          </a:solidFill>
          <a:ln w="1714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60020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Credit Card  +  Loan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892808"/>
            <a:ext cx="1783080" cy="-41806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Core business channels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011680"/>
            <a:ext cx="1965960" cy="365760"/>
          </a:xfrm>
          <a:prstGeom prst="roundRect">
            <a:avLst>
              <a:gd name="adj" fmla="val 12000"/>
            </a:avLst>
          </a:prstGeom>
          <a:solidFill>
            <a:srgbClr val="0E2A4A"/>
          </a:solidFill>
          <a:ln w="17145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210312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Calibri"/>
              </a:rPr>
              <a:t>App / CRM / Campaign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697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2 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971800"/>
            <a:ext cx="2240280" cy="2148840"/>
          </a:xfrm>
          <a:prstGeom prst="roundRect">
            <a:avLst>
              <a:gd name="adj" fmla="val 12000"/>
            </a:avLst>
          </a:prstGeom>
          <a:solidFill>
            <a:srgbClr val="0C2340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1089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LedgeRX 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4290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How upstreams connect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840480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0E2A4A"/>
          </a:solidFill>
          <a:ln w="1714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393192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REST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251960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0E2A4A"/>
          </a:solidFill>
          <a:ln w="1714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434340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Message queue (Kafka)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663440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0E2A4A"/>
          </a:solidFill>
          <a:ln w="1714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475488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File / batch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06040" y="3657600"/>
            <a:ext cx="292608" cy="219456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1363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B923C"/>
                </a:solidFill>
                <a:latin typeface="Calibri"/>
              </a:rPr>
              <a:t>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71800" y="868680"/>
            <a:ext cx="5806440" cy="4572000"/>
          </a:xfrm>
          <a:prstGeom prst="roundRect">
            <a:avLst>
              <a:gd name="adj" fmla="val 12000"/>
            </a:avLst>
          </a:prstGeom>
          <a:solidFill>
            <a:srgbClr val="0A2E28"/>
          </a:solidFill>
          <a:ln w="285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17720" y="978408"/>
            <a:ext cx="2468880" cy="347472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101498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220"/>
                </a:solidFill>
                <a:latin typeface="Calibri"/>
              </a:rPr>
              <a:t>3  LedgeRX 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137160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alibri"/>
              </a:rPr>
              <a:t>Powerful loyalty + ledger engine  ·  modular services  ·  one product to purchase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1783080"/>
            <a:ext cx="2606040" cy="777240"/>
          </a:xfrm>
          <a:prstGeom prst="roundRect">
            <a:avLst>
              <a:gd name="adj" fmla="val 12000"/>
            </a:avLst>
          </a:prstGeom>
          <a:solidFill>
            <a:srgbClr val="0E2A4A"/>
          </a:solidFill>
          <a:ln w="1714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55848" y="187452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Calibri"/>
              </a:rPr>
              <a:t>Customer Onboarding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5848" y="2167128"/>
            <a:ext cx="2423160" cy="292644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Open wallet · owner · currencies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1783080"/>
            <a:ext cx="2606040" cy="777240"/>
          </a:xfrm>
          <a:prstGeom prst="roundRect">
            <a:avLst>
              <a:gd name="adj" fmla="val 12000"/>
            </a:avLst>
          </a:prstGeom>
          <a:solidFill>
            <a:srgbClr val="0E2A4A"/>
          </a:solidFill>
          <a:ln w="1714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187452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Calibri"/>
              </a:rPr>
              <a:t>Referrer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2167128"/>
            <a:ext cx="2423160" cy="292644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Referral / affiliate rules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46120" y="2697480"/>
            <a:ext cx="2606040" cy="777240"/>
          </a:xfrm>
          <a:prstGeom prst="roundRect">
            <a:avLst>
              <a:gd name="adj" fmla="val 12000"/>
            </a:avLst>
          </a:prstGeom>
          <a:solidFill>
            <a:srgbClr val="0E2A4A"/>
          </a:solidFill>
          <a:ln w="1714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55848" y="278892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Calibri"/>
              </a:rPr>
              <a:t>Posting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55848" y="3081528"/>
            <a:ext cx="2423160" cy="292644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Double-entry · settle movements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2697480"/>
            <a:ext cx="2606040" cy="777240"/>
          </a:xfrm>
          <a:prstGeom prst="roundRect">
            <a:avLst>
              <a:gd name="adj" fmla="val 12000"/>
            </a:avLst>
          </a:prstGeom>
          <a:solidFill>
            <a:srgbClr val="0E2A4A"/>
          </a:solidFill>
          <a:ln w="1714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4768" y="278892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Calibri"/>
              </a:rPr>
              <a:t>Ledger Books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4768" y="3081528"/>
            <a:ext cx="2423160" cy="292644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Balances · multi-currency accounts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46120" y="3611880"/>
            <a:ext cx="2606040" cy="777240"/>
          </a:xfrm>
          <a:prstGeom prst="roundRect">
            <a:avLst>
              <a:gd name="adj" fmla="val 12000"/>
            </a:avLst>
          </a:prstGeom>
          <a:solidFill>
            <a:srgbClr val="0E2A4A"/>
          </a:solidFill>
          <a:ln w="1714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55848" y="370332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Calibri"/>
              </a:rPr>
              <a:t>Account Rules (COA)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55848" y="3995928"/>
            <a:ext cx="2423160" cy="292644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Chart of accounts · profiles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35040" y="3611880"/>
            <a:ext cx="2606040" cy="777240"/>
          </a:xfrm>
          <a:prstGeom prst="roundRect">
            <a:avLst>
              <a:gd name="adj" fmla="val 12000"/>
            </a:avLst>
          </a:prstGeom>
          <a:solidFill>
            <a:srgbClr val="0E2A4A"/>
          </a:solidFill>
          <a:ln w="1714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44768" y="370332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Calibri"/>
              </a:rPr>
              <a:t>Points Calculation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4768" y="3995928"/>
            <a:ext cx="2423160" cy="292644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Formulas · rates · fixed rewards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46120" y="4663440"/>
            <a:ext cx="5257800" cy="502920"/>
          </a:xfrm>
          <a:prstGeom prst="roundRect">
            <a:avLst>
              <a:gd name="adj" fmla="val 12000"/>
            </a:avLst>
          </a:prstGeom>
          <a:solidFill>
            <a:srgbClr val="083A36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7560" y="475488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Flow:  Event in  →  Rules &amp; calculation  →  Posting  →  Ledger books  →  Event out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8229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5  Add-on modules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15400" y="1097280"/>
            <a:ext cx="2971800" cy="1691640"/>
          </a:xfrm>
          <a:prstGeom prst="roundRect">
            <a:avLst>
              <a:gd name="adj" fmla="val 12000"/>
            </a:avLst>
          </a:prstGeom>
          <a:solidFill>
            <a:srgbClr val="0C234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560" y="1207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Extends LedgeRX core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98280" y="160020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E2A4A"/>
          </a:solidFill>
          <a:ln w="1714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08008" y="16916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Wallet Tiering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08008" y="1984248"/>
            <a:ext cx="24688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Segments · benefits · TBC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98280" y="214884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E2A4A"/>
          </a:solidFill>
          <a:ln w="1714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08008" y="224028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More add-ons…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08008" y="2532888"/>
            <a:ext cx="24688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TBC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29718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alibri"/>
              </a:rPr>
              <a:t>4  Landing / Downstream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15400" y="3246120"/>
            <a:ext cx="2971800" cy="2194560"/>
          </a:xfrm>
          <a:prstGeom prst="roundRect">
            <a:avLst>
              <a:gd name="adj" fmla="val 12000"/>
            </a:avLst>
          </a:prstGeom>
          <a:solidFill>
            <a:srgbClr val="0C2340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256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Results back to client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98280" y="3703320"/>
            <a:ext cx="2651760" cy="438912"/>
          </a:xfrm>
          <a:prstGeom prst="roundRect">
            <a:avLst>
              <a:gd name="adj" fmla="val 12000"/>
            </a:avLst>
          </a:prstGeom>
          <a:solidFill>
            <a:srgbClr val="0E2A4A"/>
          </a:solidFill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08008" y="37947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E-coupon system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08008" y="4087368"/>
            <a:ext cx="2468880" cy="-1672254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Issue · redeem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98280" y="4206240"/>
            <a:ext cx="2651760" cy="438912"/>
          </a:xfrm>
          <a:prstGeom prst="roundRect">
            <a:avLst>
              <a:gd name="adj" fmla="val 12000"/>
            </a:avLst>
          </a:prstGeom>
          <a:solidFill>
            <a:srgbClr val="0E2A4A"/>
          </a:solidFill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08008" y="429768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Gift system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08008" y="4590288"/>
            <a:ext cx="2468880" cy="-1672254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Fulfillment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98280" y="4709160"/>
            <a:ext cx="2651760" cy="438912"/>
          </a:xfrm>
          <a:prstGeom prst="roundRect">
            <a:avLst>
              <a:gd name="adj" fmla="val 12000"/>
            </a:avLst>
          </a:prstGeom>
          <a:solidFill>
            <a:srgbClr val="0E2A4A"/>
          </a:solidFill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08008" y="48006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Notifications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08008" y="5093208"/>
            <a:ext cx="2468880" cy="-1672254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Push · SMS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8732520" y="4114800"/>
            <a:ext cx="256032" cy="201168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5349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Configuration (ops)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74320" y="5577840"/>
            <a:ext cx="8412480" cy="502920"/>
          </a:xfrm>
          <a:prstGeom prst="roundRect">
            <a:avLst>
              <a:gd name="adj" fmla="val 12000"/>
            </a:avLst>
          </a:prstGeom>
          <a:solidFill>
            <a:srgbClr val="0C2340"/>
          </a:solidFill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56692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Configuration rules  ·  Use-case catalog  ·  Account (COA) profiles  ·  Calculation formulas  ·  Door / Brain policies  —  Admin, not upstream code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823960" y="5577840"/>
            <a:ext cx="3063240" cy="502920"/>
          </a:xfrm>
          <a:prstGeom prst="roundRect">
            <a:avLst>
              <a:gd name="adj" fmla="val 12000"/>
            </a:avLst>
          </a:prstGeom>
          <a:solidFill>
            <a:srgbClr val="0C2340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15400" y="56692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D4BF"/>
                </a:solidFill>
                <a:latin typeface="Calibri"/>
              </a:rPr>
              <a:t>1 product  ·  multi-channel  ·  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