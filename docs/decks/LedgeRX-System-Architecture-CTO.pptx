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8FAFC"/>
                </a:solidFill>
                <a:latin typeface="Calibri"/>
              </a:rPr>
              <a:t>LedgeRX  · 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5720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Upstream  →  SDK  →  Product engine  →  Landing    ·    Add-ons extend the 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64592"/>
            <a:ext cx="1554480" cy="347472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21945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1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5488" y="914400"/>
            <a:ext cx="237744" cy="237744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Calibri"/>
              </a:rPr>
              <a:t>Upstream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225296"/>
            <a:ext cx="15416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Client systems of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" y="162763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5488" y="171907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173736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Credit 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Spend · auth · MCC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267919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5488" y="277063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278892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Loan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Drawdown · DD · load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3730752"/>
            <a:ext cx="1541626" cy="93268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5488" y="3822192"/>
            <a:ext cx="50292" cy="7498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40480"/>
            <a:ext cx="1303882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FAFC"/>
                </a:solidFill>
                <a:latin typeface="Calibri"/>
              </a:rPr>
              <a:t>App / CRM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Engage · campaigns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4965192"/>
            <a:ext cx="1541626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No ledger logic here.
Business events only.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82874" y="804672"/>
            <a:ext cx="1761082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2602" y="914400"/>
            <a:ext cx="237744" cy="237744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92602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5210" y="932688"/>
            <a:ext cx="12490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B923C"/>
                </a:solidFill>
                <a:latin typeface="Calibri"/>
              </a:rPr>
              <a:t>Integration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92602" y="1225296"/>
            <a:ext cx="154162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LedgeRX SDK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92602" y="1481328"/>
            <a:ext cx="1541626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One client for every upstream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492602" y="19019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492602" y="19933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38906" y="20116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REST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useCases · catalog · dry-run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92602" y="28163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492602" y="29077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38906" y="29260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Message queue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Kafka async stream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492602" y="3730752"/>
            <a:ext cx="1541626" cy="804672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92602" y="3822192"/>
            <a:ext cx="50292" cy="621792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38906" y="3840480"/>
            <a:ext cx="130388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File / batch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Bulk ingest jobs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92602" y="4828032"/>
            <a:ext cx="154162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Idempotent calls
ownerId + use-case code
No hand-built JSON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2163418" y="2679191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4180532" y="2679191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2163418" y="3959352"/>
            <a:ext cx="182880" cy="137160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4180532" y="3959352"/>
            <a:ext cx="182880" cy="137160"/>
          </a:xfrm>
          <a:prstGeom prst="rightArrow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399988" y="804672"/>
            <a:ext cx="3913517" cy="5074920"/>
          </a:xfrm>
          <a:prstGeom prst="roundRect">
            <a:avLst>
              <a:gd name="adj" fmla="val 5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528004" y="896112"/>
            <a:ext cx="3657485" cy="365760"/>
          </a:xfrm>
          <a:prstGeom prst="roundRect">
            <a:avLst>
              <a:gd name="adj" fmla="val 14000"/>
            </a:avLst>
          </a:prstGeom>
          <a:solidFill>
            <a:srgbClr val="0C3532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01156" y="950976"/>
            <a:ext cx="351118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D4BF"/>
                </a:solidFill>
                <a:latin typeface="Calibri"/>
              </a:rPr>
              <a:t>3   LedgeRX Product Engine   =   Reward System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4580" y="1316736"/>
            <a:ext cx="358433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Calibri"/>
              </a:rPr>
              <a:t>Purchasable loyalty + multi-currency ledger  ·  modular services  ·  in-cluster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6292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46292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692596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Customer Onboarding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Wallet · owner · currencies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11610" y="16733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11610" y="17647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57914" y="17830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Referrer Management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Referral / affiliate rules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46292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546292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92596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Posting Engine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Double-entry · settle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11610" y="25877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11610" y="26791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7914" y="26974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Ledger Books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Balances · multi-currency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46292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546292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692596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Account Rules (COA)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Chart of accounts · profiles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11610" y="3502152"/>
            <a:ext cx="1755590" cy="82296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411610" y="3593592"/>
            <a:ext cx="50292" cy="640080"/>
          </a:xfrm>
          <a:prstGeom prst="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7914" y="3611880"/>
            <a:ext cx="151784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8FAFC"/>
                </a:solidFill>
                <a:latin typeface="Calibri"/>
              </a:rPr>
              <a:t>Points Calculation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Rates · fixed rewards · tiers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46292" y="4507992"/>
            <a:ext cx="3620909" cy="438912"/>
          </a:xfrm>
          <a:prstGeom prst="roundRect">
            <a:avLst>
              <a:gd name="adj" fmla="val 12000"/>
            </a:avLst>
          </a:prstGeom>
          <a:solidFill>
            <a:srgbClr val="063D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9444" y="4590287"/>
            <a:ext cx="3511181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F8FAFC"/>
                </a:solidFill>
                <a:latin typeface="Calibri"/>
              </a:rPr>
              <a:t>Runtime:  Event → Rules &amp; calculation → Posting → Ledger books → Outbound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46292" y="5056632"/>
            <a:ext cx="362090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UA “Reward System”: points ledger · redemption rules · reward outcomes
Ops configures once  ·  Upstream calls use-case codes via SDK only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350081" y="2679191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ight Arrow 68"/>
          <p:cNvSpPr/>
          <p:nvPr/>
        </p:nvSpPr>
        <p:spPr>
          <a:xfrm>
            <a:off x="8350081" y="3959352"/>
            <a:ext cx="182880" cy="137160"/>
          </a:xfrm>
          <a:prstGeom prst="right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569537" y="804672"/>
            <a:ext cx="1434956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FCD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642689" y="914400"/>
            <a:ext cx="237744" cy="237744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2689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35297" y="932688"/>
            <a:ext cx="10143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CD34D"/>
                </a:solidFill>
                <a:latin typeface="Calibri"/>
              </a:rPr>
              <a:t>Add-ons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660977" y="1243584"/>
            <a:ext cx="1270364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Extend core
without forking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660977" y="185623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8660977" y="194767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807281" y="196596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Wallet Tiering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Segments · benefits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60977" y="290779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660977" y="299923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7281" y="301752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Campaign packs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0977" y="3959352"/>
            <a:ext cx="1252076" cy="91440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60977" y="4050792"/>
            <a:ext cx="50292" cy="731520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807281" y="4069080"/>
            <a:ext cx="1014332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Future modules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TBC …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10041069" y="2679191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10041069" y="3959352"/>
            <a:ext cx="182880" cy="137160"/>
          </a:xfrm>
          <a:prstGeom prst="rightArrow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10260525" y="804672"/>
            <a:ext cx="1565407" cy="5074920"/>
          </a:xfrm>
          <a:prstGeom prst="roundRect">
            <a:avLst>
              <a:gd name="adj" fmla="val 5500"/>
            </a:avLst>
          </a:prstGeom>
          <a:solidFill>
            <a:srgbClr val="0C2340"/>
          </a:solidFill>
          <a:ln w="1778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0333677" y="914400"/>
            <a:ext cx="237744" cy="237744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333677" y="932688"/>
            <a:ext cx="237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26285" y="932688"/>
            <a:ext cx="11447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C4B5FD"/>
                </a:solidFill>
                <a:latin typeface="Calibri"/>
              </a:rPr>
              <a:t>Landing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51965" y="1225296"/>
            <a:ext cx="14008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C4B5FD"/>
                </a:solidFill>
                <a:latin typeface="Calibri"/>
              </a:rPr>
              <a:t>One UAF layer
(see slide 2)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351965" y="185623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351965" y="194767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98269" y="196596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Unified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Only interface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351965" y="272491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51965" y="281635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498269" y="283464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CBP / Gift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351965" y="3593592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351965" y="3685032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498269" y="3703320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Notify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351965" y="4462271"/>
            <a:ext cx="1382527" cy="777240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351965" y="4553711"/>
            <a:ext cx="50292" cy="59436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498269" y="4571999"/>
            <a:ext cx="1144783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FAFC"/>
                </a:solidFill>
                <a:latin typeface="Calibri"/>
              </a:rPr>
              <a:t>→ xapi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4A3B8"/>
                </a:solidFill>
                <a:latin typeface="Calibri"/>
              </a:rPr>
              <a:t>…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608076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502920" y="6236208"/>
            <a:ext cx="128016" cy="128016"/>
          </a:xfrm>
          <a:prstGeom prst="ellipse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0664" y="6236208"/>
            <a:ext cx="128016" cy="128016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8408" y="6236208"/>
            <a:ext cx="128016" cy="128016"/>
          </a:xfrm>
          <a:prstGeom prst="ellipse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16152" y="6236208"/>
            <a:ext cx="128016" cy="128016"/>
          </a:xfrm>
          <a:prstGeom prst="ellipse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453896" y="6236208"/>
            <a:ext cx="128016" cy="128016"/>
          </a:xfrm>
          <a:prstGeom prst="ellipse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83080" y="6199632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= product hub     ·     one Landing interface on UAF side     ·     then UAF systems fan-out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0" y="6199632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28016"/>
            <a:ext cx="93268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F8FAFC"/>
                </a:solidFill>
                <a:latin typeface="Calibri"/>
              </a:rPr>
              <a:t>Landing  ·  One unified interface to LedgeRX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93268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LedgeRX talks to a single UAF layer only  ·  that layer applies UAF logic  ·  then fans out internally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41280" y="146304"/>
            <a:ext cx="1554480" cy="329184"/>
          </a:xfrm>
          <a:prstGeom prst="roundRect">
            <a:avLst>
              <a:gd name="adj" fmla="val 15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0" y="1828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DD4BF"/>
                </a:solidFill>
                <a:latin typeface="Calibri"/>
              </a:rPr>
              <a:t>CTO  ·  2 /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777240"/>
            <a:ext cx="11457432" cy="960120"/>
          </a:xfrm>
          <a:prstGeom prst="roundRect">
            <a:avLst>
              <a:gd name="adj" fmla="val 6000"/>
            </a:avLst>
          </a:prstGeom>
          <a:solidFill>
            <a:srgbClr val="0A282A"/>
          </a:solidFill>
          <a:ln w="254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905256"/>
            <a:ext cx="1828800" cy="292608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92354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B1220"/>
                </a:solidFill>
                <a:latin typeface="Calibri"/>
              </a:rPr>
              <a:t>OUR 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886968"/>
            <a:ext cx="8961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2DD4BF"/>
                </a:solidFill>
                <a:latin typeface="Calibri"/>
              </a:rPr>
              <a:t>LedgeRX   =   UA “Reward System”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216152"/>
            <a:ext cx="8961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Emits only:  balance.updated  ·  reward redemption request  ·  other ledger outcomes   (Kafka / webhook)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1828800"/>
            <a:ext cx="182880" cy="201168"/>
          </a:xfrm>
          <a:prstGeom prst="downArrow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82880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2DD4BF"/>
                </a:solidFill>
                <a:latin typeface="Calibri"/>
              </a:rPr>
              <a:t>sole interface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03120"/>
            <a:ext cx="11457432" cy="1325880"/>
          </a:xfrm>
          <a:prstGeom prst="roundRect">
            <a:avLst>
              <a:gd name="adj" fmla="val 6000"/>
            </a:avLst>
          </a:prstGeom>
          <a:solidFill>
            <a:srgbClr val="121A3A"/>
          </a:solidFill>
          <a:ln w="2857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2212848"/>
            <a:ext cx="2606040" cy="274320"/>
          </a:xfrm>
          <a:prstGeom prst="roundRect">
            <a:avLst>
              <a:gd name="adj" fmla="val 8000"/>
            </a:avLst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231136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Calibri"/>
              </a:rPr>
              <a:t>ONLY INTERFACE  ·  UAF-owned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22128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Unified Landing Layer  ·  collect results + UAF business logic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1  ·  Collect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Subscribe LedgeRX events / APIs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6552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2  ·  Decide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6552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UAF policies · eligibility · routing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55864" y="2606040"/>
            <a:ext cx="3611880" cy="658368"/>
          </a:xfrm>
          <a:prstGeom prst="roundRect">
            <a:avLst>
              <a:gd name="adj" fmla="val 10000"/>
            </a:avLst>
          </a:prstGeom>
          <a:solidFill>
            <a:srgbClr val="0F2D4A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267004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818CF8"/>
                </a:solidFill>
                <a:latin typeface="Calibri"/>
              </a:rPr>
              <a:t>3  ·  Dispatch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2944368"/>
            <a:ext cx="3337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Calibri"/>
              </a:rPr>
              <a:t>Call CBP · Gift · Notify · CRM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60020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425196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wn Arrow 29"/>
          <p:cNvSpPr/>
          <p:nvPr/>
        </p:nvSpPr>
        <p:spPr>
          <a:xfrm>
            <a:off x="690372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9555480" y="3547872"/>
            <a:ext cx="146304" cy="164592"/>
          </a:xfrm>
          <a:prstGeom prst="downArrow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767328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Internal UAF systems  —  LedgeRX never integrates to these directly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65760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A2F24"/>
          </a:solidFill>
          <a:ln w="22225">
            <a:solidFill>
              <a:srgbClr val="6EE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75488" y="4133088"/>
            <a:ext cx="1325880" cy="237744"/>
          </a:xfrm>
          <a:prstGeom prst="roundRect">
            <a:avLst>
              <a:gd name="adj" fmla="val 8000"/>
            </a:avLst>
          </a:prstGeom>
          <a:solidFill>
            <a:srgbClr val="6EE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151376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0B1220"/>
                </a:solidFill>
                <a:latin typeface="Calibri"/>
              </a:rPr>
              <a:t>Kenny green box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" y="446227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E-coupon / CBP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6" y="4782312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Kenny green box  ·  inventory · issue/redeem · track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" y="523951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EE7B7"/>
                </a:solidFill>
                <a:latin typeface="Calibri"/>
              </a:rPr>
              <a:t>UAF-owned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27832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C4B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5848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Gift system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55848" y="4507992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Fulfillment  ·  triggered after routing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55848" y="496519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C4B5FD"/>
                </a:solidFill>
                <a:latin typeface="Calibri"/>
              </a:rPr>
              <a:t>UAF-owned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89904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507992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Push · SMS · inbox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96519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38BDF8"/>
                </a:solidFill>
                <a:latin typeface="Calibri"/>
              </a:rPr>
              <a:t>UAF-owned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51976" y="4023360"/>
            <a:ext cx="2697480" cy="1325880"/>
          </a:xfrm>
          <a:prstGeom prst="roundRect">
            <a:avLst>
              <a:gd name="adj" fmla="val 10000"/>
            </a:avLst>
          </a:prstGeom>
          <a:solidFill>
            <a:srgbClr val="0C2340"/>
          </a:solidFill>
          <a:ln w="1524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79992" y="4187952"/>
            <a:ext cx="24414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Calibri"/>
              </a:rPr>
              <a:t>xapi / CRM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79992" y="4507992"/>
            <a:ext cx="24414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Balances · apps (Yes UA · aim)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79992" y="4965192"/>
            <a:ext cx="2441448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FB923C"/>
                </a:solidFill>
                <a:latin typeface="Calibri"/>
              </a:rPr>
              <a:t>UAF-owned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65760" y="5468112"/>
            <a:ext cx="2697480" cy="347472"/>
          </a:xfrm>
          <a:prstGeom prst="roundRect">
            <a:avLst>
              <a:gd name="adj" fmla="val 12000"/>
            </a:avLst>
          </a:prstGeom>
          <a:solidFill>
            <a:srgbClr val="2A1424"/>
          </a:solidFill>
          <a:ln w="12700">
            <a:solidFill>
              <a:srgbClr val="F9A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5532120"/>
            <a:ext cx="247802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F9A8D4"/>
                </a:solidFill>
                <a:latin typeface="Calibri"/>
              </a:rPr>
              <a:t>↓  COD · other partners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27832" y="5468112"/>
            <a:ext cx="8503920" cy="347472"/>
          </a:xfrm>
          <a:prstGeom prst="roundRect">
            <a:avLst>
              <a:gd name="adj" fmla="val 12000"/>
            </a:avLst>
          </a:prstGeom>
          <a:solidFill>
            <a:srgbClr val="102A4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64992" y="553212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Calibri"/>
              </a:rPr>
              <a:t>Pitch: Buy LedgeRX. Integrate once to the Landing hub. CBP / Gift / Notify stay behind your layer.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5989320"/>
            <a:ext cx="11460175" cy="502920"/>
          </a:xfrm>
          <a:prstGeom prst="roundRect">
            <a:avLst>
              <a:gd name="adj" fmla="val 10000"/>
            </a:avLst>
          </a:prstGeom>
          <a:solidFill>
            <a:srgbClr val="102A48"/>
          </a:solidFill>
          <a:ln w="12700"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6108192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Calibri"/>
              </a:rPr>
              <a:t>LedgeRX ↔ one UAF interface only     ·     hub collects outcomes + runs UAF logic     ·     internal fan-out is UAF’s business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