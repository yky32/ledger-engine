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Calibri"/>
              </a:rPr>
              <a:t>LedgeRX  · 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57200"/>
            <a:ext cx="8412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Upstream  →  SDK  →  Product engine  →  Landing    ·    Add-ons extend the 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182880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0" y="2377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DD4BF"/>
                </a:solidFill>
                <a:latin typeface="Calibri"/>
              </a:rPr>
              <a:t>CTO  ·  1 /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822960"/>
            <a:ext cx="1761082" cy="512064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950976"/>
            <a:ext cx="237744" cy="237744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960120"/>
            <a:ext cx="2377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960120"/>
            <a:ext cx="124901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alibri"/>
              </a:rPr>
              <a:t>Upstream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261872"/>
            <a:ext cx="154162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Client systems of record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" y="1691640"/>
            <a:ext cx="1541626" cy="93268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5488" y="1783080"/>
            <a:ext cx="50292" cy="7498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1801368"/>
            <a:ext cx="130388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Credit Card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Spend · auth · MCC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2743200"/>
            <a:ext cx="1541626" cy="93268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5488" y="2834640"/>
            <a:ext cx="50292" cy="7498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2852928"/>
            <a:ext cx="130388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Loan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Drawdown · DD · load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3794760"/>
            <a:ext cx="1541626" cy="93268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5488" y="3886200"/>
            <a:ext cx="50292" cy="7498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3904488"/>
            <a:ext cx="130388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App / CRM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Engage · campaigns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" y="5029200"/>
            <a:ext cx="154162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No ledger logic here.
Business events only.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82874" y="822960"/>
            <a:ext cx="1761082" cy="512064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492602" y="950976"/>
            <a:ext cx="237744" cy="237744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92602" y="960120"/>
            <a:ext cx="2377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5210" y="960120"/>
            <a:ext cx="124901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Integration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92602" y="1261872"/>
            <a:ext cx="154162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LedgeRX SDK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92602" y="1536192"/>
            <a:ext cx="154162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One client for every upstream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492602" y="1965960"/>
            <a:ext cx="1541626" cy="804672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492602" y="2057400"/>
            <a:ext cx="50292" cy="621792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38906" y="2075688"/>
            <a:ext cx="13038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REST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useCases · catalog · dry-run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92602" y="2880360"/>
            <a:ext cx="1541626" cy="804672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492602" y="2971800"/>
            <a:ext cx="50292" cy="621792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38906" y="2990088"/>
            <a:ext cx="13038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Message queue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Kafka async stream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492602" y="3794760"/>
            <a:ext cx="1541626" cy="804672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92602" y="3886200"/>
            <a:ext cx="50292" cy="621792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38906" y="3904488"/>
            <a:ext cx="13038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File / batch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Bulk ingest jobs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92602" y="4892040"/>
            <a:ext cx="154162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Idempotent calls
ownerId + use-case code
No hand-built JSON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2163418" y="2743200"/>
            <a:ext cx="182880" cy="13716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ight Arrow 39"/>
          <p:cNvSpPr/>
          <p:nvPr/>
        </p:nvSpPr>
        <p:spPr>
          <a:xfrm>
            <a:off x="4180532" y="2743200"/>
            <a:ext cx="182880" cy="137160"/>
          </a:xfrm>
          <a:prstGeom prst="rightArrow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2163418" y="4023360"/>
            <a:ext cx="182880" cy="13716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ight Arrow 41"/>
          <p:cNvSpPr/>
          <p:nvPr/>
        </p:nvSpPr>
        <p:spPr>
          <a:xfrm>
            <a:off x="4180532" y="4023360"/>
            <a:ext cx="182880" cy="137160"/>
          </a:xfrm>
          <a:prstGeom prst="rightArrow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399988" y="822960"/>
            <a:ext cx="3913517" cy="5120640"/>
          </a:xfrm>
          <a:prstGeom prst="roundRect">
            <a:avLst>
              <a:gd name="adj" fmla="val 5000"/>
            </a:avLst>
          </a:prstGeom>
          <a:solidFill>
            <a:srgbClr val="0A282A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528004" y="932688"/>
            <a:ext cx="3657485" cy="384048"/>
          </a:xfrm>
          <a:prstGeom prst="roundRect">
            <a:avLst>
              <a:gd name="adj" fmla="val 14000"/>
            </a:avLst>
          </a:prstGeom>
          <a:solidFill>
            <a:srgbClr val="0C3532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01156" y="987552"/>
            <a:ext cx="351118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DD4BF"/>
                </a:solidFill>
                <a:latin typeface="Calibri"/>
              </a:rPr>
              <a:t>3   LedgeRX Product Engine   =   Reward System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64580" y="1371600"/>
            <a:ext cx="35843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Purchasable loyalty + multi-currency ledger  ·  modular services  ·  in-cluster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46292" y="1719072"/>
            <a:ext cx="1755590" cy="84124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46292" y="1810512"/>
            <a:ext cx="50292" cy="658368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92596" y="1828800"/>
            <a:ext cx="151784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Customer Onboarding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Wallet · owner · currencies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11610" y="1719072"/>
            <a:ext cx="1755590" cy="84124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411610" y="1810512"/>
            <a:ext cx="50292" cy="658368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57914" y="1828800"/>
            <a:ext cx="151784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Referrer Management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Referral / affiliate rules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46292" y="2651760"/>
            <a:ext cx="1755590" cy="84124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546292" y="2743200"/>
            <a:ext cx="50292" cy="658368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92596" y="2761488"/>
            <a:ext cx="151784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Posting Engine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Double-entry · settle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411610" y="2651760"/>
            <a:ext cx="1755590" cy="84124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411610" y="2743200"/>
            <a:ext cx="50292" cy="658368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57914" y="2761488"/>
            <a:ext cx="151784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Ledger Books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Balances · multi-currency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546292" y="3584448"/>
            <a:ext cx="1755590" cy="84124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46292" y="3675888"/>
            <a:ext cx="50292" cy="658368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92596" y="3694176"/>
            <a:ext cx="151784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Account Rules (COA)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Chart of accounts · profiles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411610" y="3584448"/>
            <a:ext cx="1755590" cy="84124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411610" y="3675888"/>
            <a:ext cx="50292" cy="658368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57914" y="3694176"/>
            <a:ext cx="151784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Points Calculation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Rates · fixed rewards · tiers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546292" y="4571999"/>
            <a:ext cx="3620909" cy="457200"/>
          </a:xfrm>
          <a:prstGeom prst="roundRect">
            <a:avLst>
              <a:gd name="adj" fmla="val 12000"/>
            </a:avLst>
          </a:prstGeom>
          <a:solidFill>
            <a:srgbClr val="063D38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19444" y="4663440"/>
            <a:ext cx="351118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Runtime:  Event → Rules &amp; calculation → Posting → Ledger books → Outbound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46292" y="5166360"/>
            <a:ext cx="362090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UA “Reward System”: points ledger · redemption rules · reward outcomes
Ops configures once  ·  Upstream calls use-case codes via SDK only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8350081" y="2743200"/>
            <a:ext cx="182880" cy="13716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ight Arrow 68"/>
          <p:cNvSpPr/>
          <p:nvPr/>
        </p:nvSpPr>
        <p:spPr>
          <a:xfrm>
            <a:off x="8350081" y="4023360"/>
            <a:ext cx="182880" cy="13716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8569537" y="822960"/>
            <a:ext cx="1434956" cy="512064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642689" y="950976"/>
            <a:ext cx="237744" cy="237744"/>
          </a:xfrm>
          <a:prstGeom prst="ellipse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642689" y="960120"/>
            <a:ext cx="2377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935297" y="960120"/>
            <a:ext cx="10143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CD34D"/>
                </a:solidFill>
                <a:latin typeface="Calibri"/>
              </a:rPr>
              <a:t>Add-ons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660977" y="1280160"/>
            <a:ext cx="12703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Extend core
without forking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660977" y="1920240"/>
            <a:ext cx="1252076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660977" y="2011680"/>
            <a:ext cx="50292" cy="731520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807281" y="2029968"/>
            <a:ext cx="101433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Wallet Tiering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Segments · benefits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660977" y="2971800"/>
            <a:ext cx="1252076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660977" y="3063240"/>
            <a:ext cx="50292" cy="731520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807281" y="3081528"/>
            <a:ext cx="101433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Campaign packs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TBC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660977" y="4023360"/>
            <a:ext cx="1252076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660977" y="4114800"/>
            <a:ext cx="50292" cy="731520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07281" y="4133088"/>
            <a:ext cx="101433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Future modules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TBC …</a:t>
            </a:r>
          </a:p>
        </p:txBody>
      </p:sp>
      <p:sp>
        <p:nvSpPr>
          <p:cNvPr id="84" name="Right Arrow 83"/>
          <p:cNvSpPr/>
          <p:nvPr/>
        </p:nvSpPr>
        <p:spPr>
          <a:xfrm>
            <a:off x="10041069" y="2743200"/>
            <a:ext cx="182880" cy="137160"/>
          </a:xfrm>
          <a:prstGeom prst="rightArrow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ight Arrow 84"/>
          <p:cNvSpPr/>
          <p:nvPr/>
        </p:nvSpPr>
        <p:spPr>
          <a:xfrm>
            <a:off x="10041069" y="4023360"/>
            <a:ext cx="182880" cy="137160"/>
          </a:xfrm>
          <a:prstGeom prst="rightArrow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10260525" y="822960"/>
            <a:ext cx="1565407" cy="512064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0333677" y="950976"/>
            <a:ext cx="237744" cy="237744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333677" y="960120"/>
            <a:ext cx="2377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26285" y="960120"/>
            <a:ext cx="114478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B5FD"/>
                </a:solidFill>
                <a:latin typeface="Calibri"/>
              </a:rPr>
              <a:t>Landing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351965" y="1261872"/>
            <a:ext cx="1400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4B5FD"/>
                </a:solidFill>
                <a:latin typeface="Calibri"/>
              </a:rPr>
              <a:t>One UAF layer
(see slide 2)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351965" y="1874520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351965" y="1965960"/>
            <a:ext cx="50292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498269" y="1984248"/>
            <a:ext cx="1144783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Unified hub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Only 對口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0351965" y="2743200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351965" y="2834640"/>
            <a:ext cx="50292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498269" y="2852928"/>
            <a:ext cx="1144783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→ CBP / Gift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…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10351965" y="3611880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351965" y="3703320"/>
            <a:ext cx="50292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498269" y="3721608"/>
            <a:ext cx="1144783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→ Notify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…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351965" y="4480559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351965" y="4571999"/>
            <a:ext cx="50292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498269" y="4590287"/>
            <a:ext cx="1144783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→ xapi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…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65760" y="6126480"/>
            <a:ext cx="11460175" cy="502920"/>
          </a:xfrm>
          <a:prstGeom prst="roundRect">
            <a:avLst>
              <a:gd name="adj" fmla="val 10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02920" y="6291072"/>
            <a:ext cx="128016" cy="128016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0664" y="6291072"/>
            <a:ext cx="128016" cy="128016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978408" y="6291072"/>
            <a:ext cx="128016" cy="128016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216152" y="6291072"/>
            <a:ext cx="128016" cy="128016"/>
          </a:xfrm>
          <a:prstGeom prst="ellipse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453896" y="6291072"/>
            <a:ext cx="128016" cy="128016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783080" y="623620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LedgeRX = product hub     ·     one Landing 對口 layer on UAF side     ·     then UAF systems fan-out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332720" y="623620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8FAFC"/>
                </a:solidFill>
                <a:latin typeface="Calibri"/>
              </a:rPr>
              <a:t>Landing  ·  One unified 對口 to LedgeRX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LedgeRX talks to a single UAF layer only  ·  that layer applies UAF business logic  ·  then fans out internally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128016"/>
            <a:ext cx="1554480" cy="347472"/>
          </a:xfrm>
          <a:prstGeom prst="roundRect">
            <a:avLst>
              <a:gd name="adj" fmla="val 15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0" y="182880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DD4BF"/>
                </a:solidFill>
                <a:latin typeface="Calibri"/>
              </a:rPr>
              <a:t>CTO  ·  2 /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731520"/>
            <a:ext cx="11457432" cy="1051560"/>
          </a:xfrm>
          <a:prstGeom prst="roundRect">
            <a:avLst>
              <a:gd name="adj" fmla="val 6000"/>
            </a:avLst>
          </a:prstGeom>
          <a:solidFill>
            <a:srgbClr val="0A282A"/>
          </a:solidFill>
          <a:ln w="28575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841248"/>
            <a:ext cx="1965960" cy="320040"/>
          </a:xfrm>
          <a:prstGeom prst="roundRect">
            <a:avLst>
              <a:gd name="adj" fmla="val 8000"/>
            </a:avLst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877824"/>
            <a:ext cx="1965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OUR PRODUCT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82296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DD4BF"/>
                </a:solidFill>
                <a:latin typeface="Calibri"/>
              </a:rPr>
              <a:t>LedgeRX   =   UA “Reward System”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1143000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Emits only:   balance.updated   ·   reward redemption request   ·   other ledger outcomes   ·   (Kafka / webhook)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43600" y="1874519"/>
            <a:ext cx="201168" cy="237744"/>
          </a:xfrm>
          <a:prstGeom prst="down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9019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9202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DD4BF"/>
                </a:solidFill>
                <a:latin typeface="Calibri"/>
              </a:rPr>
              <a:t>sole interface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2194560"/>
            <a:ext cx="11457432" cy="1417320"/>
          </a:xfrm>
          <a:prstGeom prst="roundRect">
            <a:avLst>
              <a:gd name="adj" fmla="val 6000"/>
            </a:avLst>
          </a:prstGeom>
          <a:solidFill>
            <a:srgbClr val="121A3A"/>
          </a:solidFill>
          <a:ln w="317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2304288"/>
            <a:ext cx="3017520" cy="292608"/>
          </a:xfrm>
          <a:prstGeom prst="roundRect">
            <a:avLst>
              <a:gd name="adj" fmla="val 8000"/>
            </a:avLst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33172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ONLY 對口  ·  UAF-owned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304288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Calibri"/>
              </a:rPr>
              <a:t>Unified Landing Layer  (collect results + UAF business logic)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69748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76148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18CF8"/>
                </a:solidFill>
                <a:latin typeface="Calibri"/>
              </a:rPr>
              <a:t>1 · Collect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Subscribe LedgeRX events / APIs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59" y="269748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19" y="276148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18CF8"/>
                </a:solidFill>
                <a:latin typeface="Calibri"/>
              </a:rPr>
              <a:t>2 · Decide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19" y="303580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UAF policies · eligibility · routing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0999" y="269748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59" y="276148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18CF8"/>
                </a:solidFill>
                <a:latin typeface="Calibri"/>
              </a:rPr>
              <a:t>3 · Dispatch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59" y="303580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Call CBP · Gift · Notify · CRM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1554480" y="3703320"/>
            <a:ext cx="146304" cy="182880"/>
          </a:xfrm>
          <a:prstGeom prst="downArrow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own Arrow 29"/>
          <p:cNvSpPr/>
          <p:nvPr/>
        </p:nvSpPr>
        <p:spPr>
          <a:xfrm>
            <a:off x="4206240" y="3703320"/>
            <a:ext cx="146304" cy="182880"/>
          </a:xfrm>
          <a:prstGeom prst="downArrow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6858000" y="3703320"/>
            <a:ext cx="146304" cy="182880"/>
          </a:xfrm>
          <a:prstGeom prst="downArrow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wn Arrow 31"/>
          <p:cNvSpPr/>
          <p:nvPr/>
        </p:nvSpPr>
        <p:spPr>
          <a:xfrm>
            <a:off x="9509760" y="3703320"/>
            <a:ext cx="146304" cy="182880"/>
          </a:xfrm>
          <a:prstGeom prst="downArrow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3913632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Internal UAF systems  —  LedgeRX never integrates to these directly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160520"/>
            <a:ext cx="2651760" cy="1417320"/>
          </a:xfrm>
          <a:prstGeom prst="roundRect">
            <a:avLst>
              <a:gd name="adj" fmla="val 10000"/>
            </a:avLst>
          </a:prstGeom>
          <a:solidFill>
            <a:srgbClr val="0A2F24"/>
          </a:solidFill>
          <a:ln w="22225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02920" y="4251960"/>
            <a:ext cx="1234440" cy="219456"/>
          </a:xfrm>
          <a:prstGeom prst="roundRect">
            <a:avLst>
              <a:gd name="adj" fmla="val 8000"/>
            </a:avLst>
          </a:prstGeom>
          <a:solidFill>
            <a:srgbClr val="6EE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270248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B1220"/>
                </a:solidFill>
                <a:latin typeface="Calibri"/>
              </a:rPr>
              <a:t>Kenny green box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9496" y="4544568"/>
            <a:ext cx="2395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E-coupon / CBP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9496" y="4864608"/>
            <a:ext cx="23957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Green box · inventory · issue/redeem · track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9496" y="5321808"/>
            <a:ext cx="239572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EE7B7"/>
                </a:solidFill>
                <a:latin typeface="Calibri"/>
              </a:rPr>
              <a:t>UAF-owned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46120" y="4160520"/>
            <a:ext cx="2651760" cy="1417320"/>
          </a:xfrm>
          <a:prstGeom prst="roundRect">
            <a:avLst>
              <a:gd name="adj" fmla="val 10000"/>
            </a:avLst>
          </a:prstGeom>
          <a:solidFill>
            <a:srgbClr val="0C2340"/>
          </a:solidFill>
          <a:ln w="1524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74136" y="4325112"/>
            <a:ext cx="2395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Gift system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74136" y="4645152"/>
            <a:ext cx="23957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Fulfillment · triggered after routing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74136" y="5102352"/>
            <a:ext cx="239572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4B5FD"/>
                </a:solidFill>
                <a:latin typeface="Calibri"/>
              </a:rPr>
              <a:t>UAF-owned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080760" y="4160520"/>
            <a:ext cx="2651760" cy="1417320"/>
          </a:xfrm>
          <a:prstGeom prst="roundRect">
            <a:avLst>
              <a:gd name="adj" fmla="val 10000"/>
            </a:avLst>
          </a:prstGeom>
          <a:solidFill>
            <a:srgbClr val="0C2340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08776" y="4325112"/>
            <a:ext cx="2395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Notification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08776" y="4645152"/>
            <a:ext cx="23957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Push · SMS · inbox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08776" y="5102352"/>
            <a:ext cx="239572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8BDF8"/>
                </a:solidFill>
                <a:latin typeface="Calibri"/>
              </a:rPr>
              <a:t>UAF-owned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15400" y="4160520"/>
            <a:ext cx="2651760" cy="1417320"/>
          </a:xfrm>
          <a:prstGeom prst="roundRect">
            <a:avLst>
              <a:gd name="adj" fmla="val 10000"/>
            </a:avLst>
          </a:prstGeom>
          <a:solidFill>
            <a:srgbClr val="0C2340"/>
          </a:solidFill>
          <a:ln w="1524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43416" y="4325112"/>
            <a:ext cx="2395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xapi / CRM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43416" y="4645152"/>
            <a:ext cx="23957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Balances · apps (Yes UA · aim)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43416" y="5102352"/>
            <a:ext cx="239572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B923C"/>
                </a:solidFill>
                <a:latin typeface="Calibri"/>
              </a:rPr>
              <a:t>UAF-owned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11480" y="5669280"/>
            <a:ext cx="2651760" cy="365760"/>
          </a:xfrm>
          <a:prstGeom prst="roundRect">
            <a:avLst>
              <a:gd name="adj" fmla="val 12000"/>
            </a:avLst>
          </a:prstGeom>
          <a:solidFill>
            <a:srgbClr val="2A1424"/>
          </a:solidFill>
          <a:ln w="12700">
            <a:solidFill>
              <a:srgbClr val="F9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5742432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9A8D4"/>
                </a:solidFill>
                <a:latin typeface="Calibri"/>
              </a:rPr>
              <a:t>↓ COD · other partners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246120" y="5669280"/>
            <a:ext cx="8458200" cy="365760"/>
          </a:xfrm>
          <a:prstGeom prst="roundRect">
            <a:avLst>
              <a:gd name="adj" fmla="val 12000"/>
            </a:avLst>
          </a:prstGeom>
          <a:solidFill>
            <a:srgbClr val="102A48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83280" y="574243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Pitch: Buy LedgeRX. Integrate once to the Landing hub. CBP/Gift/Notify stay behind your layer.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65760" y="6172200"/>
            <a:ext cx="11460175" cy="457200"/>
          </a:xfrm>
          <a:prstGeom prst="roundRect">
            <a:avLst>
              <a:gd name="adj" fmla="val 10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626364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LedgeRX ↔ one UAF 對口 only     ·     hub collects outcomes + runs UAF logic     ·     internal fan-out is UAF’s business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