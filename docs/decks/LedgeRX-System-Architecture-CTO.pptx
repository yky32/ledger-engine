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412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8288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3774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22960"/>
            <a:ext cx="1761082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950976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960120"/>
            <a:ext cx="124901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261872"/>
            <a:ext cx="154162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9164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" y="178308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80136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74320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283464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85292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794760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886200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904488"/>
            <a:ext cx="1303882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Engage · campaigns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5029200"/>
            <a:ext cx="154162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82874" y="822960"/>
            <a:ext cx="1761082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2602" y="950976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2602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5210" y="960120"/>
            <a:ext cx="124901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2602" y="1261872"/>
            <a:ext cx="154162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2602" y="1536192"/>
            <a:ext cx="154162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92602" y="19659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92602" y="20574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38906" y="20756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92602" y="28803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92602" y="29718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38906" y="29900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Message queue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Kafka async stream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92602" y="3794760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92602" y="3886200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38906" y="3904488"/>
            <a:ext cx="13038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92602" y="4892040"/>
            <a:ext cx="154162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calls
ownerId + use-case code
No hand-built JSON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163418" y="2743200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4180532" y="2743200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163418" y="4023360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4180532" y="4023360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399988" y="822960"/>
            <a:ext cx="3913517" cy="512064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528004" y="932688"/>
            <a:ext cx="3657485" cy="384048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01156" y="987552"/>
            <a:ext cx="351118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3   LedgeRX Product Engine   =   Reward 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4580" y="1371600"/>
            <a:ext cx="35843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46292" y="1719072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46292" y="1810512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2596" y="1828800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11610" y="1719072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11610" y="1810512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57914" y="1828800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46292" y="2651760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46292" y="2743200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92596" y="2761488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11610" y="2651760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11610" y="2743200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57914" y="2761488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46292" y="3584448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46292" y="3675888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92596" y="3694176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11610" y="3584448"/>
            <a:ext cx="1755590" cy="84124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11610" y="3675888"/>
            <a:ext cx="50292" cy="658368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57914" y="3694176"/>
            <a:ext cx="151784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46292" y="4571999"/>
            <a:ext cx="3620909" cy="457200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9444" y="4663440"/>
            <a:ext cx="351118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292" y="5166360"/>
            <a:ext cx="362090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UA “Reward System”: points ledger · redemption rules · reward outcomes
Ops configures once  ·  Upstream calls use-case codes via SDK only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350081" y="2743200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ight Arrow 68"/>
          <p:cNvSpPr/>
          <p:nvPr/>
        </p:nvSpPr>
        <p:spPr>
          <a:xfrm>
            <a:off x="8350081" y="4023360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569537" y="822960"/>
            <a:ext cx="1434956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42689" y="950976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42689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35297" y="960120"/>
            <a:ext cx="10143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60977" y="1280160"/>
            <a:ext cx="12703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60977" y="192024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60977" y="201168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807281" y="202996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60977" y="297180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60977" y="306324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07281" y="308152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60977" y="4023360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660977" y="4114800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07281" y="4133088"/>
            <a:ext cx="10143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10041069" y="2743200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ight Arrow 84"/>
          <p:cNvSpPr/>
          <p:nvPr/>
        </p:nvSpPr>
        <p:spPr>
          <a:xfrm>
            <a:off x="10041069" y="4023360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260525" y="822960"/>
            <a:ext cx="1565407" cy="512064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333677" y="950976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333677" y="960120"/>
            <a:ext cx="2377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26285" y="960120"/>
            <a:ext cx="11447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51965" y="1261872"/>
            <a:ext cx="14008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alibri"/>
              </a:rPr>
              <a:t>Product outlets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351965" y="182880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351965" y="192024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98269" y="193852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E-coupon / CBP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One downstream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351965" y="269748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51965" y="278892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498269" y="280720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Gift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Fulfillment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351965" y="3566160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51965" y="3657600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498269" y="3675888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Notify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Push · SMS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351965" y="4434839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1965" y="4526279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498269" y="4544567"/>
            <a:ext cx="114478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xapi / CRM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612648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2920" y="6291072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0664" y="6291072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8408" y="6291072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216152" y="6291072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453896" y="6291072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83080" y="623620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= product     ·     Landing = many downstream outlets (CBP is one)     ·     see slide 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32720" y="62362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601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8FAFC"/>
                </a:solidFill>
                <a:latin typeface="Calibri"/>
              </a:rPr>
              <a:t>Landing Edge  ·  Downstream of LedgeRX (our product)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CBP is not a peer system — it is one consumer of LedgeRX 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46304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011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2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04672"/>
            <a:ext cx="11457432" cy="1234440"/>
          </a:xfrm>
          <a:prstGeom prst="roundRect">
            <a:avLst>
              <a:gd name="adj" fmla="val 6000"/>
            </a:avLst>
          </a:prstGeom>
          <a:solidFill>
            <a:srgbClr val="0A282A"/>
          </a:solidFill>
          <a:ln w="285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914400"/>
            <a:ext cx="2194560" cy="347472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9601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1220"/>
                </a:solidFill>
                <a:latin typeface="Calibri"/>
              </a:rPr>
              <a:t>OUR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914400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DD4BF"/>
                </a:solidFill>
                <a:latin typeface="Calibri"/>
              </a:rPr>
              <a:t>LedgeRX   =   UA “Reward System”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26187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Earn / burn points  ·  wallets &amp; ledgers  ·  rules &amp; COA  ·  emits: balance.updated  ·  reward redemption request  · 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1945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B5FD"/>
                </a:solidFill>
                <a:latin typeface="Calibri"/>
              </a:rPr>
              <a:t>LedgeRX Landing Edge  →  multiple downstream systems (UAF-operated)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2514600"/>
            <a:ext cx="164592" cy="201168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4114800" y="2514600"/>
            <a:ext cx="164592" cy="201168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6766560" y="2514600"/>
            <a:ext cx="164592" cy="201168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9418320" y="2514600"/>
            <a:ext cx="164592" cy="201168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2788920"/>
            <a:ext cx="2606040" cy="2331720"/>
          </a:xfrm>
          <a:prstGeom prst="roundRect">
            <a:avLst>
              <a:gd name="adj" fmla="val 8000"/>
            </a:avLst>
          </a:prstGeom>
          <a:solidFill>
            <a:srgbClr val="0A2F24"/>
          </a:solidFill>
          <a:ln w="28575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898648"/>
            <a:ext cx="1417320" cy="256032"/>
          </a:xfrm>
          <a:prstGeom prst="roundRect">
            <a:avLst>
              <a:gd name="adj" fmla="val 8000"/>
            </a:avLst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916936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ONE DOWNSTREAM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3227832"/>
            <a:ext cx="23500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E-coupon / CBP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" y="3520440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EE7B7"/>
                </a:solidFill>
                <a:latin typeface="Calibri"/>
              </a:rPr>
              <a:t>UAF-owned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867912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Coupon inventory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123944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Issue &amp; redeem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4379976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Track usage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4636008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= Kenny green box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4408" y="2788920"/>
            <a:ext cx="2606040" cy="2331720"/>
          </a:xfrm>
          <a:prstGeom prst="roundRect">
            <a:avLst>
              <a:gd name="adj" fmla="val 8000"/>
            </a:avLst>
          </a:prstGeom>
          <a:solidFill>
            <a:srgbClr val="0C2340"/>
          </a:solidFill>
          <a:ln w="1714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2424" y="2953512"/>
            <a:ext cx="23500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Gift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2424" y="3246120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Calibri"/>
              </a:rPr>
              <a:t>UAF-owned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92424" y="3593592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Fulfillment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2424" y="3849624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Physical / digital gifts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2424" y="4105656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Triggered by reward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92424" y="4361688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  outcome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71616" y="2788920"/>
            <a:ext cx="2606040" cy="2331720"/>
          </a:xfrm>
          <a:prstGeom prst="roundRect">
            <a:avLst>
              <a:gd name="adj" fmla="val 8000"/>
            </a:avLst>
          </a:prstGeom>
          <a:solidFill>
            <a:srgbClr val="0C2340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2953512"/>
            <a:ext cx="23500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Notification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3246120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8BDF8"/>
                </a:solidFill>
                <a:latin typeface="Calibri"/>
              </a:rPr>
              <a:t>UAF-owned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9632" y="3593592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Push · SMS · inbox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9632" y="3849624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Balance alerts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9632" y="4105656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Redemption confirm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4361688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/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78824" y="2788920"/>
            <a:ext cx="2606040" cy="2331720"/>
          </a:xfrm>
          <a:prstGeom prst="roundRect">
            <a:avLst>
              <a:gd name="adj" fmla="val 8000"/>
            </a:avLst>
          </a:prstGeom>
          <a:solidFill>
            <a:srgbClr val="0C2340"/>
          </a:solidFill>
          <a:ln w="17145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06840" y="2953512"/>
            <a:ext cx="23500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xapi / CRM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3246120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B923C"/>
                </a:solidFill>
                <a:latin typeface="Calibri"/>
              </a:rPr>
              <a:t>UAF-owned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3593592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Balance views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3849624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Customer profile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4105656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• Channel apps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361688"/>
            <a:ext cx="2350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  (Yes UA · aim)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257800"/>
            <a:ext cx="2606040" cy="640080"/>
          </a:xfrm>
          <a:prstGeom prst="roundRect">
            <a:avLst>
              <a:gd name="adj" fmla="val 10000"/>
            </a:avLst>
          </a:prstGeom>
          <a:solidFill>
            <a:srgbClr val="2A1424"/>
          </a:solidFill>
          <a:ln w="15875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5321808"/>
            <a:ext cx="2386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9A8D4"/>
                </a:solidFill>
                <a:latin typeface="Calibri"/>
              </a:rPr>
              <a:t>↓ then UAF partners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5577840"/>
            <a:ext cx="2386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COD  ·  other coupon partners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64408" y="5257800"/>
            <a:ext cx="8412480" cy="64008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5875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47288" y="5349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Calibri"/>
              </a:rPr>
              <a:t>Pitch line:  You buy LedgeRX (Reward System).  CBP stays yours — it simply becomes one Landing consumer of our engine’s events.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65760" y="608076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Not peer-to-peer platforms   ·   LedgeRX is the product hub   ·   CBP / Gift / Notify / CRM are downstream spokes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