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pic>
        <p:nvPicPr>
          <p:cNvPr id="5" name="Picture 4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28016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11312" y="182880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DD4BF"/>
                </a:solidFill>
                <a:latin typeface="Calibri"/>
              </a:rPr>
              <a:t>UAF</a:t>
            </a:r>
          </a:p>
        </p:txBody>
      </p:sp>
      <p:pic>
        <p:nvPicPr>
          <p:cNvPr id="7" name="Picture 6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28016"/>
            <a:ext cx="347472" cy="34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17152" y="182880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6304"/>
            <a:ext cx="1554480" cy="329184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1828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804672"/>
            <a:ext cx="1761082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5488" y="914400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932688"/>
            <a:ext cx="12490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225296"/>
            <a:ext cx="154162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1517904"/>
            <a:ext cx="1541626" cy="384048"/>
          </a:xfrm>
          <a:prstGeom prst="roundRect">
            <a:avLst>
              <a:gd name="adj" fmla="val 12000"/>
            </a:avLst>
          </a:prstGeom>
          <a:solidFill>
            <a:srgbClr val="0F2D4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72768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8680" y="1591056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UAF channels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03911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2130552"/>
            <a:ext cx="50292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148840"/>
            <a:ext cx="1303882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299923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3090672"/>
            <a:ext cx="50292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3108960"/>
            <a:ext cx="1303882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395935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88" y="4050792"/>
            <a:ext cx="50292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4069080"/>
            <a:ext cx="1303882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Yes UA · sim apps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5102352"/>
            <a:ext cx="154162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82874" y="804672"/>
            <a:ext cx="1761082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492602" y="914400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92602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5210" y="932688"/>
            <a:ext cx="12490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pic>
        <p:nvPicPr>
          <p:cNvPr id="34" name="Picture 33" descr="s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0890" y="1243584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876650" y="1261872"/>
            <a:ext cx="11210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0890" y="1609344"/>
            <a:ext cx="150505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92602" y="199339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92602" y="2084832"/>
            <a:ext cx="50292" cy="685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0618" y="2263140"/>
            <a:ext cx="329184" cy="3291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022954" y="2103120"/>
            <a:ext cx="919834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92602" y="295351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92602" y="3044952"/>
            <a:ext cx="50292" cy="685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kaf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0618" y="3223260"/>
            <a:ext cx="329184" cy="32918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022954" y="3063240"/>
            <a:ext cx="919834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Kafka / MQ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Async event stream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92602" y="391363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92602" y="4005072"/>
            <a:ext cx="50292" cy="685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0618" y="4183380"/>
            <a:ext cx="329184" cy="32918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022954" y="4023360"/>
            <a:ext cx="919834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92602" y="5056632"/>
            <a:ext cx="154162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· ownerId + code
No hand-built JSON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2163418" y="2679191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ight Arrow 50"/>
          <p:cNvSpPr/>
          <p:nvPr/>
        </p:nvSpPr>
        <p:spPr>
          <a:xfrm>
            <a:off x="4180532" y="2679191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ight Arrow 51"/>
          <p:cNvSpPr/>
          <p:nvPr/>
        </p:nvSpPr>
        <p:spPr>
          <a:xfrm>
            <a:off x="2163418" y="3959352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ight Arrow 52"/>
          <p:cNvSpPr/>
          <p:nvPr/>
        </p:nvSpPr>
        <p:spPr>
          <a:xfrm>
            <a:off x="4180532" y="3959352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99988" y="804672"/>
            <a:ext cx="3913517" cy="507492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528004" y="896112"/>
            <a:ext cx="3657485" cy="365760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01156" y="950976"/>
            <a:ext cx="35111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3   LedgeRX Product Engine   =   Reward System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4580" y="1316736"/>
            <a:ext cx="3584333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46292" y="16733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46292" y="17647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92596" y="17830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11610" y="16733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11610" y="17647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57914" y="17830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6292" y="25877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46292" y="26791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92596" y="26974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11610" y="25877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11610" y="26791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57914" y="26974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46292" y="35021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46292" y="35935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92596" y="36118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11610" y="35021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1610" y="35935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57914" y="36118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46292" y="4507992"/>
            <a:ext cx="3620909" cy="438912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19444" y="4590287"/>
            <a:ext cx="3511181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46292" y="5056632"/>
            <a:ext cx="362090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UA “Reward System”: points ledger · redemption rules · reward outcomes
Ops configures once  ·  Upstream calls use-case codes via SDK only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8350081" y="2679191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ight Arrow 79"/>
          <p:cNvSpPr/>
          <p:nvPr/>
        </p:nvSpPr>
        <p:spPr>
          <a:xfrm>
            <a:off x="8350081" y="3959352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569537" y="804672"/>
            <a:ext cx="1434956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642689" y="914400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42689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35297" y="932688"/>
            <a:ext cx="10143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60977" y="1243584"/>
            <a:ext cx="127036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660977" y="185623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660977" y="194767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07281" y="196596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660977" y="290779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60977" y="299923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07281" y="301752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660977" y="395935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60977" y="405079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807281" y="406908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0041069" y="2679191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ight Arrow 95"/>
          <p:cNvSpPr/>
          <p:nvPr/>
        </p:nvSpPr>
        <p:spPr>
          <a:xfrm>
            <a:off x="10041069" y="3959352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60525" y="804672"/>
            <a:ext cx="1565407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333677" y="914400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33677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626285" y="932688"/>
            <a:ext cx="114478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51965" y="1225296"/>
            <a:ext cx="14008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alibri"/>
              </a:rPr>
              <a:t>One UAF layer
(see slide 2)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0351965" y="185623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351965" y="194767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498269" y="196596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Unified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Only interface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351965" y="272491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51965" y="281635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498269" y="283464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CBP / Gift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0351965" y="359359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351965" y="368503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498269" y="370332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Notify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351965" y="4462271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51965" y="4553711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498269" y="4571999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xapi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65760" y="608076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02920" y="6236208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40664" y="6236208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78408" y="6236208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216152" y="6236208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453896" y="6236208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s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6181344"/>
            <a:ext cx="256032" cy="256032"/>
          </a:xfrm>
          <a:prstGeom prst="rect">
            <a:avLst/>
          </a:prstGeom>
        </p:spPr>
      </p:pic>
      <p:pic>
        <p:nvPicPr>
          <p:cNvPr id="121" name="Picture 120" descr="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840" y="6181344"/>
            <a:ext cx="256032" cy="256032"/>
          </a:xfrm>
          <a:prstGeom prst="rect">
            <a:avLst/>
          </a:prstGeom>
        </p:spPr>
      </p:pic>
      <p:pic>
        <p:nvPicPr>
          <p:cNvPr id="122" name="Picture 121" descr="kaf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6181344"/>
            <a:ext cx="256032" cy="256032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834640" y="6199632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SDK · REST · Kafka     ·     one Landing interface     ·     UAF fan-out behind the hub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32720" y="6199632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8FAFC"/>
                </a:solidFill>
                <a:latin typeface="Calibri"/>
              </a:rPr>
              <a:t>Landing  ·  One unified interface to LedgeRX</a:t>
            </a:r>
          </a:p>
        </p:txBody>
      </p:sp>
      <p:pic>
        <p:nvPicPr>
          <p:cNvPr id="5" name="Picture 4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28016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98280" y="164592"/>
            <a:ext cx="502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UAF</a:t>
            </a:r>
          </a:p>
        </p:txBody>
      </p:sp>
      <p:pic>
        <p:nvPicPr>
          <p:cNvPr id="7" name="Picture 6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128016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66960" y="164592"/>
            <a:ext cx="411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38912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LedgeRX talks to a single UAF layer only  ·  that layer applies UAF logic  ·  then fans out internally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475488"/>
            <a:ext cx="1554480" cy="292608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0" y="49377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2 /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804672"/>
            <a:ext cx="11457432" cy="914400"/>
          </a:xfrm>
          <a:prstGeom prst="roundRect">
            <a:avLst>
              <a:gd name="adj" fmla="val 6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914400"/>
            <a:ext cx="1828800" cy="274320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93268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OUR 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8961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Calibri"/>
              </a:rPr>
              <a:t>LedgeRX   =   UA “Reward System”</a:t>
            </a:r>
          </a:p>
        </p:txBody>
      </p:sp>
      <p:pic>
        <p:nvPicPr>
          <p:cNvPr id="16" name="Picture 15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1243584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834640" y="1261872"/>
            <a:ext cx="8503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Emits:  balance.updated  ·  reward redemption request  ·  ledger outcomes   (Kafka / webhook)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43600" y="1810512"/>
            <a:ext cx="182880" cy="182880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8105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sole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057400"/>
            <a:ext cx="11457432" cy="1298448"/>
          </a:xfrm>
          <a:prstGeom prst="roundRect">
            <a:avLst>
              <a:gd name="adj" fmla="val 6000"/>
            </a:avLst>
          </a:prstGeom>
          <a:solidFill>
            <a:srgbClr val="121A3A"/>
          </a:solidFill>
          <a:ln w="285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148840"/>
            <a:ext cx="2606040" cy="256032"/>
          </a:xfrm>
          <a:prstGeom prst="roundRect">
            <a:avLst>
              <a:gd name="adj" fmla="val 8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167128"/>
            <a:ext cx="2606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ONLY INTERFACE  ·  UAF-owned</a:t>
            </a:r>
          </a:p>
        </p:txBody>
      </p:sp>
      <p:pic>
        <p:nvPicPr>
          <p:cNvPr id="23" name="Picture 22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48840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520440" y="2148840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Unified Landing Layer  ·  collect results + UAF business logic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532888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624328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05840" y="2587752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1  ·  Collect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2862072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Subscribe LedgeRX events / APIs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2532888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624328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782312" y="2587752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2  ·  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2862072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UAF policies · eligibility · routing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2532888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5592" y="2624328"/>
            <a:ext cx="329184" cy="3291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558784" y="2587752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3  ·  Dispatch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8784" y="2862072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Call CBP · Gift · Notify · CRM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600200" y="3474720"/>
            <a:ext cx="146304" cy="146304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wn Arrow 37"/>
          <p:cNvSpPr/>
          <p:nvPr/>
        </p:nvSpPr>
        <p:spPr>
          <a:xfrm>
            <a:off x="4251960" y="3474720"/>
            <a:ext cx="146304" cy="146304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6903720" y="3474720"/>
            <a:ext cx="146304" cy="146304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9555480" y="3474720"/>
            <a:ext cx="146304" cy="146304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675887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 UAF systems  —  LedgeRX never integrates to these directly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393192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0A2F24"/>
          </a:solidFill>
          <a:ln w="22225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5488" y="4023360"/>
            <a:ext cx="1371600" cy="219456"/>
          </a:xfrm>
          <a:prstGeom prst="roundRect">
            <a:avLst>
              <a:gd name="adj" fmla="val 8000"/>
            </a:avLst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404164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ONE DOWNSTREAM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" y="4315968"/>
            <a:ext cx="24414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E-coupon / CBP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" y="4636008"/>
            <a:ext cx="24414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Central coupon platform  ·  inventory · issue / redeem · track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3776" y="5093208"/>
            <a:ext cx="24414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EE7B7"/>
                </a:solidFill>
                <a:latin typeface="Calibri"/>
              </a:rPr>
              <a:t>UAF-owned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27832" y="393192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55848" y="4078224"/>
            <a:ext cx="24414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Gift system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398264"/>
            <a:ext cx="24414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Fulfillment  ·  triggered after routing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5848" y="4855464"/>
            <a:ext cx="24414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4B5FD"/>
                </a:solidFill>
                <a:latin typeface="Calibri"/>
              </a:rPr>
              <a:t>UAF-owned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89904" y="393192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4078224"/>
            <a:ext cx="24414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Notification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4398264"/>
            <a:ext cx="24414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Push · SMS · inbox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4855464"/>
            <a:ext cx="24414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38BDF8"/>
                </a:solidFill>
                <a:latin typeface="Calibri"/>
              </a:rPr>
              <a:t>UAF-owned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51976" y="393192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9992" y="4078224"/>
            <a:ext cx="237744" cy="237744"/>
          </a:xfrm>
          <a:prstGeom prst="rect">
            <a:avLst/>
          </a:prstGeom>
        </p:spPr>
      </p:pic>
      <p:pic>
        <p:nvPicPr>
          <p:cNvPr id="58" name="Picture 57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312" y="4078224"/>
            <a:ext cx="237744" cy="23774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665208" y="407822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Calibri"/>
              </a:rPr>
              <a:t>xapi / CRM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4425696"/>
            <a:ext cx="24414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Balances · apps (Yes UA · sim)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79992" y="4855464"/>
            <a:ext cx="24414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B923C"/>
                </a:solidFill>
                <a:latin typeface="Calibri"/>
              </a:rPr>
              <a:t>UAF-owned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5760" y="5349240"/>
            <a:ext cx="2697480" cy="329184"/>
          </a:xfrm>
          <a:prstGeom prst="roundRect">
            <a:avLst>
              <a:gd name="adj" fmla="val 12000"/>
            </a:avLst>
          </a:prstGeom>
          <a:solidFill>
            <a:srgbClr val="2A1424"/>
          </a:solidFill>
          <a:ln w="1270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488" y="5413248"/>
            <a:ext cx="24780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9A8D4"/>
                </a:solidFill>
                <a:latin typeface="Calibri"/>
              </a:rPr>
              <a:t>↓  COD · other partners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27832" y="5349240"/>
            <a:ext cx="8503920" cy="329184"/>
          </a:xfrm>
          <a:prstGeom prst="roundRect">
            <a:avLst>
              <a:gd name="adj" fmla="val 12000"/>
            </a:avLst>
          </a:prstGeom>
          <a:solidFill>
            <a:srgbClr val="102A4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64992" y="5413248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Pitch: Buy LedgeRX. Integrate once to the Landing hub. CBP / Gift / Notify stay behind your layer.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5760" y="5852160"/>
            <a:ext cx="11460175" cy="64008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5961888"/>
            <a:ext cx="292608" cy="292608"/>
          </a:xfrm>
          <a:prstGeom prst="rect">
            <a:avLst/>
          </a:prstGeom>
        </p:spPr>
      </p:pic>
      <p:pic>
        <p:nvPicPr>
          <p:cNvPr id="68" name="Picture 67" descr="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961888"/>
            <a:ext cx="292608" cy="292608"/>
          </a:xfrm>
          <a:prstGeom prst="rect">
            <a:avLst/>
          </a:prstGeom>
        </p:spPr>
      </p:pic>
      <p:pic>
        <p:nvPicPr>
          <p:cNvPr id="69" name="Picture 68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5961888"/>
            <a:ext cx="292608" cy="292608"/>
          </a:xfrm>
          <a:prstGeom prst="rect">
            <a:avLst/>
          </a:prstGeom>
        </p:spPr>
      </p:pic>
      <p:pic>
        <p:nvPicPr>
          <p:cNvPr id="70" name="Picture 69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5961888"/>
            <a:ext cx="292608" cy="292608"/>
          </a:xfrm>
          <a:prstGeom prst="rect">
            <a:avLst/>
          </a:prstGeom>
        </p:spPr>
      </p:pic>
      <p:pic>
        <p:nvPicPr>
          <p:cNvPr id="71" name="Picture 70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5961888"/>
            <a:ext cx="292608" cy="29260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2514600" y="59893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SDK · REST · Kafka     ·     LedgeRX ↔ one UAF interface     ·     hub logic then fan-out     ·     Yes UA · sim behind xapi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