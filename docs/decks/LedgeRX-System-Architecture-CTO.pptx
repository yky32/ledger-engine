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828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377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50976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61872"/>
            <a:ext cx="154162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9164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8308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0136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74320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83464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5292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9476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8620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90448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5029200"/>
            <a:ext cx="154162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50976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61872"/>
            <a:ext cx="154162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536192"/>
            <a:ext cx="154162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659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20574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756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803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718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900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947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862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9044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92040"/>
            <a:ext cx="15416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74320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74320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402336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402336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22960"/>
            <a:ext cx="3913517" cy="512064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932688"/>
            <a:ext cx="3657485" cy="384048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87552"/>
            <a:ext cx="351118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71600"/>
            <a:ext cx="35843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71999"/>
            <a:ext cx="3620909" cy="457200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663440"/>
            <a:ext cx="35111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166360"/>
            <a:ext cx="362090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redemption
Ops configures once  ·  Upstream calls use-case codes via SDK only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74320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402336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22960"/>
            <a:ext cx="1434956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50976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60120"/>
            <a:ext cx="10143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80160"/>
            <a:ext cx="12703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92024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201168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202996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7180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306324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8152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402336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11480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13308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10041069" y="274320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10041069" y="402336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260525" y="822960"/>
            <a:ext cx="1565407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333677" y="950976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333677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26285" y="960120"/>
            <a:ext cx="11447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51965" y="1261872"/>
            <a:ext cx="14008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4B5FD"/>
                </a:solidFill>
                <a:latin typeface="Calibri"/>
              </a:rPr>
              <a:t>→ UAF CBP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351965" y="182880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51965" y="192024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98269" y="193852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E-coupon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Issue · redeem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351965" y="269748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51965" y="278892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498269" y="280720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Gift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Fulfillment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351965" y="356616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51965" y="365760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98269" y="367588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Notify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Push · SMS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351965" y="4434839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1965" y="4526279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498269" y="4544567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xapi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612648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2920" y="6291072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0664" y="6291072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8408" y="6291072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16152" y="6291072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453896" y="6291072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83080" y="62362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Reward System     ·     Landing = UAF CBP (slide 2)     ·     multi-channel via SDK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62362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After Landing  ·  What UAF handles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3891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Boundary of responsibility  ·  LedgeRX stops at reward outcomes  ·  UAF owns coupon platform &amp;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64592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194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5577840" cy="777240"/>
          </a:xfrm>
          <a:prstGeom prst="roundRect">
            <a:avLst>
              <a:gd name="adj" fmla="val 10000"/>
            </a:avLst>
          </a:prstGeom>
          <a:solidFill>
            <a:srgbClr val="0A282A"/>
          </a:solidFill>
          <a:ln w="1714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LedgeRX  =  Reward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Points ledger · redemption rules · reward redemption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822960"/>
            <a:ext cx="5669280" cy="77724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1714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8961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EE7B7"/>
                </a:solidFill>
                <a:latin typeface="Calibri"/>
              </a:rPr>
              <a:t>Landing Edge  =  CBP (green box)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070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E-coupon inventory · issue / redeem · track usage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828800"/>
            <a:ext cx="3657600" cy="3977639"/>
          </a:xfrm>
          <a:prstGeom prst="roundRect">
            <a:avLst>
              <a:gd name="adj" fmla="val 7000"/>
            </a:avLst>
          </a:prstGeom>
          <a:solidFill>
            <a:srgbClr val="0A282A"/>
          </a:solidFill>
          <a:ln w="2222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Owned by LedgeRX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3172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Customer wallet &amp; balances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Earn / burn / hold points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Use-case catalog &amp; COA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Calculation formulas (Brain)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Posting &amp; double-entry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Outbound event: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DD4BF"/>
                </a:solidFill>
                <a:latin typeface="Calibri"/>
              </a:rPr>
              <a:t>  ledger.balance.updated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DD4BF"/>
                </a:solidFill>
                <a:latin typeface="Calibri"/>
              </a:rPr>
              <a:t>  reward redemption request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Does NOT own e-coupon stock,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partner settlement, or COD rails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60520" y="3566160"/>
            <a:ext cx="320040" cy="201168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38404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DD4BF"/>
                </a:solidFill>
                <a:latin typeface="Calibri"/>
              </a:rPr>
              <a:t>event /
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828800"/>
            <a:ext cx="7086600" cy="7772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901952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UAF channels (unchanged)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Calibri"/>
              </a:rPr>
              <a:t>Yes UA (Mobile App)    ·    aim (Mobile App)    ·    Branch Loan System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8092440" y="2651760"/>
            <a:ext cx="146304" cy="182880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09160" y="2880360"/>
            <a:ext cx="7086600" cy="640080"/>
          </a:xfrm>
          <a:prstGeom prst="roundRect">
            <a:avLst>
              <a:gd name="adj" fmla="val 10000"/>
            </a:avLst>
          </a:prstGeom>
          <a:solidFill>
            <a:srgbClr val="0A282A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LedgeRX  (= Reward System)  —  you buy this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18688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request e-coupon / redemption outcome  →  Landing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8092440" y="3566160"/>
            <a:ext cx="146304" cy="182880"/>
          </a:xfrm>
          <a:prstGeom prst="downArrow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09160" y="3794760"/>
            <a:ext cx="7086600" cy="1234440"/>
          </a:xfrm>
          <a:prstGeom prst="roundRect">
            <a:avLst>
              <a:gd name="adj" fmla="val 8000"/>
            </a:avLst>
          </a:prstGeom>
          <a:solidFill>
            <a:srgbClr val="0A2F24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3886200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EE7B7"/>
                </a:solidFill>
                <a:latin typeface="Calibri"/>
              </a:rPr>
              <a:t>UAF owns  ·  Centralized Backend Platform (CBP)  =  Landing 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20624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E-coupon inventory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Coupon redemption &amp; issue e-coupons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Track coupon usage  ·  orchestration after reward outcome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8092440" y="5074920"/>
            <a:ext cx="146304" cy="182880"/>
          </a:xfrm>
          <a:prstGeom prst="downArrow">
            <a:avLst/>
          </a:prstGeom>
          <a:solidFill>
            <a:srgbClr val="F9A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09160" y="5303520"/>
            <a:ext cx="7086600" cy="685800"/>
          </a:xfrm>
          <a:prstGeom prst="roundRect">
            <a:avLst>
              <a:gd name="adj" fmla="val 10000"/>
            </a:avLst>
          </a:prstGeom>
          <a:solidFill>
            <a:srgbClr val="2A1424"/>
          </a:solidFill>
          <a:ln w="17145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5376672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A8D4"/>
                </a:solidFill>
                <a:latin typeface="Calibri"/>
              </a:rPr>
              <a:t>UAF owns  ·  Coupon Partners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65099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COD    ·    Other partners (future)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172200"/>
            <a:ext cx="11460175" cy="45720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Clear split:   LedgeRX earns &amp; decides rewards   ·   UAF CBP turns outcomes into coupons / gifts / partner fulfill   ·   Apps stay the same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