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F5F9"/>
                </a:solidFill>
                <a:latin typeface="Calibri"/>
              </a:rPr>
              <a:t>LedgeRX  · 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High-level component edges  ·  Upstream systems → SDK → Product engine → Landing systems  ·  Add-ons extend the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14B8A6"/>
                </a:solidFill>
                <a:latin typeface="Calibri"/>
              </a:rPr>
              <a:t>CTO briefing  ·  1 slide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868680"/>
            <a:ext cx="1920240" cy="525780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222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84048" y="978408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996696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1220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99669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D3EE"/>
                </a:solidFill>
                <a:latin typeface="Calibri"/>
              </a:rPr>
              <a:t>Upstream Edge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371600"/>
            <a:ext cx="1645920" cy="1051560"/>
          </a:xfrm>
          <a:prstGeom prst="roundRect">
            <a:avLst>
              <a:gd name="adj" fmla="val 10000"/>
            </a:avLst>
          </a:prstGeom>
          <a:solidFill>
            <a:srgbClr val="0E2A4A"/>
          </a:solidFill>
          <a:ln w="1587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148132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Credit Card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" y="175564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Spend · auth · MCC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606040"/>
            <a:ext cx="1645920" cy="1051560"/>
          </a:xfrm>
          <a:prstGeom prst="roundRect">
            <a:avLst>
              <a:gd name="adj" fmla="val 10000"/>
            </a:avLst>
          </a:prstGeom>
          <a:solidFill>
            <a:srgbClr val="0E2A4A"/>
          </a:solidFill>
          <a:ln w="1587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271576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Loan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" y="299008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DD · drawdown · load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840480"/>
            <a:ext cx="1645920" cy="1051560"/>
          </a:xfrm>
          <a:prstGeom prst="roundRect">
            <a:avLst>
              <a:gd name="adj" fmla="val 10000"/>
            </a:avLst>
          </a:prstGeom>
          <a:solidFill>
            <a:srgbClr val="0E2A4A"/>
          </a:solidFill>
          <a:ln w="1587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" y="395020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App / CRM / Campaign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" y="422452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Engage · like · events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5212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Systems of record
No ledger logic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77440" y="868680"/>
            <a:ext cx="1965960" cy="525780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22225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7168" y="978408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87168" y="996696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1220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6352" y="996696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alibri"/>
              </a:rPr>
              <a:t>Integration Edge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132588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1F5F9"/>
                </a:solidFill>
                <a:latin typeface="Calibri"/>
              </a:rPr>
              <a:t>LedgeRX SDK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16002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One library · any upstream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14600" y="2103120"/>
            <a:ext cx="1691640" cy="822960"/>
          </a:xfrm>
          <a:prstGeom prst="roundRect">
            <a:avLst>
              <a:gd name="adj" fmla="val 10000"/>
            </a:avLst>
          </a:prstGeom>
          <a:solidFill>
            <a:srgbClr val="0E2A4A"/>
          </a:solidFill>
          <a:ln w="15875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24328" y="2212848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REST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24328" y="2487168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useCases · catalog · dry-run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14600" y="3063240"/>
            <a:ext cx="1691640" cy="822960"/>
          </a:xfrm>
          <a:prstGeom prst="roundRect">
            <a:avLst>
              <a:gd name="adj" fmla="val 10000"/>
            </a:avLst>
          </a:prstGeom>
          <a:solidFill>
            <a:srgbClr val="0E2A4A"/>
          </a:solidFill>
          <a:ln w="15875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24328" y="3172968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MQ / Kafka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3447288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Async event stream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14600" y="4023360"/>
            <a:ext cx="1691640" cy="822960"/>
          </a:xfrm>
          <a:prstGeom prst="roundRect">
            <a:avLst>
              <a:gd name="adj" fmla="val 10000"/>
            </a:avLst>
          </a:prstGeom>
          <a:solidFill>
            <a:srgbClr val="0E2A4A"/>
          </a:solidFill>
          <a:ln w="15875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24328" y="4133088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File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24328" y="4407408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Batch / bulk ingest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14600" y="507492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Idempotency · retries
Contract: ownerId + code
No hand-built JSON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26280" y="868680"/>
            <a:ext cx="3246120" cy="525780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22225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636008" y="978408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36008" y="996696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1220"/>
                </a:solidFill>
                <a:latin typeface="Calibr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65192" y="996696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DD4BF"/>
                </a:solidFill>
                <a:latin typeface="Calibri"/>
              </a:rPr>
              <a:t>Product Edge · LedgeRX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1280160"/>
            <a:ext cx="2971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DD4BF"/>
                </a:solidFill>
                <a:latin typeface="Calibri"/>
              </a:rPr>
              <a:t>Purchasable engine product  ·  microservice modules  ·  in-cluster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90872" y="1691640"/>
            <a:ext cx="1417320" cy="914400"/>
          </a:xfrm>
          <a:prstGeom prst="roundRect">
            <a:avLst>
              <a:gd name="adj" fmla="val 10000"/>
            </a:avLst>
          </a:prstGeom>
          <a:solidFill>
            <a:srgbClr val="0E2A4A"/>
          </a:solidFill>
          <a:ln w="15875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00600" y="1801368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Door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0600" y="2075688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Admit · policy · auto-wallet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1691640"/>
            <a:ext cx="1417320" cy="914400"/>
          </a:xfrm>
          <a:prstGeom prst="roundRect">
            <a:avLst>
              <a:gd name="adj" fmla="val 10000"/>
            </a:avLst>
          </a:prstGeom>
          <a:solidFill>
            <a:srgbClr val="0E2A4A"/>
          </a:solidFill>
          <a:ln w="15875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1801368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Brain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2075688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Rules · factors · formula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90872" y="2715768"/>
            <a:ext cx="1417320" cy="914400"/>
          </a:xfrm>
          <a:prstGeom prst="roundRect">
            <a:avLst>
              <a:gd name="adj" fmla="val 10000"/>
            </a:avLst>
          </a:prstGeom>
          <a:solidFill>
            <a:srgbClr val="0E2A4A"/>
          </a:solidFill>
          <a:ln w="15875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00600" y="2825496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Books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00600" y="3099816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ApplyPosting · DE settle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17920" y="2715768"/>
            <a:ext cx="1417320" cy="914400"/>
          </a:xfrm>
          <a:prstGeom prst="roundRect">
            <a:avLst>
              <a:gd name="adj" fmla="val 10000"/>
            </a:avLst>
          </a:prstGeom>
          <a:solidFill>
            <a:srgbClr val="0E2A4A"/>
          </a:solidFill>
          <a:ln w="15875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27648" y="2825496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Wallet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27648" y="3099816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1 owner · multi-ccy books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690872" y="3739896"/>
            <a:ext cx="1417320" cy="914400"/>
          </a:xfrm>
          <a:prstGeom prst="roundRect">
            <a:avLst>
              <a:gd name="adj" fmla="val 10000"/>
            </a:avLst>
          </a:prstGeom>
          <a:solidFill>
            <a:srgbClr val="0E2A4A"/>
          </a:solidFill>
          <a:ln w="15875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00600" y="3849624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COA &amp; Catalog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00600" y="4123944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Profiles · recipes · codes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17920" y="3739896"/>
            <a:ext cx="1417320" cy="914400"/>
          </a:xfrm>
          <a:prstGeom prst="roundRect">
            <a:avLst>
              <a:gd name="adj" fmla="val 10000"/>
            </a:avLst>
          </a:prstGeom>
          <a:solidFill>
            <a:srgbClr val="0E2A4A"/>
          </a:solidFill>
          <a:ln w="15875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27648" y="3849624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Event Bus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4123944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balance.updated · audit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690872" y="4709160"/>
            <a:ext cx="2916936" cy="502920"/>
          </a:xfrm>
          <a:prstGeom prst="roundRect">
            <a:avLst>
              <a:gd name="adj" fmla="val 10000"/>
            </a:avLst>
          </a:prstGeom>
          <a:solidFill>
            <a:srgbClr val="083A3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754880" y="4773168"/>
            <a:ext cx="2788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1F5F9"/>
                </a:solidFill>
                <a:latin typeface="Calibri"/>
              </a:rPr>
              <a:t>Event → Door → Brain → COA/Recipe → Posting → Balances → Out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90872" y="5349240"/>
            <a:ext cx="291693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Ops configures once (Admin)  ·  Upstream invokes use-case codes only
One engine — not N custom ledgers per channel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909560" y="868680"/>
            <a:ext cx="1417320" cy="525780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222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8019288" y="978408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19288" y="996696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1220"/>
                </a:solidFill>
                <a:latin typeface="Calibri"/>
              </a:rP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8472" y="99669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BBF24"/>
                </a:solidFill>
                <a:latin typeface="Calibri"/>
              </a:rPr>
              <a:t>Add-ons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01000" y="1325880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Beside core
Extend without fork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19288" y="2011680"/>
            <a:ext cx="1197864" cy="914400"/>
          </a:xfrm>
          <a:prstGeom prst="roundRect">
            <a:avLst>
              <a:gd name="adj" fmla="val 10000"/>
            </a:avLst>
          </a:prstGeom>
          <a:solidFill>
            <a:srgbClr val="0E2A4A"/>
          </a:solidFill>
          <a:ln w="1587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129016" y="2121408"/>
            <a:ext cx="1014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Wallet Tiering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29016" y="2395728"/>
            <a:ext cx="10149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Segments · benefits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19288" y="3063240"/>
            <a:ext cx="1197864" cy="914400"/>
          </a:xfrm>
          <a:prstGeom prst="roundRect">
            <a:avLst>
              <a:gd name="adj" fmla="val 10000"/>
            </a:avLst>
          </a:prstGeom>
          <a:solidFill>
            <a:srgbClr val="0E2A4A"/>
          </a:solidFill>
          <a:ln w="1587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129016" y="3172968"/>
            <a:ext cx="1014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Campaign packs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29016" y="3447288"/>
            <a:ext cx="10149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TBC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019288" y="4114800"/>
            <a:ext cx="1197864" cy="914400"/>
          </a:xfrm>
          <a:prstGeom prst="roundRect">
            <a:avLst>
              <a:gd name="adj" fmla="val 10000"/>
            </a:avLst>
          </a:prstGeom>
          <a:solidFill>
            <a:srgbClr val="0E2A4A"/>
          </a:solidFill>
          <a:ln w="1587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129016" y="4224528"/>
            <a:ext cx="1014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More modules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29016" y="4498848"/>
            <a:ext cx="10149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TBC …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01000" y="5303520"/>
            <a:ext cx="1234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Plugs into
Product Edge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509760" y="868680"/>
            <a:ext cx="2377440" cy="525780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222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9619488" y="978408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619488" y="996696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1220"/>
                </a:solidFill>
                <a:latin typeface="Calibri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48672" y="9966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78BFA"/>
                </a:solidFill>
                <a:latin typeface="Calibri"/>
              </a:rPr>
              <a:t>Landing Edge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19488" y="1325880"/>
            <a:ext cx="21579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Downstream results
&amp; client callbacks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619488" y="1874519"/>
            <a:ext cx="2157984" cy="777240"/>
          </a:xfrm>
          <a:prstGeom prst="roundRect">
            <a:avLst>
              <a:gd name="adj" fmla="val 10000"/>
            </a:avLst>
          </a:prstGeom>
          <a:solidFill>
            <a:srgbClr val="0E2A4A"/>
          </a:solidFill>
          <a:ln w="1587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729216" y="1984247"/>
            <a:ext cx="19751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E-coupon System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29216" y="2258567"/>
            <a:ext cx="19751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Issue / redeem hooks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619488" y="2743199"/>
            <a:ext cx="2157984" cy="777240"/>
          </a:xfrm>
          <a:prstGeom prst="roundRect">
            <a:avLst>
              <a:gd name="adj" fmla="val 10000"/>
            </a:avLst>
          </a:prstGeom>
          <a:solidFill>
            <a:srgbClr val="0E2A4A"/>
          </a:solidFill>
          <a:ln w="1587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729216" y="2852927"/>
            <a:ext cx="19751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Gift System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729216" y="3127247"/>
            <a:ext cx="19751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Fulfillment triggers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619488" y="3611879"/>
            <a:ext cx="2157984" cy="777240"/>
          </a:xfrm>
          <a:prstGeom prst="roundRect">
            <a:avLst>
              <a:gd name="adj" fmla="val 10000"/>
            </a:avLst>
          </a:prstGeom>
          <a:solidFill>
            <a:srgbClr val="0E2A4A"/>
          </a:solidFill>
          <a:ln w="1587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29216" y="3721607"/>
            <a:ext cx="19751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Notification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729216" y="3995927"/>
            <a:ext cx="19751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Push · SMS · inbox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619488" y="4480558"/>
            <a:ext cx="2157984" cy="777240"/>
          </a:xfrm>
          <a:prstGeom prst="roundRect">
            <a:avLst>
              <a:gd name="adj" fmla="val 10000"/>
            </a:avLst>
          </a:prstGeom>
          <a:solidFill>
            <a:srgbClr val="0E2A4A"/>
          </a:solidFill>
          <a:ln w="1587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729216" y="4590286"/>
            <a:ext cx="19751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Client core / xapi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729216" y="4864606"/>
            <a:ext cx="19751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Balances · CRM sync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19488" y="5486400"/>
            <a:ext cx="21579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Kafka / webhooks out
ledger.balance.updated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2194560" y="2286000"/>
            <a:ext cx="237744" cy="182880"/>
          </a:xfrm>
          <a:prstGeom prst="rightArrow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ight Arrow 95"/>
          <p:cNvSpPr/>
          <p:nvPr/>
        </p:nvSpPr>
        <p:spPr>
          <a:xfrm>
            <a:off x="4343400" y="2286000"/>
            <a:ext cx="237744" cy="182880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ight Arrow 96"/>
          <p:cNvSpPr/>
          <p:nvPr/>
        </p:nvSpPr>
        <p:spPr>
          <a:xfrm>
            <a:off x="7772400" y="2286000"/>
            <a:ext cx="237744" cy="18288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ight Arrow 97"/>
          <p:cNvSpPr/>
          <p:nvPr/>
        </p:nvSpPr>
        <p:spPr>
          <a:xfrm>
            <a:off x="9326880" y="2286000"/>
            <a:ext cx="237744" cy="18288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ight Arrow 98"/>
          <p:cNvSpPr/>
          <p:nvPr/>
        </p:nvSpPr>
        <p:spPr>
          <a:xfrm>
            <a:off x="2194560" y="3383280"/>
            <a:ext cx="237744" cy="182880"/>
          </a:xfrm>
          <a:prstGeom prst="rightArrow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ight Arrow 99"/>
          <p:cNvSpPr/>
          <p:nvPr/>
        </p:nvSpPr>
        <p:spPr>
          <a:xfrm>
            <a:off x="4343400" y="3383280"/>
            <a:ext cx="237744" cy="182880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ight Arrow 100"/>
          <p:cNvSpPr/>
          <p:nvPr/>
        </p:nvSpPr>
        <p:spPr>
          <a:xfrm>
            <a:off x="7772400" y="3383280"/>
            <a:ext cx="237744" cy="18288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ight Arrow 101"/>
          <p:cNvSpPr/>
          <p:nvPr/>
        </p:nvSpPr>
        <p:spPr>
          <a:xfrm>
            <a:off x="9326880" y="3383280"/>
            <a:ext cx="237744" cy="18288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ight Arrow 102"/>
          <p:cNvSpPr/>
          <p:nvPr/>
        </p:nvSpPr>
        <p:spPr>
          <a:xfrm>
            <a:off x="2194560" y="4480560"/>
            <a:ext cx="237744" cy="182880"/>
          </a:xfrm>
          <a:prstGeom prst="rightArrow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ight Arrow 103"/>
          <p:cNvSpPr/>
          <p:nvPr/>
        </p:nvSpPr>
        <p:spPr>
          <a:xfrm>
            <a:off x="4343400" y="4480560"/>
            <a:ext cx="237744" cy="182880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ight Arrow 104"/>
          <p:cNvSpPr/>
          <p:nvPr/>
        </p:nvSpPr>
        <p:spPr>
          <a:xfrm>
            <a:off x="7772400" y="4480560"/>
            <a:ext cx="237744" cy="18288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ight Arrow 105"/>
          <p:cNvSpPr/>
          <p:nvPr/>
        </p:nvSpPr>
        <p:spPr>
          <a:xfrm>
            <a:off x="9326880" y="4480560"/>
            <a:ext cx="237744" cy="18288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274320" y="6263640"/>
            <a:ext cx="11612880" cy="41148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1480" y="632764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1F5F9"/>
                </a:solidFill>
                <a:latin typeface="Calibri"/>
              </a:rPr>
              <a:t>LedgeRX  =  powerful single product engine   ·   multi-channel via SDK   ·   ops-configured catalog   ·   outbound landing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326880" y="632764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2DD4BF"/>
                </a:solidFill>
                <a:latin typeface="Calibri"/>
              </a:rPr>
              <a:t>1 /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