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30"/>
    <p:sldId id="280" r:id="rId31"/>
    <p:sldId id="281" r:id="rId32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0"/>
            <a:ext cx="4114800" cy="6858000"/>
          </a:xfrm>
          <a:prstGeom prst="rect">
            <a:avLst/>
          </a:prstGeom>
          <a:solidFill>
            <a:srgbClr val="0A1C3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 FINANCE  ·  CTO &amp; INTERNAL IT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product briefing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· capabilities · architecture · landscape apply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5943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draft for alignment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0" y="13716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0" y="16642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SDK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12480" y="24688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0" y="27614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architecture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0" y="35661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0" y="38587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UAF landscape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12480" y="46634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0" y="49560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mapping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deck — product to UAF apply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155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417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A1–A6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017520" y="14173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· value · SDK-first · IT journey · capabilities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11155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331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B7–B10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017520" y="23317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Netflix-style landscape · request paths · engagement · outcomes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3017520"/>
            <a:ext cx="11155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3246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C11–C16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17520" y="32461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Whiteboard as-is · wishlist · target apply · box mapping · runtime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3931920"/>
            <a:ext cx="11155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4160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D17–D21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17520" y="41605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map guide · CC 01–21 · Loan · workshop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" y="4846320"/>
            <a:ext cx="11155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5074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017520" y="50749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next conversation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Full briefing  ·  Confidential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enterprise problem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points are financial liabilities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553212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554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1600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scatter across CRM, campaigns, files.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1188720"/>
            <a:ext cx="553212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1554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06640" y="1600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change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29400" y="22860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rules wait on release trains.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3520440"/>
            <a:ext cx="553212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886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00200" y="3931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audit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46177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prove earn or skip.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09360" y="3520440"/>
            <a:ext cx="553212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9400" y="3886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406640" y="3931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tax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29400" y="46177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channel re-builds wallet logic.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Full briefing  ·  Confidential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LedgeRX 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microservice for programme balances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55680" cy="1234440"/>
          </a:xfrm>
          <a:prstGeom prst="roundRect">
            <a:avLst>
              <a:gd name="adj" fmla="val 5926"/>
            </a:avLst>
          </a:prstGeom>
          <a:solidFill>
            <a:srgbClr val="0C234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 record for wallets &amp; loyalty points — cloud-native, double-entry, runtime-configurable. UA Finance Internal IT integrates via Java SDK + stable HTTP APIs.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697480"/>
            <a:ext cx="544068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880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provide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337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(ledger-engine)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749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SDK for Internal IT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160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 plane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572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· Brain · Books · COA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983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/ trace / fail ops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2697480"/>
            <a:ext cx="544068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37960" y="2880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 Finance owns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7960" y="3337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/ membership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3749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&amp; loan cores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4160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cc-xapi / adapters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37960" y="4572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&amp; coupon fulfil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4983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&amp; observability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Full briefing  ·  Confidential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LedgeRX is built for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3611880" cy="466344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0" y="1645920"/>
            <a:ext cx="868680" cy="868680"/>
          </a:xfrm>
          <a:prstGeom prst="ellipse">
            <a:avLst/>
          </a:prstGeom>
          <a:solidFill>
            <a:srgbClr val="E6F5F3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18288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/ retail earn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→ points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0120" y="4206240"/>
            <a:ext cx="26974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5262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rule change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43400" y="1234440"/>
            <a:ext cx="3611880" cy="466344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0" y="1645920"/>
            <a:ext cx="868680" cy="868680"/>
          </a:xfrm>
          <a:prstGeom prst="ellipse">
            <a:avLst/>
          </a:prstGeom>
          <a:solidFill>
            <a:srgbClr val="E6F5F3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0" y="18288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72000" y="28346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Multi-line books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72000" y="35661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vs Loan COA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00600" y="4206240"/>
            <a:ext cx="26974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45262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 · separable books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83880" y="1234440"/>
            <a:ext cx="3611880" cy="466344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509760" y="1645920"/>
            <a:ext cx="868680" cy="868680"/>
          </a:xfrm>
          <a:prstGeom prst="ellipse">
            <a:avLst/>
          </a:prstGeom>
          <a:solidFill>
            <a:srgbClr val="E6F5F3"/>
          </a:solidFill>
          <a:ln/>
        </p:spPr>
      </p:sp>
      <p:sp>
        <p:nvSpPr>
          <p:cNvPr id="21" name="Text 19"/>
          <p:cNvSpPr/>
          <p:nvPr/>
        </p:nvSpPr>
        <p:spPr>
          <a:xfrm>
            <a:off x="9509760" y="18288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412480" y="28346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→ settle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412480" y="35661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lock LP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641080" y="4206240"/>
            <a:ext cx="26974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0" y="45262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Issuer-style control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Full briefing  ·  Confidential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SDK-first for Internal 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of integration is a product feature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0C234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25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Java SDK (ledger-engine-sdk) — typed clients, playbooks, dry-run — so cc-xapi / loan adapters integrate in a sprint, not a research project.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423160"/>
            <a:ext cx="36118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697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SDK package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JAR under contract for enterprise 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2423160"/>
            <a:ext cx="36118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2697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Happy-path APIs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32004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· ingest · dry-run · balances · history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83880" y="2423160"/>
            <a:ext cx="36118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0" y="2697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0" y="32004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Bootstrap, errors, idempotent eventId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4251960"/>
            <a:ext cx="36118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45262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control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50292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/ Brain / COA without platform release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43400" y="4251960"/>
            <a:ext cx="36118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0" y="45262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cut-over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0" y="50292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+ eligibilityTrace + fail queue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83880" y="4251960"/>
            <a:ext cx="36118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12480" y="45262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native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12480" y="50292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ClusterIP · mesh · your observability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Full briefing  ·  Confidential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IT journey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SDK → production events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60120" y="1280160"/>
            <a:ext cx="548640" cy="548640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3716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00200" y="1508760"/>
            <a:ext cx="118872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2103120"/>
            <a:ext cx="1828800" cy="2194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 + guide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26080" y="1280160"/>
            <a:ext cx="548640" cy="548640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0" y="13716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66160" y="1508760"/>
            <a:ext cx="118872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4" name="Shape 12"/>
          <p:cNvSpPr/>
          <p:nvPr/>
        </p:nvSpPr>
        <p:spPr>
          <a:xfrm>
            <a:off x="2331720" y="2103120"/>
            <a:ext cx="1828800" cy="2194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2316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423160" y="3108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+ PG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92040" y="1280160"/>
            <a:ext cx="548640" cy="548640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3716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32120" y="1508760"/>
            <a:ext cx="118872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Shape 18"/>
          <p:cNvSpPr/>
          <p:nvPr/>
        </p:nvSpPr>
        <p:spPr>
          <a:xfrm>
            <a:off x="4297680" y="2103120"/>
            <a:ext cx="1828800" cy="2194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38912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389120" y="3108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Brain COA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0" y="1280160"/>
            <a:ext cx="548640" cy="548640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13716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498080" y="1508760"/>
            <a:ext cx="118872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6" name="Shape 24"/>
          <p:cNvSpPr/>
          <p:nvPr/>
        </p:nvSpPr>
        <p:spPr>
          <a:xfrm>
            <a:off x="6263640" y="2103120"/>
            <a:ext cx="1828800" cy="2194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5508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355080" y="3108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xapi + SDK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823960" y="1280160"/>
            <a:ext cx="548640" cy="548640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30" name="Text 28"/>
          <p:cNvSpPr/>
          <p:nvPr/>
        </p:nvSpPr>
        <p:spPr>
          <a:xfrm>
            <a:off x="8823960" y="13716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464040" y="1508760"/>
            <a:ext cx="118872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2" name="Shape 30"/>
          <p:cNvSpPr/>
          <p:nvPr/>
        </p:nvSpPr>
        <p:spPr>
          <a:xfrm>
            <a:off x="8229600" y="2103120"/>
            <a:ext cx="1828800" cy="2194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32104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21040" y="3108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matrix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0789920" y="1280160"/>
            <a:ext cx="548640" cy="548640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36" name="Text 34"/>
          <p:cNvSpPr/>
          <p:nvPr/>
        </p:nvSpPr>
        <p:spPr>
          <a:xfrm>
            <a:off x="10789920" y="13716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0195560" y="2103120"/>
            <a:ext cx="1828800" cy="2194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028700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0287000" y="3108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runbooks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02920" y="4709160"/>
            <a:ext cx="11155680" cy="1325880"/>
          </a:xfrm>
          <a:prstGeom prst="roundRect">
            <a:avLst>
              <a:gd name="adj" fmla="val 5517"/>
            </a:avLst>
          </a:prstGeom>
          <a:solidFill>
            <a:srgbClr val="E6F5F3"/>
          </a:solidFill>
          <a:ln/>
        </p:spPr>
      </p:sp>
      <p:sp>
        <p:nvSpPr>
          <p:cNvPr id="41" name="Text 39"/>
          <p:cNvSpPr/>
          <p:nvPr/>
        </p:nvSpPr>
        <p:spPr>
          <a:xfrm>
            <a:off x="822960" y="4937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Buzzword-accurate · engineering-honest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22960" y="53949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API-first · SDK-assisted · cloud-native · event-driven earn · runtime policy engine · audit-grade double-entry · zero-trust friendly (in-cluster; API key roadmap).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Full briefing  ·  Confidential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· Brain · Wallet · Books · COA · Trust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36118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463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control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· auto-wallet · default COA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143000"/>
            <a:ext cx="36118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1463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17720" y="19659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2423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+ formula JSON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83880" y="1143000"/>
            <a:ext cx="36118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58200" y="1463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58200" y="19659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books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58200" y="2423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ownerId · multi-ccy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3566160"/>
            <a:ext cx="36118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3886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77240" y="43891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Double-entry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48463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pool · legs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343400" y="3566160"/>
            <a:ext cx="36118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17720" y="3886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617720" y="43891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17720" y="48463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/ Loan profiles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183880" y="3566160"/>
            <a:ext cx="36118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58200" y="3886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458200" y="43891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pack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58200" y="48463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· trace · fail queue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Full briefing  ·  Confidential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E1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UA FINANCE CTO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microservices landscape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Netflix-style platform view  ·  ★ LedgeRX + SDK  ·  Internal IT adapters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11521440" cy="822960"/>
          </a:xfrm>
          <a:prstGeom prst="roundRect">
            <a:avLst>
              <a:gd name="adj" fmla="val 6667"/>
            </a:avLst>
          </a:prstGeom>
          <a:solidFill>
            <a:srgbClr val="12182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71600" y="1353312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1A2332"/>
          </a:solidFill>
          <a:ln/>
        </p:spPr>
      </p:sp>
      <p:sp>
        <p:nvSpPr>
          <p:cNvPr id="9" name="Text 7"/>
          <p:cNvSpPr/>
          <p:nvPr/>
        </p:nvSpPr>
        <p:spPr>
          <a:xfrm>
            <a:off x="1408176" y="1426464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08176" y="168249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· e6 · POS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83280" y="1353312"/>
            <a:ext cx="1920240" cy="594360"/>
          </a:xfrm>
          <a:prstGeom prst="roundRect">
            <a:avLst>
              <a:gd name="adj" fmla="val 9231"/>
            </a:avLst>
          </a:prstGeom>
          <a:solidFill>
            <a:srgbClr val="1F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3419856" y="142646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19856" y="168249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· TLS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0" y="1353312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5522976" y="1426464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22976" y="168249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· retries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98080" y="1353312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1A2332"/>
          </a:solidFill>
          <a:ln/>
        </p:spPr>
      </p:sp>
      <p:sp>
        <p:nvSpPr>
          <p:cNvPr id="18" name="Text 16"/>
          <p:cNvSpPr/>
          <p:nvPr/>
        </p:nvSpPr>
        <p:spPr>
          <a:xfrm>
            <a:off x="7534656" y="1426464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34656" y="168249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IdP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509760" y="1353312"/>
            <a:ext cx="2011680" cy="594360"/>
          </a:xfrm>
          <a:prstGeom prst="roundRect">
            <a:avLst>
              <a:gd name="adj" fmla="val 9231"/>
            </a:avLst>
          </a:prstGeom>
          <a:solidFill>
            <a:srgbClr val="1A2332"/>
          </a:solidFill>
          <a:ln/>
        </p:spPr>
      </p:sp>
      <p:sp>
        <p:nvSpPr>
          <p:cNvPr id="21" name="Text 19"/>
          <p:cNvSpPr/>
          <p:nvPr/>
        </p:nvSpPr>
        <p:spPr>
          <a:xfrm>
            <a:off x="9546336" y="142646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546336" y="168249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2194560"/>
            <a:ext cx="11521440" cy="2240280"/>
          </a:xfrm>
          <a:prstGeom prst="roundRect">
            <a:avLst>
              <a:gd name="adj" fmla="val 2449"/>
            </a:avLst>
          </a:prstGeom>
          <a:solidFill>
            <a:srgbClr val="121826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0175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325880" y="2331720"/>
            <a:ext cx="1508760" cy="640080"/>
          </a:xfrm>
          <a:prstGeom prst="roundRect">
            <a:avLst>
              <a:gd name="adj" fmla="val 8571"/>
            </a:avLst>
          </a:prstGeom>
          <a:solidFill>
            <a:srgbClr val="243044"/>
          </a:solidFill>
          <a:ln/>
        </p:spPr>
      </p:sp>
      <p:sp>
        <p:nvSpPr>
          <p:cNvPr id="26" name="Text 24"/>
          <p:cNvSpPr/>
          <p:nvPr/>
        </p:nvSpPr>
        <p:spPr>
          <a:xfrm>
            <a:off x="1362456" y="2404872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62456" y="2660904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ownerId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971800" y="2331720"/>
            <a:ext cx="1508760" cy="640080"/>
          </a:xfrm>
          <a:prstGeom prst="roundRect">
            <a:avLst>
              <a:gd name="adj" fmla="val 8571"/>
            </a:avLst>
          </a:prstGeom>
          <a:solidFill>
            <a:srgbClr val="243044"/>
          </a:solidFill>
          <a:ln/>
        </p:spPr>
      </p:sp>
      <p:sp>
        <p:nvSpPr>
          <p:cNvPr id="29" name="Text 27"/>
          <p:cNvSpPr/>
          <p:nvPr/>
        </p:nvSpPr>
        <p:spPr>
          <a:xfrm>
            <a:off x="3008376" y="2404872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cc-xapi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008376" y="2660904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17720" y="2331720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243044"/>
          </a:solidFill>
          <a:ln/>
        </p:spPr>
      </p:sp>
      <p:sp>
        <p:nvSpPr>
          <p:cNvPr id="32" name="Text 30"/>
          <p:cNvSpPr/>
          <p:nvPr/>
        </p:nvSpPr>
        <p:spPr>
          <a:xfrm>
            <a:off x="4654296" y="2404872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path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54296" y="2660904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17920" y="2286000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0" y="2377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LedgeRX + SDK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17920" y="26974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ledger-engine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732520" y="2331720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243044"/>
          </a:solidFill>
          <a:ln/>
        </p:spPr>
      </p:sp>
      <p:sp>
        <p:nvSpPr>
          <p:cNvPr id="38" name="Text 36"/>
          <p:cNvSpPr/>
          <p:nvPr/>
        </p:nvSpPr>
        <p:spPr>
          <a:xfrm>
            <a:off x="8769096" y="2404872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769096" y="2660904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0287000" y="2331720"/>
            <a:ext cx="1325880" cy="640080"/>
          </a:xfrm>
          <a:prstGeom prst="roundRect">
            <a:avLst>
              <a:gd name="adj" fmla="val 8571"/>
            </a:avLst>
          </a:prstGeom>
          <a:solidFill>
            <a:srgbClr val="243044"/>
          </a:solidFill>
          <a:ln/>
        </p:spPr>
      </p:sp>
      <p:sp>
        <p:nvSpPr>
          <p:cNvPr id="41" name="Text 39"/>
          <p:cNvSpPr/>
          <p:nvPr/>
        </p:nvSpPr>
        <p:spPr>
          <a:xfrm>
            <a:off x="10323576" y="2404872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323576" y="2660904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325880" y="3154680"/>
            <a:ext cx="1508760" cy="640080"/>
          </a:xfrm>
          <a:prstGeom prst="roundRect">
            <a:avLst>
              <a:gd name="adj" fmla="val 8571"/>
            </a:avLst>
          </a:prstGeom>
          <a:solidFill>
            <a:srgbClr val="1E2A3A"/>
          </a:solidFill>
          <a:ln/>
        </p:spPr>
      </p:sp>
      <p:sp>
        <p:nvSpPr>
          <p:cNvPr id="44" name="Text 42"/>
          <p:cNvSpPr/>
          <p:nvPr/>
        </p:nvSpPr>
        <p:spPr>
          <a:xfrm>
            <a:off x="1362456" y="3227832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362456" y="3483864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971800" y="3154680"/>
            <a:ext cx="1508760" cy="640080"/>
          </a:xfrm>
          <a:prstGeom prst="roundRect">
            <a:avLst>
              <a:gd name="adj" fmla="val 8571"/>
            </a:avLst>
          </a:prstGeom>
          <a:solidFill>
            <a:srgbClr val="1E2A3A"/>
          </a:solidFill>
          <a:ln/>
        </p:spPr>
      </p:sp>
      <p:sp>
        <p:nvSpPr>
          <p:cNvPr id="47" name="Text 45"/>
          <p:cNvSpPr/>
          <p:nvPr/>
        </p:nvSpPr>
        <p:spPr>
          <a:xfrm>
            <a:off x="3008376" y="3227832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008376" y="3483864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617720" y="3154680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134E4A"/>
          </a:solidFill>
          <a:ln/>
        </p:spPr>
      </p:sp>
      <p:sp>
        <p:nvSpPr>
          <p:cNvPr id="50" name="Text 48"/>
          <p:cNvSpPr/>
          <p:nvPr/>
        </p:nvSpPr>
        <p:spPr>
          <a:xfrm>
            <a:off x="4654296" y="3227832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BFF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654296" y="3483864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UI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217920" y="315468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134E4A"/>
          </a:solidFill>
          <a:ln/>
        </p:spPr>
      </p:sp>
      <p:sp>
        <p:nvSpPr>
          <p:cNvPr id="53" name="Text 51"/>
          <p:cNvSpPr/>
          <p:nvPr/>
        </p:nvSpPr>
        <p:spPr>
          <a:xfrm>
            <a:off x="6254496" y="322783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adapters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254496" y="348386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clients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955280" y="315468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1E2A3A"/>
          </a:solidFill>
          <a:ln/>
        </p:spPr>
      </p:sp>
      <p:sp>
        <p:nvSpPr>
          <p:cNvPr id="56" name="Text 54"/>
          <p:cNvSpPr/>
          <p:nvPr/>
        </p:nvSpPr>
        <p:spPr>
          <a:xfrm>
            <a:off x="7991856" y="322783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991856" y="348386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9646920" y="3154680"/>
            <a:ext cx="1965960" cy="640080"/>
          </a:xfrm>
          <a:prstGeom prst="roundRect">
            <a:avLst>
              <a:gd name="adj" fmla="val 8571"/>
            </a:avLst>
          </a:prstGeom>
          <a:solidFill>
            <a:srgbClr val="1E2A3A"/>
          </a:solidFill>
          <a:ln/>
        </p:spPr>
      </p:sp>
      <p:sp>
        <p:nvSpPr>
          <p:cNvPr id="59" name="Text 57"/>
          <p:cNvSpPr/>
          <p:nvPr/>
        </p:nvSpPr>
        <p:spPr>
          <a:xfrm>
            <a:off x="9683496" y="3227832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9683496" y="3483864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325880" y="397764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· Brain · Books · COA · Trust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320040" y="4617720"/>
            <a:ext cx="11521440" cy="640080"/>
          </a:xfrm>
          <a:prstGeom prst="roundRect">
            <a:avLst>
              <a:gd name="adj" fmla="val 8571"/>
            </a:avLst>
          </a:prstGeom>
          <a:solidFill>
            <a:srgbClr val="1A1030"/>
          </a:solidFill>
          <a:ln/>
        </p:spPr>
      </p:sp>
      <p:sp>
        <p:nvSpPr>
          <p:cNvPr id="63" name="Text 61"/>
          <p:cNvSpPr/>
          <p:nvPr/>
        </p:nvSpPr>
        <p:spPr>
          <a:xfrm>
            <a:off x="457200" y="477316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371600" y="470916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2E1065"/>
          </a:solidFill>
          <a:ln/>
        </p:spPr>
      </p:sp>
      <p:sp>
        <p:nvSpPr>
          <p:cNvPr id="65" name="Text 63"/>
          <p:cNvSpPr/>
          <p:nvPr/>
        </p:nvSpPr>
        <p:spPr>
          <a:xfrm>
            <a:off x="1408176" y="478231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Kafka* optional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1408176" y="503834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840480" y="470916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2E1065"/>
          </a:solidFill>
          <a:ln/>
        </p:spPr>
      </p:sp>
      <p:sp>
        <p:nvSpPr>
          <p:cNvPr id="68" name="Text 66"/>
          <p:cNvSpPr/>
          <p:nvPr/>
        </p:nvSpPr>
        <p:spPr>
          <a:xfrm>
            <a:off x="3877056" y="478231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 events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3877056" y="503834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+ Loan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400800" y="470916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2E1065"/>
          </a:solidFill>
          <a:ln/>
        </p:spPr>
      </p:sp>
      <p:sp>
        <p:nvSpPr>
          <p:cNvPr id="71" name="Text 69"/>
          <p:cNvSpPr/>
          <p:nvPr/>
        </p:nvSpPr>
        <p:spPr>
          <a:xfrm>
            <a:off x="6437376" y="478231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outcomes*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6437376" y="503834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earned/skip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8961120" y="4709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312E81"/>
          </a:solidFill>
          <a:ln/>
        </p:spPr>
      </p:sp>
      <p:sp>
        <p:nvSpPr>
          <p:cNvPr id="74" name="Text 72"/>
          <p:cNvSpPr/>
          <p:nvPr/>
        </p:nvSpPr>
        <p:spPr>
          <a:xfrm>
            <a:off x="8997696" y="478231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sync SDK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8997696" y="503834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async-ready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320040" y="5394960"/>
            <a:ext cx="11521440" cy="685800"/>
          </a:xfrm>
          <a:prstGeom prst="roundRect">
            <a:avLst>
              <a:gd name="adj" fmla="val 8000"/>
            </a:avLst>
          </a:prstGeom>
          <a:solidFill>
            <a:srgbClr val="0F1F17"/>
          </a:solidFill>
          <a:ln/>
        </p:spPr>
      </p:sp>
      <p:sp>
        <p:nvSpPr>
          <p:cNvPr id="77" name="Text 75"/>
          <p:cNvSpPr/>
          <p:nvPr/>
        </p:nvSpPr>
        <p:spPr>
          <a:xfrm>
            <a:off x="457200" y="555955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1371600" y="5504688"/>
            <a:ext cx="1828800" cy="475488"/>
          </a:xfrm>
          <a:prstGeom prst="roundRect">
            <a:avLst>
              <a:gd name="adj" fmla="val 11538"/>
            </a:avLst>
          </a:prstGeom>
          <a:solidFill>
            <a:srgbClr val="14532D"/>
          </a:solidFill>
          <a:ln/>
        </p:spPr>
      </p:sp>
      <p:sp>
        <p:nvSpPr>
          <p:cNvPr id="79" name="Text 77"/>
          <p:cNvSpPr/>
          <p:nvPr/>
        </p:nvSpPr>
        <p:spPr>
          <a:xfrm>
            <a:off x="1408176" y="557784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DB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1408176" y="583387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3383280" y="5504688"/>
            <a:ext cx="2468880" cy="475488"/>
          </a:xfrm>
          <a:prstGeom prst="roundRect">
            <a:avLst>
              <a:gd name="adj" fmla="val 11538"/>
            </a:avLst>
          </a:prstGeom>
          <a:solidFill>
            <a:srgbClr val="115E59"/>
          </a:solidFill>
          <a:ln/>
        </p:spPr>
      </p:sp>
      <p:sp>
        <p:nvSpPr>
          <p:cNvPr id="82" name="Text 80"/>
          <p:cNvSpPr/>
          <p:nvPr/>
        </p:nvSpPr>
        <p:spPr>
          <a:xfrm>
            <a:off x="3419856" y="557784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PG ★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3419856" y="583387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rules legs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6035040" y="5504688"/>
            <a:ext cx="1828800" cy="475488"/>
          </a:xfrm>
          <a:prstGeom prst="roundRect">
            <a:avLst>
              <a:gd name="adj" fmla="val 11538"/>
            </a:avLst>
          </a:prstGeom>
          <a:solidFill>
            <a:srgbClr val="14532D"/>
          </a:solidFill>
          <a:ln/>
        </p:spPr>
      </p:sp>
      <p:sp>
        <p:nvSpPr>
          <p:cNvPr id="85" name="Text 83"/>
          <p:cNvSpPr/>
          <p:nvPr/>
        </p:nvSpPr>
        <p:spPr>
          <a:xfrm>
            <a:off x="6071616" y="557784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DBs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6071616" y="583387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8046720" y="5504688"/>
            <a:ext cx="1828800" cy="475488"/>
          </a:xfrm>
          <a:prstGeom prst="roundRect">
            <a:avLst>
              <a:gd name="adj" fmla="val 11538"/>
            </a:avLst>
          </a:prstGeom>
          <a:solidFill>
            <a:srgbClr val="14532D"/>
          </a:solidFill>
          <a:ln/>
        </p:spPr>
      </p:sp>
      <p:sp>
        <p:nvSpPr>
          <p:cNvPr id="88" name="Text 86"/>
          <p:cNvSpPr/>
          <p:nvPr/>
        </p:nvSpPr>
        <p:spPr>
          <a:xfrm>
            <a:off x="8083296" y="557784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8083296" y="583387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10058400" y="5504688"/>
            <a:ext cx="1554480" cy="475488"/>
          </a:xfrm>
          <a:prstGeom prst="roundRect">
            <a:avLst>
              <a:gd name="adj" fmla="val 11538"/>
            </a:avLst>
          </a:prstGeom>
          <a:solidFill>
            <a:srgbClr val="14532D"/>
          </a:solidFill>
          <a:ln/>
        </p:spPr>
      </p:sp>
      <p:sp>
        <p:nvSpPr>
          <p:cNvPr id="91" name="Text 89"/>
          <p:cNvSpPr/>
          <p:nvPr/>
        </p:nvSpPr>
        <p:spPr>
          <a:xfrm>
            <a:off x="10094976" y="557784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10094976" y="583387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411480" y="626364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Illustrative. ★ LedgeRX-owned. Not three ledger microservices.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Internal IT plugs 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call paths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556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43000"/>
            <a:ext cx="109728" cy="71323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25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0896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/ job → SDK.createWallet() → LedgeRX → PG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947672"/>
            <a:ext cx="111556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947672"/>
            <a:ext cx="109728" cy="7132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1305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sync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08960" y="2130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cc-xapi / loan → SDK.ingestEvent() → Door→Brain→Books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2752344"/>
            <a:ext cx="111556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752344"/>
            <a:ext cx="109728" cy="71323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93522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08960" y="293522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IT/Ops → SDK.dryRun() → trace only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3557016"/>
            <a:ext cx="111556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557016"/>
            <a:ext cx="109728" cy="71323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73989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08960" y="37398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→ Admin/API → Door·Brain·COA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4361688"/>
            <a:ext cx="111556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4361688"/>
            <a:ext cx="109728" cy="71323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5445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108960" y="45445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BFF → SDK.getWallet() → balances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5166360"/>
            <a:ext cx="111556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5166360"/>
            <a:ext cx="109728" cy="71323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349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later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108960" y="5349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consumer → same event contract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Full briefing  ·  Confidential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UA Finance receives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package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91840" y="1325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engine — deployable domain service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91840" y="2103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client — onboard, ingest, dry-run, query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269748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2880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91840" y="2880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Door, Brain, COA, simulator, review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47472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91840" y="3657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START_HERE · flows · event skeleton · runbooks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920" y="425196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4434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pack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918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 apply + Netflix-style CTO view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502920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5212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path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291840" y="5212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delivery · IT workshop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Full briefing  ·  Confidential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 UA Finance landscape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whiteboard (CC + Loan Reward) → target architecture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Whiteboard as-is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UAF Reward System (CC + Loan)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743200" cy="4937760"/>
          </a:xfrm>
          <a:prstGeom prst="roundRect">
            <a:avLst>
              <a:gd name="adj" fmla="val 2000"/>
            </a:avLst>
          </a:prstGeom>
          <a:solidFill>
            <a:srgbClr val="DBEAFE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80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e6 web (CC)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468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~21 CC events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017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(Loan)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Loan events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4114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cc-xapi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4663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loan path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91840" y="1097280"/>
            <a:ext cx="5577840" cy="4937760"/>
          </a:xfrm>
          <a:prstGeom prst="roundRect">
            <a:avLst>
              <a:gd name="adj" fmla="val 1111"/>
            </a:avLst>
          </a:prstGeom>
          <a:solidFill>
            <a:srgbClr val="D1FAE5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74720" y="12801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(green)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2044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+ SDK v1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3504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integrate surface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20440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3504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/ wallet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2044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Referrer MGT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35040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2044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35040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movements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20440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Rules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35040" y="3657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520440" y="4114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Config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035040" y="4114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/ formulas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520440" y="4572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× N (yellow)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035040" y="4572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books drawn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520440" y="5029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Rules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035040" y="5029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policy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052560" y="1097280"/>
            <a:ext cx="2743200" cy="4937760"/>
          </a:xfrm>
          <a:prstGeom prst="roundRect">
            <a:avLst>
              <a:gd name="adj" fmla="val 2000"/>
            </a:avLst>
          </a:prstGeom>
          <a:solidFill>
            <a:srgbClr val="FEF3C7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189720" y="1280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189720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Loan:CC existing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189720" y="2468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Loan:Loan existing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189720" y="3017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E-Coupon new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189720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new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89720" y="4114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new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189720" y="4663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Full briefing  ·  Confidential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ownership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sticky → honest split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88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0" y="1188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6384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1124712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cashback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1828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+ xapi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86384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→ Books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11247120" cy="68580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stack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40480" y="2560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03520" y="2560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86384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+ history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1124712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291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Redemption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840480" y="3291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P1–2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520" y="3291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+ Coupon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86384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+ fulfil out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11247120" cy="68580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/ ranking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40480" y="4023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03520" y="4023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UAF CRM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86384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LedgeRX core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4572000"/>
            <a:ext cx="1124712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4754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merch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840480" y="4754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03520" y="4754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86384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→ event in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57200" y="5303520"/>
            <a:ext cx="11247120" cy="68580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" y="5486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Referrer MGT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840480" y="5486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03520" y="5486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UAF New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86384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emit earn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Full briefing  ·  Confidential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— LedgeRX applied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domain service · multi-book · SDK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148840" cy="502920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874520" cy="1051560"/>
          </a:xfrm>
          <a:prstGeom prst="roundRect">
            <a:avLst>
              <a:gd name="adj" fmla="val 5217"/>
            </a:avLst>
          </a:prstGeom>
          <a:solidFill>
            <a:srgbClr val="E0E7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65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e6 / digital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~21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1874520" cy="1051560"/>
          </a:xfrm>
          <a:prstGeom prst="roundRect">
            <a:avLst>
              <a:gd name="adj" fmla="val 5217"/>
            </a:avLst>
          </a:prstGeom>
          <a:solidFill>
            <a:srgbClr val="E0E7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2461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loan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6118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events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297680"/>
            <a:ext cx="1874520" cy="1051560"/>
          </a:xfrm>
          <a:prstGeom prst="roundRect">
            <a:avLst>
              <a:gd name="adj" fmla="val 5217"/>
            </a:avLst>
          </a:prstGeom>
          <a:solidFill>
            <a:srgbClr val="E0E7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5262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8920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ownerId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51760" y="1051560"/>
            <a:ext cx="2286000" cy="5029200"/>
          </a:xfrm>
          <a:prstGeom prst="roundRect">
            <a:avLst>
              <a:gd name="adj" fmla="val 2400"/>
            </a:avLst>
          </a:prstGeom>
          <a:solidFill>
            <a:srgbClr val="FEF3C7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88920" y="1188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834640" y="1828800"/>
            <a:ext cx="196596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2834640" y="2148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cc-xapi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834640" y="26517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SDK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834640" y="3657600"/>
            <a:ext cx="196596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2834640" y="3977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adapter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834640" y="44805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SDK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120640" y="1051560"/>
            <a:ext cx="4160520" cy="5029200"/>
          </a:xfrm>
          <a:prstGeom prst="roundRect">
            <a:avLst>
              <a:gd name="adj" fmla="val 2198"/>
            </a:avLst>
          </a:prstGeom>
          <a:solidFill>
            <a:srgbClr val="0C2340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0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LedgeRX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03520" y="1600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domain service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03520" y="2011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+ Java SDK v1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349240" y="2514600"/>
            <a:ext cx="1737360" cy="960120"/>
          </a:xfrm>
          <a:prstGeom prst="roundRect">
            <a:avLst>
              <a:gd name="adj" fmla="val 5714"/>
            </a:avLst>
          </a:prstGeom>
          <a:solidFill>
            <a:srgbClr val="134E4A"/>
          </a:solidFill>
          <a:ln/>
        </p:spPr>
      </p:sp>
      <p:sp>
        <p:nvSpPr>
          <p:cNvPr id="29" name="Text 27"/>
          <p:cNvSpPr/>
          <p:nvPr/>
        </p:nvSpPr>
        <p:spPr>
          <a:xfrm>
            <a:off x="5349240" y="2715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49240" y="3017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223760" y="2514600"/>
            <a:ext cx="1737360" cy="960120"/>
          </a:xfrm>
          <a:prstGeom prst="roundRect">
            <a:avLst>
              <a:gd name="adj" fmla="val 5714"/>
            </a:avLst>
          </a:prstGeom>
          <a:solidFill>
            <a:srgbClr val="134E4A"/>
          </a:solidFill>
          <a:ln/>
        </p:spPr>
      </p:sp>
      <p:sp>
        <p:nvSpPr>
          <p:cNvPr id="32" name="Text 30"/>
          <p:cNvSpPr/>
          <p:nvPr/>
        </p:nvSpPr>
        <p:spPr>
          <a:xfrm>
            <a:off x="7223760" y="2715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223760" y="3017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Rules+calc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349240" y="3611880"/>
            <a:ext cx="1737360" cy="960120"/>
          </a:xfrm>
          <a:prstGeom prst="roundRect">
            <a:avLst>
              <a:gd name="adj" fmla="val 5714"/>
            </a:avLst>
          </a:prstGeom>
          <a:solidFill>
            <a:srgbClr val="134E4A"/>
          </a:solidFill>
          <a:ln/>
        </p:spPr>
      </p:sp>
      <p:sp>
        <p:nvSpPr>
          <p:cNvPr id="35" name="Text 33"/>
          <p:cNvSpPr/>
          <p:nvPr/>
        </p:nvSpPr>
        <p:spPr>
          <a:xfrm>
            <a:off x="5349240" y="38130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49240" y="4114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post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223760" y="3611880"/>
            <a:ext cx="1737360" cy="960120"/>
          </a:xfrm>
          <a:prstGeom prst="roundRect">
            <a:avLst>
              <a:gd name="adj" fmla="val 5714"/>
            </a:avLst>
          </a:prstGeom>
          <a:solidFill>
            <a:srgbClr val="134E4A"/>
          </a:solidFill>
          <a:ln/>
        </p:spPr>
      </p:sp>
      <p:sp>
        <p:nvSpPr>
          <p:cNvPr id="38" name="Text 36"/>
          <p:cNvSpPr/>
          <p:nvPr/>
        </p:nvSpPr>
        <p:spPr>
          <a:xfrm>
            <a:off x="7223760" y="38130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223760" y="4114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CC/Loan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49240" y="5212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3 ledger MS — multi-book one SoR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9464040" y="1051560"/>
            <a:ext cx="2377440" cy="502920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9601200" y="1188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601200" y="1737360"/>
            <a:ext cx="2057400" cy="868680"/>
          </a:xfrm>
          <a:prstGeom prst="roundRect">
            <a:avLst>
              <a:gd name="adj" fmla="val 6316"/>
            </a:avLst>
          </a:prstGeom>
          <a:solidFill>
            <a:srgbClr val="FEF3C7"/>
          </a:solidFill>
          <a:ln/>
        </p:spPr>
      </p:sp>
      <p:sp>
        <p:nvSpPr>
          <p:cNvPr id="44" name="Text 42"/>
          <p:cNvSpPr/>
          <p:nvPr/>
        </p:nvSpPr>
        <p:spPr>
          <a:xfrm>
            <a:off x="9601200" y="19202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Loan:CC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601200" y="22128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601200" y="2743200"/>
            <a:ext cx="2057400" cy="868680"/>
          </a:xfrm>
          <a:prstGeom prst="roundRect">
            <a:avLst>
              <a:gd name="adj" fmla="val 6316"/>
            </a:avLst>
          </a:prstGeom>
          <a:solidFill>
            <a:srgbClr val="FEF3C7"/>
          </a:solidFill>
          <a:ln/>
        </p:spPr>
      </p:sp>
      <p:sp>
        <p:nvSpPr>
          <p:cNvPr id="47" name="Text 45"/>
          <p:cNvSpPr/>
          <p:nvPr/>
        </p:nvSpPr>
        <p:spPr>
          <a:xfrm>
            <a:off x="9601200" y="29260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Loan:Loan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9601200" y="321868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9601200" y="3749040"/>
            <a:ext cx="2057400" cy="868680"/>
          </a:xfrm>
          <a:prstGeom prst="roundRect">
            <a:avLst>
              <a:gd name="adj" fmla="val 6316"/>
            </a:avLst>
          </a:prstGeom>
          <a:solidFill>
            <a:srgbClr val="E6F5F3"/>
          </a:solidFill>
          <a:ln/>
        </p:spPr>
      </p:sp>
      <p:sp>
        <p:nvSpPr>
          <p:cNvPr id="50" name="Text 48"/>
          <p:cNvSpPr/>
          <p:nvPr/>
        </p:nvSpPr>
        <p:spPr>
          <a:xfrm>
            <a:off x="9601200" y="39319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E-Coupon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601200" y="422452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601200" y="4754880"/>
            <a:ext cx="2057400" cy="868680"/>
          </a:xfrm>
          <a:prstGeom prst="roundRect">
            <a:avLst>
              <a:gd name="adj" fmla="val 6316"/>
            </a:avLst>
          </a:prstGeom>
          <a:solidFill>
            <a:srgbClr val="E6F5F3"/>
          </a:solidFill>
          <a:ln/>
        </p:spPr>
      </p:sp>
      <p:sp>
        <p:nvSpPr>
          <p:cNvPr id="53" name="Text 51"/>
          <p:cNvSpPr/>
          <p:nvPr/>
        </p:nvSpPr>
        <p:spPr>
          <a:xfrm>
            <a:off x="9601200" y="49377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9601200" y="52303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Full briefing  ·  Confidential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Whiteboard → LedgeRX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yellow ledgers become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3840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155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Whiteboard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0" y="11155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06640" y="11155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112471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600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: SDK v1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0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Java SDK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06640" y="1600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IT surface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965960"/>
            <a:ext cx="11247120" cy="438912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× N yellow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31920" y="2057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One engine + COA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06640" y="2057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vs Loan books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423160"/>
            <a:ext cx="112471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31920" y="2514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Books DE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06640" y="2514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Earn/burn/hold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2880360"/>
            <a:ext cx="11247120" cy="438912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Rules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31920" y="2971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Brain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06640" y="2971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337560"/>
            <a:ext cx="112471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Config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31920" y="3429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Formula JSON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06640" y="3429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rates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3794760"/>
            <a:ext cx="11247120" cy="438912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3886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Rules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931920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Admin + APIs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406640" y="3886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redeploy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4251960"/>
            <a:ext cx="112471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4343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931920" y="4343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Wallet only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406640" y="4343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stays UAF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7200" y="4709160"/>
            <a:ext cx="11247120" cy="438912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60" y="4800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931920" y="4800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Outside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406640" y="4800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earn events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57200" y="5166360"/>
            <a:ext cx="112471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594360" y="5257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cc-xapi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931920" y="5257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Keep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406640" y="5257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→ SDK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57200" y="5623560"/>
            <a:ext cx="11247120" cy="438912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46" name="Text 44"/>
          <p:cNvSpPr/>
          <p:nvPr/>
        </p:nvSpPr>
        <p:spPr>
          <a:xfrm>
            <a:off x="594360" y="5715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Coupon/Stock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931920" y="5715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Outbound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406640" y="5715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then fulfil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Full briefing  ·  Confidential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path (CC)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uses same spine · different COA/rules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83080" y="16916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57400" y="137160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205740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xapi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74720" y="16916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49040" y="137160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66360" y="16916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40680" y="137160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44068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0" y="16916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132320" y="137160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49640" y="16916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823960" y="137160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0C2340"/>
          </a:solidFill>
          <a:ln/>
        </p:spPr>
      </p:sp>
      <p:sp>
        <p:nvSpPr>
          <p:cNvPr id="21" name="Text 19"/>
          <p:cNvSpPr/>
          <p:nvPr/>
        </p:nvSpPr>
        <p:spPr>
          <a:xfrm>
            <a:off x="882396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241280" y="16916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515600" y="137160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57200" y="2926080"/>
            <a:ext cx="1124712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7240" y="32004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one-liner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" y="379476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cc-xapi and loan cores. Put one LedgeRX in the green box. Internal IT integrates with the Java SDK. Configuration Rules = Door + Brain + COA — not a second rules platform and not three ledger microservices.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Full briefing  ·  Confidential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→ Brain mapping skeleton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~21 · Loan N  ·  also in docs/UAF_EVENT_MAPPING_SKELETON.md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columns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sheet dictionary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207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eventCode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06240" y="12070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UAF / e6 code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111556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801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06240" y="18013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| LOAN | BOTH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286000"/>
            <a:ext cx="111556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2395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mapsToEventType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06240" y="239572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TransactionalEvent.eventType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880360"/>
            <a:ext cx="111556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29900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brainRuleCode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06240" y="29900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digestion_rule.code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3474720"/>
            <a:ext cx="111556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35844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formulaIntent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06240" y="358444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/ FIXED / AMT / NONE / HOLD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4069080"/>
            <a:ext cx="111556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41788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coaProfile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06240" y="41788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stream vs LOAN stream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4663440"/>
            <a:ext cx="111556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47731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206240" y="47731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dry-run · P1 live · P2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2920" y="5257800"/>
            <a:ext cx="111556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7240" y="53675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206240" y="536752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· MAPPED · UAT · LIVE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Full briefing  ·  Confidential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skeleton 01–12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codes with real e6 catalogue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1521440" cy="3657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0972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eventCode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0" y="1097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eventType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0" y="1097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rule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0" y="1097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0" y="1097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698480" y="1097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463040"/>
            <a:ext cx="115214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5361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15361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CC_PURCHASE_POSTED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0" y="15361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0" y="15361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CC_EARN_BASE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0" y="15361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0" y="15361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698480" y="15361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1847088"/>
            <a:ext cx="11521440" cy="384048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1920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19202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CC_PURCHASE_AUTH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0" y="1920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60720" y="19202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CC_HOLD_OPT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0" y="1920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0" y="1920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698480" y="1920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2231136"/>
            <a:ext cx="115214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23042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8680" y="230428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CC_PURCHASE_CAPTURE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0" y="2304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760720" y="23042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CC_EARN_BASE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46720" y="23042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601200" y="23042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698480" y="23042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" y="2615184"/>
            <a:ext cx="11521440" cy="384048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26883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68680" y="268833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CC_REFUND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0" y="26883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760720" y="26883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CC_BURN_REFUND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046720" y="26883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601200" y="26883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698480" y="26883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0040" y="2999232"/>
            <a:ext cx="115214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307238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68680" y="307238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CC_CHARGEBACK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657600" y="30723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CHARGEBACK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760720" y="30723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CC_BURN_CB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046720" y="30723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AMT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601200" y="30723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698480" y="30723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20040" y="3383280"/>
            <a:ext cx="11521440" cy="384048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54" name="Text 52"/>
          <p:cNvSpPr/>
          <p:nvPr/>
        </p:nvSpPr>
        <p:spPr>
          <a:xfrm>
            <a:off x="365760" y="34564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68680" y="34564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CC_FX_MARKUP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657600" y="34564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760720" y="34564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CC_EARN_FX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046720" y="34564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9601200" y="34564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10698480" y="34564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20040" y="3767328"/>
            <a:ext cx="115214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365760" y="38404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868680" y="384048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CC_CASH_ADVANCE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3657600" y="38404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CASH_ADV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760720" y="38404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SKIP_OR_RATE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8046720" y="38404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9601200" y="38404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10698480" y="3840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320040" y="4151376"/>
            <a:ext cx="11521440" cy="384048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70" name="Text 68"/>
          <p:cNvSpPr/>
          <p:nvPr/>
        </p:nvSpPr>
        <p:spPr>
          <a:xfrm>
            <a:off x="365760" y="4224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868680" y="422452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CC_FEE_POSTED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3657600" y="42245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5760720" y="42245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8046720" y="42245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9601200" y="4224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10698480" y="4224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320040" y="4535424"/>
            <a:ext cx="115214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Text 76"/>
          <p:cNvSpPr/>
          <p:nvPr/>
        </p:nvSpPr>
        <p:spPr>
          <a:xfrm>
            <a:off x="365760" y="46085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868680" y="460857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CC_PAYMENT_RECV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3657600" y="46085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5760720" y="46085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8046720" y="46085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9601200" y="46085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10698480" y="46085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320040" y="4919472"/>
            <a:ext cx="11521440" cy="384048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86" name="Text 84"/>
          <p:cNvSpPr/>
          <p:nvPr/>
        </p:nvSpPr>
        <p:spPr>
          <a:xfrm>
            <a:off x="365760" y="49926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868680" y="499262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CC_INTEREST_POST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3657600" y="49926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5760720" y="49926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8046720" y="49926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9601200" y="49926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10698480" y="49926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320040" y="5303520"/>
            <a:ext cx="115214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4" name="Text 92"/>
          <p:cNvSpPr/>
          <p:nvPr/>
        </p:nvSpPr>
        <p:spPr>
          <a:xfrm>
            <a:off x="365760" y="53766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868680" y="537667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CC_MCC_GROCERY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3657600" y="53766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5760720" y="53766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CC_EARN_MCC_5411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8046720" y="53766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RATE+</a:t>
            </a: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>
            <a:off x="9601200" y="53766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10698480" y="53766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320040" y="5687568"/>
            <a:ext cx="11521440" cy="384048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02" name="Text 100"/>
          <p:cNvSpPr/>
          <p:nvPr/>
        </p:nvSpPr>
        <p:spPr>
          <a:xfrm>
            <a:off x="365760" y="5760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103" name="Text 101"/>
          <p:cNvSpPr/>
          <p:nvPr/>
        </p:nvSpPr>
        <p:spPr>
          <a:xfrm>
            <a:off x="868680" y="57607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CC_MCC_DINING</a:t>
            </a:r>
            <a:endParaRPr lang="en-US" sz="1100" dirty="0"/>
          </a:p>
        </p:txBody>
      </p:sp>
      <p:sp>
        <p:nvSpPr>
          <p:cNvPr id="104" name="Text 102"/>
          <p:cNvSpPr/>
          <p:nvPr/>
        </p:nvSpPr>
        <p:spPr>
          <a:xfrm>
            <a:off x="3657600" y="57607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5760720" y="57607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CC_EARN_MCC_5812</a:t>
            </a:r>
            <a:endParaRPr lang="en-US" sz="1100" dirty="0"/>
          </a:p>
        </p:txBody>
      </p:sp>
      <p:sp>
        <p:nvSpPr>
          <p:cNvPr id="106" name="Text 104"/>
          <p:cNvSpPr/>
          <p:nvPr/>
        </p:nvSpPr>
        <p:spPr>
          <a:xfrm>
            <a:off x="8046720" y="57607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RATE+</a:t>
            </a:r>
            <a:endParaRPr lang="en-US" sz="1100" dirty="0"/>
          </a:p>
        </p:txBody>
      </p:sp>
      <p:sp>
        <p:nvSpPr>
          <p:cNvPr id="107" name="Text 105"/>
          <p:cNvSpPr/>
          <p:nvPr/>
        </p:nvSpPr>
        <p:spPr>
          <a:xfrm>
            <a:off x="9601200" y="57607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100" dirty="0"/>
          </a:p>
        </p:txBody>
      </p:sp>
      <p:sp>
        <p:nvSpPr>
          <p:cNvPr id="108" name="Text 106"/>
          <p:cNvSpPr/>
          <p:nvPr/>
        </p:nvSpPr>
        <p:spPr>
          <a:xfrm>
            <a:off x="10698480" y="57607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109" name="Text 107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Full briefing  ·  Confidential</a:t>
            </a:r>
            <a:endParaRPr lang="en-US" sz="1000" dirty="0"/>
          </a:p>
        </p:txBody>
      </p:sp>
      <p:sp>
        <p:nvSpPr>
          <p:cNvPr id="110" name="Text 108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13–21 + Loan skeleton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sheet in UAF_EVENT_MAPPING_SKELETON.md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1521440" cy="329184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424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04241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eventCode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0" y="10424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eventType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0" y="10424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rule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0" y="10424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0" y="10424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698480" y="10424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371600"/>
            <a:ext cx="115214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417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14173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CC_MCC_TRAVEL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0" y="1417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0" y="1417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CC_EARN_TRAVEL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0" y="1417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RATE+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0" y="1417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698480" y="1417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1719072"/>
            <a:ext cx="11521440" cy="347472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17647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17647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CC_ONLINE_ECOM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0" y="17647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60720" y="17647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CC_EARN_ONLINE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0" y="17647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0" y="17647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698480" y="17647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2066544"/>
            <a:ext cx="115214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21122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8680" y="211226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CC_INSTALMENT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0" y="21122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760720" y="21122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CC_EARN_OR_SKIP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46720" y="21122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601200" y="21122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698480" y="21122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" y="2414016"/>
            <a:ext cx="11521440" cy="347472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24597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68680" y="245973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CC_REWARD_REDEEM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0" y="24597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REDEEM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760720" y="24597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CC_BURN_REDEEM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046720" y="24597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601200" y="24597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698480" y="24597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0040" y="2761488"/>
            <a:ext cx="115214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280720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68680" y="280720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CC_REWARD_EXPIRE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657600" y="28072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760720" y="28072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CC_BURN_EXPIRE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046720" y="28072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AMT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601200" y="28072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698480" y="28072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20040" y="3108960"/>
            <a:ext cx="11521440" cy="347472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54" name="Text 52"/>
          <p:cNvSpPr/>
          <p:nvPr/>
        </p:nvSpPr>
        <p:spPr>
          <a:xfrm>
            <a:off x="365760" y="31546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68680" y="315468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CC_ADJUSTMENT_CR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657600" y="31546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ADJ_CR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760720" y="31546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CC_EARN_ADJ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046720" y="31546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AMT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9601200" y="31546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10698480" y="3154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20040" y="3456432"/>
            <a:ext cx="115214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365760" y="35021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868680" y="350215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CC_ADJUSTMENT_DR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3657600" y="35021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ADJ_DR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760720" y="35021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CC_BURN_ADJ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8046720" y="35021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AMT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9601200" y="35021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10698480" y="35021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320040" y="3803904"/>
            <a:ext cx="11521440" cy="347472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70" name="Text 68"/>
          <p:cNvSpPr/>
          <p:nvPr/>
        </p:nvSpPr>
        <p:spPr>
          <a:xfrm>
            <a:off x="365760" y="38496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868680" y="384962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CC_CARD_ACTIVATION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3657600" y="38496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5760720" y="38496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CC_EARN_WELCOME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8046720" y="38496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9601200" y="38496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10698480" y="38496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320040" y="4151376"/>
            <a:ext cx="115214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Text 76"/>
          <p:cNvSpPr/>
          <p:nvPr/>
        </p:nvSpPr>
        <p:spPr>
          <a:xfrm>
            <a:off x="365760" y="41970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868680" y="419709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CC_ANNUAL_FEE_WAIVE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3657600" y="41970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FEE_WAIVE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5760720" y="41970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SKIP_OR_FIXED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8046720" y="419709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9601200" y="41970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10698480" y="41970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320040" y="4498848"/>
            <a:ext cx="11521440" cy="347472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86" name="Text 84"/>
          <p:cNvSpPr/>
          <p:nvPr/>
        </p:nvSpPr>
        <p:spPr>
          <a:xfrm>
            <a:off x="365760" y="45445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868680" y="454456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LOAN_DISBURSE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3657600" y="45445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DISBURSE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5760720" y="45445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LN_EARN_OR_SKIP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8046720" y="45445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9601200" y="45445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10698480" y="45445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320040" y="4846320"/>
            <a:ext cx="115214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4" name="Text 92"/>
          <p:cNvSpPr/>
          <p:nvPr/>
        </p:nvSpPr>
        <p:spPr>
          <a:xfrm>
            <a:off x="365760" y="48920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868680" y="48920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LOAN_REPAYMENT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3657600" y="4892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5760720" y="4892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LN_EARN_REPAY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8046720" y="4892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>
            <a:off x="9601200" y="48920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10698480" y="4892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320040" y="5193792"/>
            <a:ext cx="11521440" cy="347472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02" name="Text 100"/>
          <p:cNvSpPr/>
          <p:nvPr/>
        </p:nvSpPr>
        <p:spPr>
          <a:xfrm>
            <a:off x="365760" y="52395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100" dirty="0"/>
          </a:p>
        </p:txBody>
      </p:sp>
      <p:sp>
        <p:nvSpPr>
          <p:cNvPr id="103" name="Text 101"/>
          <p:cNvSpPr/>
          <p:nvPr/>
        </p:nvSpPr>
        <p:spPr>
          <a:xfrm>
            <a:off x="868680" y="523951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LOAN_EARLY_SETTLE</a:t>
            </a:r>
            <a:endParaRPr lang="en-US" sz="1100" dirty="0"/>
          </a:p>
        </p:txBody>
      </p:sp>
      <p:sp>
        <p:nvSpPr>
          <p:cNvPr id="104" name="Text 102"/>
          <p:cNvSpPr/>
          <p:nvPr/>
        </p:nvSpPr>
        <p:spPr>
          <a:xfrm>
            <a:off x="3657600" y="52395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5760720" y="52395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LN_EARN_BONUS</a:t>
            </a:r>
            <a:endParaRPr lang="en-US" sz="1100" dirty="0"/>
          </a:p>
        </p:txBody>
      </p:sp>
      <p:sp>
        <p:nvSpPr>
          <p:cNvPr id="106" name="Text 104"/>
          <p:cNvSpPr/>
          <p:nvPr/>
        </p:nvSpPr>
        <p:spPr>
          <a:xfrm>
            <a:off x="8046720" y="52395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100" dirty="0"/>
          </a:p>
        </p:txBody>
      </p:sp>
      <p:sp>
        <p:nvSpPr>
          <p:cNvPr id="107" name="Text 105"/>
          <p:cNvSpPr/>
          <p:nvPr/>
        </p:nvSpPr>
        <p:spPr>
          <a:xfrm>
            <a:off x="9601200" y="52395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1100" dirty="0"/>
          </a:p>
        </p:txBody>
      </p:sp>
      <p:sp>
        <p:nvSpPr>
          <p:cNvPr id="108" name="Text 106"/>
          <p:cNvSpPr/>
          <p:nvPr/>
        </p:nvSpPr>
        <p:spPr>
          <a:xfrm>
            <a:off x="10698480" y="5239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109" name="Shape 107"/>
          <p:cNvSpPr/>
          <p:nvPr/>
        </p:nvSpPr>
        <p:spPr>
          <a:xfrm>
            <a:off x="320040" y="5541264"/>
            <a:ext cx="115214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0" name="Text 108"/>
          <p:cNvSpPr/>
          <p:nvPr/>
        </p:nvSpPr>
        <p:spPr>
          <a:xfrm>
            <a:off x="365760" y="558698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100" dirty="0"/>
          </a:p>
        </p:txBody>
      </p:sp>
      <p:sp>
        <p:nvSpPr>
          <p:cNvPr id="111" name="Text 109"/>
          <p:cNvSpPr/>
          <p:nvPr/>
        </p:nvSpPr>
        <p:spPr>
          <a:xfrm>
            <a:off x="868680" y="558698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LOAN_OVERDUE</a:t>
            </a:r>
            <a:endParaRPr lang="en-US" sz="1100" dirty="0"/>
          </a:p>
        </p:txBody>
      </p:sp>
      <p:sp>
        <p:nvSpPr>
          <p:cNvPr id="112" name="Text 110"/>
          <p:cNvSpPr/>
          <p:nvPr/>
        </p:nvSpPr>
        <p:spPr>
          <a:xfrm>
            <a:off x="3657600" y="55869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</a:t>
            </a:r>
            <a:endParaRPr lang="en-US" sz="1100" dirty="0"/>
          </a:p>
        </p:txBody>
      </p:sp>
      <p:sp>
        <p:nvSpPr>
          <p:cNvPr id="113" name="Text 111"/>
          <p:cNvSpPr/>
          <p:nvPr/>
        </p:nvSpPr>
        <p:spPr>
          <a:xfrm>
            <a:off x="5760720" y="55869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SKIP_OR_HOLD</a:t>
            </a:r>
            <a:endParaRPr lang="en-US" sz="1100" dirty="0"/>
          </a:p>
        </p:txBody>
      </p:sp>
      <p:sp>
        <p:nvSpPr>
          <p:cNvPr id="114" name="Text 112"/>
          <p:cNvSpPr/>
          <p:nvPr/>
        </p:nvSpPr>
        <p:spPr>
          <a:xfrm>
            <a:off x="8046720" y="55869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115" name="Text 113"/>
          <p:cNvSpPr/>
          <p:nvPr/>
        </p:nvSpPr>
        <p:spPr>
          <a:xfrm>
            <a:off x="9601200" y="55869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1100" dirty="0"/>
          </a:p>
        </p:txBody>
      </p:sp>
      <p:sp>
        <p:nvSpPr>
          <p:cNvPr id="116" name="Text 114"/>
          <p:cNvSpPr/>
          <p:nvPr/>
        </p:nvSpPr>
        <p:spPr>
          <a:xfrm>
            <a:off x="10698480" y="55869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117" name="Shape 115"/>
          <p:cNvSpPr/>
          <p:nvPr/>
        </p:nvSpPr>
        <p:spPr>
          <a:xfrm>
            <a:off x="320040" y="5888736"/>
            <a:ext cx="11521440" cy="347472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18" name="Text 116"/>
          <p:cNvSpPr/>
          <p:nvPr/>
        </p:nvSpPr>
        <p:spPr>
          <a:xfrm>
            <a:off x="365760" y="593445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L+</a:t>
            </a:r>
            <a:endParaRPr lang="en-US" sz="1100" dirty="0"/>
          </a:p>
        </p:txBody>
      </p:sp>
      <p:sp>
        <p:nvSpPr>
          <p:cNvPr id="119" name="Text 117"/>
          <p:cNvSpPr/>
          <p:nvPr/>
        </p:nvSpPr>
        <p:spPr>
          <a:xfrm>
            <a:off x="868680" y="593445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N more</a:t>
            </a:r>
            <a:endParaRPr lang="en-US" sz="1100" dirty="0"/>
          </a:p>
        </p:txBody>
      </p:sp>
      <p:sp>
        <p:nvSpPr>
          <p:cNvPr id="120" name="Text 118"/>
          <p:cNvSpPr/>
          <p:nvPr/>
        </p:nvSpPr>
        <p:spPr>
          <a:xfrm>
            <a:off x="3657600" y="5934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100" dirty="0"/>
          </a:p>
        </p:txBody>
      </p:sp>
      <p:sp>
        <p:nvSpPr>
          <p:cNvPr id="121" name="Text 119"/>
          <p:cNvSpPr/>
          <p:nvPr/>
        </p:nvSpPr>
        <p:spPr>
          <a:xfrm>
            <a:off x="5760720" y="59344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100" dirty="0"/>
          </a:p>
        </p:txBody>
      </p:sp>
      <p:sp>
        <p:nvSpPr>
          <p:cNvPr id="122" name="Text 120"/>
          <p:cNvSpPr/>
          <p:nvPr/>
        </p:nvSpPr>
        <p:spPr>
          <a:xfrm>
            <a:off x="8046720" y="59344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100" dirty="0"/>
          </a:p>
        </p:txBody>
      </p:sp>
      <p:sp>
        <p:nvSpPr>
          <p:cNvPr id="123" name="Text 121"/>
          <p:cNvSpPr/>
          <p:nvPr/>
        </p:nvSpPr>
        <p:spPr>
          <a:xfrm>
            <a:off x="9601200" y="59344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1100" dirty="0"/>
          </a:p>
        </p:txBody>
      </p:sp>
      <p:sp>
        <p:nvSpPr>
          <p:cNvPr id="124" name="Text 122"/>
          <p:cNvSpPr/>
          <p:nvPr/>
        </p:nvSpPr>
        <p:spPr>
          <a:xfrm>
            <a:off x="10698480" y="59344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100" dirty="0"/>
          </a:p>
        </p:txBody>
      </p:sp>
      <p:sp>
        <p:nvSpPr>
          <p:cNvPr id="125" name="Text 123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Full briefing  ·  Confidential</a:t>
            </a:r>
            <a:endParaRPr lang="en-US" sz="1000" dirty="0"/>
          </a:p>
        </p:txBody>
      </p:sp>
      <p:sp>
        <p:nvSpPr>
          <p:cNvPr id="126" name="Text 124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workshop &amp; asks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IT + Biz + LedgeRX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12471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234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234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catalogue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023360" y="123444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21 CC + Loan N codes into the sheet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112471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874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0" y="187452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xapi → TransactionalEvent field map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112471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2514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rules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023360" y="25146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formulas for P1 rows only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112471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31546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3154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 / ownerId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023360" y="31546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vs Loan books strategy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112471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" y="37947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3794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spike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023360" y="379476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golden dry-runs from cc-xapi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297680"/>
            <a:ext cx="112471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5800" y="4434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80160" y="4434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023360" y="443484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Redeem burn ↔ E-Coupon sequence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Full briefing  ·  Confidential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 FINANCE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LedgeRX domain service.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for Internal IT.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+ Loan books — not three ledgers.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rules. Audit-grade posts.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SDK package  ·  sandbox  ·  joint IT workshop  ·  filled event matrix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5394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· Questions · Pilot scope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4B8A6"/>
                </a:solidFill>
                <a:latin typeface="Calibri"/>
              </a:rPr>
              <a:t>APPENDIX</a:t>
            </a:r>
          </a:p>
          <a:p>
            <a:r>
              <a:rPr sz="3200" b="1">
                <a:solidFill>
                  <a:srgbClr val="FFFFFF"/>
                </a:solidFill>
                <a:latin typeface="Calibri"/>
              </a:rPr>
              <a:t>Earn · Process · Burn — full sequence board</a:t>
            </a:r>
          </a:p>
          <a:p>
            <a:r>
              <a:rPr sz="1800">
                <a:solidFill>
                  <a:srgbClr val="94A3B8"/>
                </a:solidFill>
                <a:latin typeface="Calibri"/>
              </a:rPr>
              <a:t>Split into 2 slides (readable HTML board)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B8A6"/>
                </a:solidFill>
                <a:latin typeface="Calibri"/>
              </a:rPr>
              <a:t>APPENDIX A1  ·  Sequence board (1/2)  ·  Transaction → Earn</a:t>
            </a:r>
          </a:p>
        </p:txBody>
      </p:sp>
      <p:pic>
        <p:nvPicPr>
          <p:cNvPr id="4" name="Picture 3" descr="uaf-earn-burn-appendix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3495" y="548639"/>
            <a:ext cx="4394528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4B8A6"/>
                </a:solidFill>
                <a:latin typeface="Calibri"/>
              </a:rPr>
              <a:t>APPENDIX A2  ·  Sequence board (2/2)  ·  Result → Burn + summary</a:t>
            </a:r>
          </a:p>
        </p:txBody>
      </p:sp>
      <p:pic>
        <p:nvPicPr>
          <p:cNvPr id="4" name="Picture 3" descr="uaf-earn-burn-appendix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0472" y="548639"/>
            <a:ext cx="5860575" cy="594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LedgeRX × UA Finance — Full Briefing</dc:title>
  <dc:subject>CTO + Landscape + Event mapping</dc:subject>
  <dc:creator>LedgeRX</dc:creator>
  <cp:lastModifiedBy>LedgeRX</cp:lastModifiedBy>
  <cp:revision>1</cp:revision>
  <dcterms:created xsi:type="dcterms:W3CDTF">2026-08-19T00:56:13Z</dcterms:created>
  <dcterms:modified xsi:type="dcterms:W3CDTF">2026-08-19T00:56:13Z</dcterms:modified>
</cp:coreProperties>
</file>