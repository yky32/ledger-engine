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Shape 1"/>
          <p:cNvSpPr/>
          <p:nvPr/>
        </p:nvSpPr>
        <p:spPr>
          <a:xfrm>
            <a:off x="8046720" y="0"/>
            <a:ext cx="4114800" cy="6858000"/>
          </a:xfrm>
          <a:prstGeom prst="rect">
            <a:avLst/>
          </a:prstGeom>
          <a:solidFill>
            <a:srgbClr val="0A1C3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20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ledger &amp; wallet engine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programme operators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Executive draft v2.2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0" y="1463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1755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&amp; points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41248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0" y="2807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microservice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412480" y="3566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no release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4617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9103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544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91640" y="15270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mission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1947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dedicated ledger domain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5544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98080" y="15270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0" y="1947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earn · multi-line · hold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063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91640" y="3035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34564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at the boundary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274320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30632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98080" y="3035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98080" y="34564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· Brain · Books · Trust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5720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691640" y="4544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architecture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91640" y="4965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Netflix-style platform diagram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4251960"/>
            <a:ext cx="5532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45720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98080" y="4544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498080" y="49651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gets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are liabilities — too often trapped in bolt-ons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5532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645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truth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in CRM, campaigns, or files — finance cannot reconcile fast.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280160"/>
            <a:ext cx="5532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1645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40664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rule changes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29400" y="22860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rates wait on release trains.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474720"/>
            <a:ext cx="5532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3840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3886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audit trail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4480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Single-sided updates; hard to prove earn or skip.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3474720"/>
            <a:ext cx="5532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3840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3886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drag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4480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channel re-implements wallet logic.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service of record for programme balances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wallet + loyalty ledger in the client cluster. Configure earn rules at runtime. Post audit-grade double-entry. Integrate on stable events — without owning CRM, payments, or campaign UX.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83464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017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&amp; multi-ccy books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90448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earn / burn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28853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+ programme pool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Door + Brain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05663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· trace · fail queue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83464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37960" y="3017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5204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KYC master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390448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acquiring / bank rails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428853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builder UI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product edge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37960" y="505663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 promo engine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LedgeRX pays for itself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11880" cy="457200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0" y="164592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8288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earn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474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purchase → LP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416052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4805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change without release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43400" y="1280160"/>
            <a:ext cx="3611880" cy="457200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0" y="164592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8288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Multi-line books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7720" y="3474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 schemes per line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416052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44805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Finance-separable books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83880" y="1280160"/>
            <a:ext cx="3611880" cy="457200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09760" y="1645920"/>
            <a:ext cx="868680" cy="868680"/>
          </a:xfrm>
          <a:prstGeom prst="ellipse">
            <a:avLst/>
          </a:prstGeom>
          <a:solidFill>
            <a:srgbClr val="E6F5F3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182880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458200" y="28346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→ settle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58200" y="3474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lock available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641080" y="4160520"/>
            <a:ext cx="2697480" cy="18288"/>
          </a:xfrm>
          <a:prstGeom prst="rect">
            <a:avLst/>
          </a:prstGeom>
          <a:solidFill>
            <a:srgbClr val="E8EEF4"/>
          </a:solidFill>
          <a:ln/>
        </p:spPr>
      </p:sp>
      <p:sp>
        <p:nvSpPr>
          <p:cNvPr id="25" name="Text 23"/>
          <p:cNvSpPr/>
          <p:nvPr/>
        </p:nvSpPr>
        <p:spPr>
          <a:xfrm>
            <a:off x="8458200" y="44805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Issuer-style control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 — Retail earn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HKD 500 grocery · MCC 5411 · 1% → 5 LP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6916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88920" y="137160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09160" y="16916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74920" y="137160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16916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60920" y="137160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60920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81160" y="16916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646920" y="137160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9646920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2920" y="2880360"/>
            <a:ext cx="361188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38404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rate in Admin — no release train.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43400" y="2880360"/>
            <a:ext cx="361188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1772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17720" y="38404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+ eligibilityTrace before live.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83880" y="2880360"/>
            <a:ext cx="361188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58200" y="3200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58200" y="38404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pool / CR member — balanced legs.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contracts — logic stays in LedgeRX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325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325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/ outcome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84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984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1984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/wallets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19842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+ settlement + COA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2560320"/>
            <a:ext cx="11155680" cy="73152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614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60320" y="27614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7614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…/webhooks/transactions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2761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eventId · amount · MCC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3756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38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60320" y="3538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538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…/dry-run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3538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+ skip trace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114800"/>
            <a:ext cx="11155680" cy="73152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56032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· Brain · COA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3159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4892040"/>
            <a:ext cx="1115568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0932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560320" y="50932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50932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/wallets/{ownerId}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5093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· history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blocks · one spine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83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policy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783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63440" y="24231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+ formula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03920" y="1783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03920" y="24231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multi-ccy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1148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" y="4754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4340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41148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663440" y="4754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schemes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8388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03920" y="41148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503920" y="4754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· fail ops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LedgeRX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spine of the domain 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148840" y="1600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2316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1600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912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080760" y="1600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508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1600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2104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12680" y="1600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287000" y="13716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0C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10287000" y="1600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26517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26517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17 · Spring Boot · product HTTP APIs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651760" y="329184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Digestion · Onboard · Movement shooter · COA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651760" y="39319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PostgreSQL schema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4572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UI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457200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BFF · Simulator · Review · Records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5212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651760" y="521208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/ mesh — no public edge (current phase)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A0E17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CLIENT CTO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43891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microservices landscape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Netflix-style view  ·  LedgeRX highlighted as Loyalty / Ledger domain service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1521440" cy="868680"/>
          </a:xfrm>
          <a:prstGeom prst="roundRect">
            <a:avLst>
              <a:gd name="adj" fmla="val 8421"/>
            </a:avLst>
          </a:prstGeom>
          <a:solidFill>
            <a:srgbClr val="12182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0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371600" y="1371600"/>
            <a:ext cx="1828800" cy="594360"/>
          </a:xfrm>
          <a:prstGeom prst="roundRect">
            <a:avLst>
              <a:gd name="adj" fmla="val 9231"/>
            </a:avLst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1426464" y="14447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/ Apps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26464" y="170078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POS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0" y="1371600"/>
            <a:ext cx="1965960" cy="594360"/>
          </a:xfrm>
          <a:prstGeom prst="roundRect">
            <a:avLst>
              <a:gd name="adj" fmla="val 9231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1700784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TLS term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532120" y="1371600"/>
            <a:ext cx="1828800" cy="594360"/>
          </a:xfrm>
          <a:prstGeom prst="roundRect">
            <a:avLst>
              <a:gd name="adj" fmla="val 9231"/>
            </a:avLst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586984" y="14447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86984" y="170078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mTLS · retries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543800" y="1371600"/>
            <a:ext cx="1828800" cy="594360"/>
          </a:xfrm>
          <a:prstGeom prst="roundRect">
            <a:avLst>
              <a:gd name="adj" fmla="val 9231"/>
            </a:avLst>
          </a:prstGeom>
          <a:solidFill>
            <a:srgbClr val="1A2332"/>
          </a:solidFill>
          <a:ln/>
        </p:spPr>
      </p:sp>
      <p:sp>
        <p:nvSpPr>
          <p:cNvPr id="18" name="Text 16"/>
          <p:cNvSpPr/>
          <p:nvPr/>
        </p:nvSpPr>
        <p:spPr>
          <a:xfrm>
            <a:off x="7598664" y="14447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edge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98664" y="170078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/ IAM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55480" y="1371600"/>
            <a:ext cx="1965960" cy="594360"/>
          </a:xfrm>
          <a:prstGeom prst="roundRect">
            <a:avLst>
              <a:gd name="adj" fmla="val 9231"/>
            </a:avLst>
          </a:prstGeom>
          <a:solidFill>
            <a:srgbClr val="1A2332"/>
          </a:solidFill>
          <a:ln/>
        </p:spPr>
      </p:sp>
      <p:sp>
        <p:nvSpPr>
          <p:cNvPr id="21" name="Text 19"/>
          <p:cNvSpPr/>
          <p:nvPr/>
        </p:nvSpPr>
        <p:spPr>
          <a:xfrm>
            <a:off x="9610344" y="1444752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/ Ingress*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10344" y="1700784"/>
            <a:ext cx="1856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public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2240280"/>
            <a:ext cx="11521440" cy="2331720"/>
          </a:xfrm>
          <a:prstGeom prst="roundRect">
            <a:avLst>
              <a:gd name="adj" fmla="val 3137"/>
            </a:avLst>
          </a:prstGeom>
          <a:solidFill>
            <a:srgbClr val="121826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2926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0" y="23774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243044"/>
          </a:solidFill>
          <a:ln/>
        </p:spPr>
      </p:sp>
      <p:sp>
        <p:nvSpPr>
          <p:cNvPr id="26" name="Text 24"/>
          <p:cNvSpPr/>
          <p:nvPr/>
        </p:nvSpPr>
        <p:spPr>
          <a:xfrm>
            <a:off x="1426464" y="245059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Profile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26464" y="270662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SoR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063240" y="23774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243044"/>
          </a:solidFill>
          <a:ln/>
        </p:spPr>
      </p:sp>
      <p:sp>
        <p:nvSpPr>
          <p:cNvPr id="29" name="Text 27"/>
          <p:cNvSpPr/>
          <p:nvPr/>
        </p:nvSpPr>
        <p:spPr>
          <a:xfrm>
            <a:off x="3118104" y="245059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Gateway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18104" y="270662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ingest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37744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243044"/>
          </a:solidFill>
          <a:ln/>
        </p:spPr>
      </p:sp>
      <p:sp>
        <p:nvSpPr>
          <p:cNvPr id="32" name="Text 30"/>
          <p:cNvSpPr/>
          <p:nvPr/>
        </p:nvSpPr>
        <p:spPr>
          <a:xfrm>
            <a:off x="4809744" y="245059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Adapter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09744" y="270662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clear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46520" y="2304288"/>
            <a:ext cx="2148840" cy="786384"/>
          </a:xfrm>
          <a:prstGeom prst="roundRect">
            <a:avLst>
              <a:gd name="adj" fmla="val 9302"/>
            </a:avLst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23774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LedgeRX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46520" y="269748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ledger-engine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32520" y="2377440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243044"/>
          </a:solidFill>
          <a:ln/>
        </p:spPr>
      </p:sp>
      <p:sp>
        <p:nvSpPr>
          <p:cNvPr id="38" name="Text 36"/>
          <p:cNvSpPr/>
          <p:nvPr/>
        </p:nvSpPr>
        <p:spPr>
          <a:xfrm>
            <a:off x="8787384" y="245059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787384" y="27066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UI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287000" y="2377440"/>
            <a:ext cx="1325880" cy="640080"/>
          </a:xfrm>
          <a:prstGeom prst="roundRect">
            <a:avLst>
              <a:gd name="adj" fmla="val 8571"/>
            </a:avLst>
          </a:prstGeom>
          <a:solidFill>
            <a:srgbClr val="243044"/>
          </a:solidFill>
          <a:ln/>
        </p:spPr>
      </p:sp>
      <p:sp>
        <p:nvSpPr>
          <p:cNvPr id="41" name="Text 39"/>
          <p:cNvSpPr/>
          <p:nvPr/>
        </p:nvSpPr>
        <p:spPr>
          <a:xfrm>
            <a:off x="10341864" y="2450592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341864" y="2706624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· SMS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0" y="32004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1E2A3A"/>
          </a:solidFill>
          <a:ln/>
        </p:spPr>
      </p:sp>
      <p:sp>
        <p:nvSpPr>
          <p:cNvPr id="44" name="Text 42"/>
          <p:cNvSpPr/>
          <p:nvPr/>
        </p:nvSpPr>
        <p:spPr>
          <a:xfrm>
            <a:off x="1426464" y="327355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Svc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426464" y="35295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63240" y="32004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1E2A3A"/>
          </a:solidFill>
          <a:ln/>
        </p:spPr>
      </p:sp>
      <p:sp>
        <p:nvSpPr>
          <p:cNvPr id="47" name="Text 45"/>
          <p:cNvSpPr/>
          <p:nvPr/>
        </p:nvSpPr>
        <p:spPr>
          <a:xfrm>
            <a:off x="3118104" y="327355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118104" y="35295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/ K8s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54880" y="3200400"/>
            <a:ext cx="1554480" cy="640080"/>
          </a:xfrm>
          <a:prstGeom prst="roundRect">
            <a:avLst>
              <a:gd name="adj" fmla="val 8571"/>
            </a:avLst>
          </a:prstGeom>
          <a:solidFill>
            <a:srgbClr val="1E2A3A"/>
          </a:solidFill>
          <a:ln/>
        </p:spPr>
      </p:sp>
      <p:sp>
        <p:nvSpPr>
          <p:cNvPr id="50" name="Text 48"/>
          <p:cNvSpPr/>
          <p:nvPr/>
        </p:nvSpPr>
        <p:spPr>
          <a:xfrm>
            <a:off x="4809744" y="3273552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09744" y="35295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SKU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46520" y="3200400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134E4A"/>
          </a:solidFill>
          <a:ln/>
        </p:spPr>
      </p:sp>
      <p:sp>
        <p:nvSpPr>
          <p:cNvPr id="53" name="Text 51"/>
          <p:cNvSpPr/>
          <p:nvPr/>
        </p:nvSpPr>
        <p:spPr>
          <a:xfrm>
            <a:off x="6501384" y="32735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BFF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501384" y="352958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UI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001000" y="3200400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1E2A3A"/>
          </a:solidFill>
          <a:ln/>
        </p:spPr>
      </p:sp>
      <p:sp>
        <p:nvSpPr>
          <p:cNvPr id="56" name="Text 54"/>
          <p:cNvSpPr/>
          <p:nvPr/>
        </p:nvSpPr>
        <p:spPr>
          <a:xfrm>
            <a:off x="8055864" y="32735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55864" y="352958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555480" y="3200400"/>
            <a:ext cx="2057400" cy="640080"/>
          </a:xfrm>
          <a:prstGeom prst="roundRect">
            <a:avLst>
              <a:gd name="adj" fmla="val 8571"/>
            </a:avLst>
          </a:prstGeom>
          <a:solidFill>
            <a:srgbClr val="1E2A3A"/>
          </a:solidFill>
          <a:ln/>
        </p:spPr>
      </p:sp>
      <p:sp>
        <p:nvSpPr>
          <p:cNvPr id="59" name="Text 57"/>
          <p:cNvSpPr/>
          <p:nvPr/>
        </p:nvSpPr>
        <p:spPr>
          <a:xfrm>
            <a:off x="9610344" y="3273552"/>
            <a:ext cx="1947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API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610344" y="3529584"/>
            <a:ext cx="1947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309360" y="39776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· Brain · Books · COA · Trust pack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309360" y="42062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 ·  own DB  ·  ClusterIP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20040" y="4709160"/>
            <a:ext cx="11521440" cy="640080"/>
          </a:xfrm>
          <a:prstGeom prst="roundRect">
            <a:avLst>
              <a:gd name="adj" fmla="val 8571"/>
            </a:avLst>
          </a:prstGeom>
          <a:solidFill>
            <a:srgbClr val="1A1030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846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71600" y="480060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2E1065"/>
          </a:solidFill>
          <a:ln/>
        </p:spPr>
      </p:sp>
      <p:sp>
        <p:nvSpPr>
          <p:cNvPr id="66" name="Text 64"/>
          <p:cNvSpPr/>
          <p:nvPr/>
        </p:nvSpPr>
        <p:spPr>
          <a:xfrm>
            <a:off x="1426464" y="4873752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/ Kafka*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1426464" y="512978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fan-out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657600" y="480060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2E1065"/>
          </a:solidFill>
          <a:ln/>
        </p:spPr>
      </p:sp>
      <p:sp>
        <p:nvSpPr>
          <p:cNvPr id="69" name="Text 67"/>
          <p:cNvSpPr/>
          <p:nvPr/>
        </p:nvSpPr>
        <p:spPr>
          <a:xfrm>
            <a:off x="3712464" y="4873752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Events topic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712464" y="5129784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· redeem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943600" y="48006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2E1065"/>
          </a:solidFill>
          <a:ln/>
        </p:spPr>
      </p:sp>
      <p:sp>
        <p:nvSpPr>
          <p:cNvPr id="72" name="Text 70"/>
          <p:cNvSpPr/>
          <p:nvPr/>
        </p:nvSpPr>
        <p:spPr>
          <a:xfrm>
            <a:off x="5998464" y="48737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outcomes*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998464" y="5129784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· skipped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412480" y="48006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312E81"/>
          </a:solidFill>
          <a:ln/>
        </p:spPr>
      </p:sp>
      <p:sp>
        <p:nvSpPr>
          <p:cNvPr id="75" name="Text 73"/>
          <p:cNvSpPr/>
          <p:nvPr/>
        </p:nvSpPr>
        <p:spPr>
          <a:xfrm>
            <a:off x="8467344" y="4873752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sync webhook  →  same contract can go async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467344" y="5129784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path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0040" y="5486400"/>
            <a:ext cx="11521440" cy="685800"/>
          </a:xfrm>
          <a:prstGeom prst="roundRect">
            <a:avLst>
              <a:gd name="adj" fmla="val 8000"/>
            </a:avLst>
          </a:prstGeom>
          <a:solidFill>
            <a:srgbClr val="0F1F17"/>
          </a:solidFill>
          <a:ln/>
        </p:spPr>
      </p:sp>
      <p:sp>
        <p:nvSpPr>
          <p:cNvPr id="78" name="Text 76"/>
          <p:cNvSpPr/>
          <p:nvPr/>
        </p:nvSpPr>
        <p:spPr>
          <a:xfrm>
            <a:off x="457200" y="56509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371600" y="5596128"/>
            <a:ext cx="1828800" cy="475488"/>
          </a:xfrm>
          <a:prstGeom prst="roundRect">
            <a:avLst>
              <a:gd name="adj" fmla="val 11538"/>
            </a:avLst>
          </a:prstGeom>
          <a:solidFill>
            <a:srgbClr val="14532D"/>
          </a:solidFill>
          <a:ln/>
        </p:spPr>
      </p:sp>
      <p:sp>
        <p:nvSpPr>
          <p:cNvPr id="80" name="Text 78"/>
          <p:cNvSpPr/>
          <p:nvPr/>
        </p:nvSpPr>
        <p:spPr>
          <a:xfrm>
            <a:off x="1426464" y="56692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DB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426464" y="59253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383280" y="559612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115E59"/>
          </a:solidFill>
          <a:ln/>
        </p:spPr>
      </p:sp>
      <p:sp>
        <p:nvSpPr>
          <p:cNvPr id="83" name="Text 81"/>
          <p:cNvSpPr/>
          <p:nvPr/>
        </p:nvSpPr>
        <p:spPr>
          <a:xfrm>
            <a:off x="3438144" y="566928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PG ★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3438144" y="592531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· rules · legs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852160" y="5596128"/>
            <a:ext cx="1828800" cy="475488"/>
          </a:xfrm>
          <a:prstGeom prst="roundRect">
            <a:avLst>
              <a:gd name="adj" fmla="val 11538"/>
            </a:avLst>
          </a:prstGeom>
          <a:solidFill>
            <a:srgbClr val="14532D"/>
          </a:solidFill>
          <a:ln/>
        </p:spPr>
      </p:sp>
      <p:sp>
        <p:nvSpPr>
          <p:cNvPr id="86" name="Text 84"/>
          <p:cNvSpPr/>
          <p:nvPr/>
        </p:nvSpPr>
        <p:spPr>
          <a:xfrm>
            <a:off x="5907024" y="56692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DB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907024" y="59253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7863840" y="5596128"/>
            <a:ext cx="1828800" cy="475488"/>
          </a:xfrm>
          <a:prstGeom prst="roundRect">
            <a:avLst>
              <a:gd name="adj" fmla="val 11538"/>
            </a:avLst>
          </a:prstGeom>
          <a:solidFill>
            <a:srgbClr val="14532D"/>
          </a:solidFill>
          <a:ln/>
        </p:spPr>
      </p:sp>
      <p:sp>
        <p:nvSpPr>
          <p:cNvPr id="89" name="Text 87"/>
          <p:cNvSpPr/>
          <p:nvPr/>
        </p:nvSpPr>
        <p:spPr>
          <a:xfrm>
            <a:off x="7918704" y="56692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7918704" y="592531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875520" y="5596128"/>
            <a:ext cx="1737360" cy="475488"/>
          </a:xfrm>
          <a:prstGeom prst="roundRect">
            <a:avLst>
              <a:gd name="adj" fmla="val 11538"/>
            </a:avLst>
          </a:prstGeom>
          <a:solidFill>
            <a:srgbClr val="14532D"/>
          </a:solidFill>
          <a:ln/>
        </p:spPr>
      </p:sp>
      <p:sp>
        <p:nvSpPr>
          <p:cNvPr id="92" name="Text 90"/>
          <p:cNvSpPr/>
          <p:nvPr/>
        </p:nvSpPr>
        <p:spPr>
          <a:xfrm>
            <a:off x="9930384" y="566928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store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9930384" y="592531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E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411480" y="630936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Client platform components — illustrative. ★ = LedgeRX owned.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view — request paths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traffic hits LedgeRX in the landscape above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43000"/>
            <a:ext cx="109728" cy="7315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527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Onboard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 →  Gateway  →  LedgeRX POST /wallets  →  PG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21040" y="1280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books open; optional COA profile.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96596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1965960"/>
            <a:ext cx="109728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756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Earn (sync)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Gateway  →  LedgeRX webhook  →  Door→Brain→Books  →  PG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210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path today. Idempotent eventId.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788920"/>
            <a:ext cx="109728" cy="7315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8986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Earn (async*)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28803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 →  Kafka topic  →  consumer  →  same webhook contract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Evolution: no domain rewrite.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" y="3611880"/>
            <a:ext cx="109728" cy="7315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7216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Ops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0040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BFF  →  LedgeRX config APIs  →  PG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3749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COA without redeploying peers.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43484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" y="4434840"/>
            <a:ext cx="109728" cy="7315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5445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Read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0400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BFF  →  Gateway  →  GET /wallets/{ownerId}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21040" y="4572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&amp; history; no direct DB access.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525780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2920" y="5257800"/>
            <a:ext cx="109728" cy="73152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367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Isolate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04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scales / fails independently of CRM &amp; Campaign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 contained to loyalty domain.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 works for CTOs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Netflix-inspired platform thinking — pragmatic scope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service = loyalty ledger. Not a god service.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per service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2402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LedgeRX writes wallet / legs tables.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endpoints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58200" y="22402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Gateway/mesh outside; domain logic inside LedgeRX.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ledger without CRM/POS releases.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failure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1772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queue + dry-run; peers stay up if points lag.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8388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39776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async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57200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first; Kafka consumer later, same API.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749808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should expect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Time-to-rule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not a release cycle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confidence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DE legs, queryable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3880" y="128016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5820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leverage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58200" y="23317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contract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069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clarity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+ skip traces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4340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069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boundaries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1772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≠ payments ≠ ledger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83880" y="36118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58200" y="4069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fit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663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MS in your mesh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 |  Executive briefing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51052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is the loyalty-ledger domain service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microservices platform — runtime rules,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books, event-based integration.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docs/START_HERE.md   ·   ledger-engine   ·   in-cluster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Questions  ·  Next steps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— Executive Product Overview</dc:title>
  <dc:subject>C-level briefing v2.2 + Netflix-style MSA</dc:subject>
  <dc:creator>LedgeRX</dc:creator>
  <cp:lastModifiedBy>LedgeRX</cp:lastModifiedBy>
  <cp:revision>1</cp:revision>
  <dcterms:created xsi:type="dcterms:W3CDTF">2026-08-19T00:38:45Z</dcterms:created>
  <dcterms:modified xsi:type="dcterms:W3CDTF">2026-08-19T00:38:45Z</dcterms:modified>
</cp:coreProperties>
</file>