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uaf_badge_4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8016"/>
            <a:ext cx="1097280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600200" y="128016"/>
            <a:ext cx="8229600" cy="256032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800" b="1">
                <a:solidFill>
                  <a:srgbClr val="18181B"/>
                </a:solidFill>
                <a:latin typeface="Calibri"/>
              </a:rPr>
              <a:t>Rewards topology  ·  as discussed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402336"/>
            <a:ext cx="8686800" cy="201168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200" b="0">
                <a:solidFill>
                  <a:srgbClr val="71717A"/>
                </a:solidFill>
                <a:latin typeface="Calibri"/>
              </a:rPr>
              <a:t>Left of the line = Reward System domain   ·   Right of the line = CBP &amp; fulfillment domain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201168"/>
            <a:ext cx="914400" cy="219456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100" b="0">
                <a:solidFill>
                  <a:srgbClr val="71717A"/>
                </a:solidFill>
                <a:latin typeface="Calibri"/>
              </a:rPr>
              <a:t>1 /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777240"/>
            <a:ext cx="4114800" cy="219456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200" b="1">
                <a:solidFill>
                  <a:srgbClr val="1E3A5F"/>
                </a:solidFill>
                <a:latin typeface="Calibri"/>
              </a:rPr>
              <a:t>Reward System side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777240"/>
            <a:ext cx="4572000" cy="219456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200" b="1">
                <a:solidFill>
                  <a:srgbClr val="1E3A5F"/>
                </a:solidFill>
                <a:latin typeface="Calibri"/>
              </a:rPr>
              <a:t>CBP / fulfillment side  (UAF-owned)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828800"/>
            <a:ext cx="1554480" cy="914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4D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965960"/>
            <a:ext cx="1554480" cy="27432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ctr"/>
            <a:r>
              <a:rPr sz="1400" b="1">
                <a:solidFill>
                  <a:srgbClr val="18181B"/>
                </a:solidFill>
                <a:latin typeface="Calibri"/>
              </a:rPr>
              <a:t>App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286000"/>
            <a:ext cx="1554480" cy="32004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ctr"/>
            <a:r>
              <a:rPr sz="1000" b="0">
                <a:solidFill>
                  <a:srgbClr val="71717A"/>
                </a:solidFill>
                <a:latin typeface="Calibri"/>
              </a:rPr>
              <a:t>Yes UA · channels</a:t>
            </a:r>
          </a:p>
        </p:txBody>
      </p:sp>
      <p:pic>
        <p:nvPicPr>
          <p:cNvPr id="13" name="Picture 12" descr="yesua_mark_4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2606040"/>
            <a:ext cx="256032" cy="256032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502920" y="2971800"/>
            <a:ext cx="1463040" cy="640080"/>
          </a:xfrm>
          <a:prstGeom prst="roundRect">
            <a:avLst>
              <a:gd name="adj" fmla="val 4000"/>
            </a:avLst>
          </a:prstGeom>
          <a:solidFill>
            <a:srgbClr val="F4F4F5"/>
          </a:solidFill>
          <a:ln w="12700">
            <a:solidFill>
              <a:srgbClr val="D4D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063240"/>
            <a:ext cx="1463040" cy="22860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ctr"/>
            <a:r>
              <a:rPr sz="1100" b="1">
                <a:solidFill>
                  <a:srgbClr val="18181B"/>
                </a:solidFill>
                <a:latin typeface="Calibri"/>
              </a:rPr>
              <a:t>Wallet (RP)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291840"/>
            <a:ext cx="1463040" cy="22860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ctr"/>
            <a:r>
              <a:rPr sz="900" b="0">
                <a:solidFill>
                  <a:srgbClr val="71717A"/>
                </a:solidFill>
                <a:latin typeface="Calibri"/>
              </a:rPr>
              <a:t>points balance view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2148840" y="2194560"/>
            <a:ext cx="256032" cy="146304"/>
          </a:xfrm>
          <a:prstGeom prst="rightArrow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560320" y="1554480"/>
            <a:ext cx="3017520" cy="2377440"/>
          </a:xfrm>
          <a:prstGeom prst="roundRect">
            <a:avLst>
              <a:gd name="adj" fmla="val 4000"/>
            </a:avLst>
          </a:prstGeom>
          <a:solidFill>
            <a:srgbClr val="E8EEF4"/>
          </a:solidFill>
          <a:ln w="22225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697480" y="1691640"/>
            <a:ext cx="1234440" cy="256032"/>
          </a:xfrm>
          <a:prstGeom prst="roundRect">
            <a:avLst>
              <a:gd name="adj" fmla="val 4000"/>
            </a:avLst>
          </a:prstGeom>
          <a:solidFill>
            <a:srgbClr val="F0FDF4"/>
          </a:solidFill>
          <a:ln w="12700">
            <a:solidFill>
              <a:srgbClr val="145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697480" y="1709928"/>
            <a:ext cx="1234440" cy="219456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ctr"/>
            <a:r>
              <a:rPr sz="900" b="1">
                <a:solidFill>
                  <a:srgbClr val="14532D"/>
                </a:solidFill>
                <a:latin typeface="Calibri"/>
              </a:rPr>
              <a:t>NEW DOMAIN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23360" y="1719072"/>
            <a:ext cx="1371600" cy="237744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2000" b="1">
                <a:solidFill>
                  <a:srgbClr val="1E3A5F"/>
                </a:solidFill>
                <a:latin typeface="Calibri"/>
              </a:rPr>
              <a:t>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97480" y="2103120"/>
            <a:ext cx="2743200" cy="45720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200" b="0">
                <a:solidFill>
                  <a:srgbClr val="18181B"/>
                </a:solidFill>
                <a:latin typeface="Calibri"/>
              </a:rPr>
              <a:t>Reward System
wallets · rules · posting · books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743200" y="2743200"/>
            <a:ext cx="2651760" cy="914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4D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sim_mark_4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0360" y="2926080"/>
            <a:ext cx="292608" cy="29260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3246120" y="2880360"/>
            <a:ext cx="2011680" cy="256032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200" b="1">
                <a:solidFill>
                  <a:srgbClr val="18181B"/>
                </a:solidFill>
                <a:latin typeface="Calibri"/>
              </a:rPr>
              <a:t>sim-CC  (+ other rails)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46120" y="3200400"/>
            <a:ext cx="2011680" cy="32004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000" b="0">
                <a:solidFill>
                  <a:srgbClr val="71717A"/>
                </a:solidFill>
                <a:latin typeface="Calibri"/>
              </a:rPr>
              <a:t>Card / loan events feed RS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852160" y="1051560"/>
            <a:ext cx="54864" cy="475488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49240" y="5852160"/>
            <a:ext cx="1097280" cy="32004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ctr"/>
            <a:r>
              <a:rPr sz="1000" b="1">
                <a:solidFill>
                  <a:srgbClr val="B91C1C"/>
                </a:solidFill>
                <a:latin typeface="Calibri"/>
              </a:rPr>
              <a:t>boundary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5669280" y="2011680"/>
            <a:ext cx="256032" cy="128016"/>
          </a:xfrm>
          <a:prstGeom prst="rightArrow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623560" y="1691640"/>
            <a:ext cx="1188720" cy="27432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900" b="0">
                <a:solidFill>
                  <a:srgbClr val="B91C1C"/>
                </a:solidFill>
                <a:latin typeface="Calibri"/>
              </a:rPr>
              <a:t>Redeem /
Confirm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26480" y="1097280"/>
            <a:ext cx="5623560" cy="470916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60" y="1188720"/>
            <a:ext cx="5303520" cy="256032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400" b="1">
                <a:solidFill>
                  <a:srgbClr val="1E3A5F"/>
                </a:solidFill>
                <a:latin typeface="Calibri"/>
              </a:rPr>
              <a:t>CBP  ·  Centralized Backend Platform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60" y="1463040"/>
            <a:ext cx="5303520" cy="201168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100" b="0">
                <a:solidFill>
                  <a:srgbClr val="71717A"/>
                </a:solidFill>
                <a:latin typeface="Calibri"/>
              </a:rPr>
              <a:t>Coupon domain control plane  ·  UAF builds &amp; owns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686800" y="1828800"/>
            <a:ext cx="1828800" cy="868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4D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86800" y="1965960"/>
            <a:ext cx="1828800" cy="27432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ctr"/>
            <a:r>
              <a:rPr sz="1400" b="1">
                <a:solidFill>
                  <a:srgbClr val="18181B"/>
                </a:solidFill>
                <a:latin typeface="Calibri"/>
              </a:rPr>
              <a:t>CoD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0" y="2286000"/>
            <a:ext cx="1828800" cy="27432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ctr"/>
            <a:r>
              <a:rPr sz="1000" b="0">
                <a:solidFill>
                  <a:srgbClr val="71717A"/>
                </a:solidFill>
                <a:latin typeface="Calibri"/>
              </a:rPr>
              <a:t>Coupon partner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698480" y="1965960"/>
            <a:ext cx="777240" cy="640080"/>
          </a:xfrm>
          <a:prstGeom prst="roundRect">
            <a:avLst>
              <a:gd name="adj" fmla="val 20000"/>
            </a:avLst>
          </a:prstGeom>
          <a:solidFill>
            <a:srgbClr val="F4F4F5"/>
          </a:solidFill>
          <a:ln w="12700">
            <a:solidFill>
              <a:srgbClr val="D4D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698480" y="2075688"/>
            <a:ext cx="777240" cy="493776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ctr"/>
            <a:r>
              <a:rPr sz="1000" b="1">
                <a:solidFill>
                  <a:srgbClr val="18181B"/>
                </a:solidFill>
                <a:latin typeface="Calibri"/>
              </a:rPr>
              <a:t>DB</a:t>
            </a:r>
          </a:p>
        </p:txBody>
      </p:sp>
      <p:sp>
        <p:nvSpPr>
          <p:cNvPr id="39" name="Right Arrow 38"/>
          <p:cNvSpPr/>
          <p:nvPr/>
        </p:nvSpPr>
        <p:spPr>
          <a:xfrm>
            <a:off x="8138160" y="2057400"/>
            <a:ext cx="182880" cy="91440"/>
          </a:xfrm>
          <a:prstGeom prst="rightArrow">
            <a:avLst/>
          </a:prstGeom>
          <a:solidFill>
            <a:srgbClr val="5252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ight Arrow 39"/>
          <p:cNvSpPr/>
          <p:nvPr/>
        </p:nvSpPr>
        <p:spPr>
          <a:xfrm>
            <a:off x="8138160" y="2240280"/>
            <a:ext cx="182880" cy="91440"/>
          </a:xfrm>
          <a:prstGeom prst="rightArrow">
            <a:avLst/>
          </a:prstGeom>
          <a:solidFill>
            <a:srgbClr val="5252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ight Arrow 40"/>
          <p:cNvSpPr/>
          <p:nvPr/>
        </p:nvSpPr>
        <p:spPr>
          <a:xfrm>
            <a:off x="8138160" y="2423160"/>
            <a:ext cx="182880" cy="91440"/>
          </a:xfrm>
          <a:prstGeom prst="rightArrow">
            <a:avLst/>
          </a:prstGeom>
          <a:solidFill>
            <a:srgbClr val="5252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8686800" y="2926080"/>
            <a:ext cx="1828800" cy="777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4D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86800" y="3017520"/>
            <a:ext cx="1828800" cy="256032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ctr"/>
            <a:r>
              <a:rPr sz="1200" b="1">
                <a:solidFill>
                  <a:srgbClr val="18181B"/>
                </a:solidFill>
                <a:latin typeface="Calibri"/>
              </a:rPr>
              <a:t>Analytics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686800" y="3291840"/>
            <a:ext cx="1828800" cy="27432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ctr"/>
            <a:r>
              <a:rPr sz="1000" b="0">
                <a:solidFill>
                  <a:srgbClr val="71717A"/>
                </a:solidFill>
                <a:latin typeface="Calibri"/>
              </a:rPr>
              <a:t>usage / reporting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698480" y="3017520"/>
            <a:ext cx="777240" cy="594360"/>
          </a:xfrm>
          <a:prstGeom prst="roundRect">
            <a:avLst>
              <a:gd name="adj" fmla="val 20000"/>
            </a:avLst>
          </a:prstGeom>
          <a:solidFill>
            <a:srgbClr val="F4F4F5"/>
          </a:solidFill>
          <a:ln w="12700">
            <a:solidFill>
              <a:srgbClr val="D4D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698480" y="3127248"/>
            <a:ext cx="777240" cy="448056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ctr"/>
            <a:r>
              <a:rPr sz="1000" b="1">
                <a:solidFill>
                  <a:srgbClr val="18181B"/>
                </a:solidFill>
                <a:latin typeface="Calibri"/>
              </a:rPr>
              <a:t>DB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400800" y="3017520"/>
            <a:ext cx="1371600" cy="685800"/>
          </a:xfrm>
          <a:prstGeom prst="roundRect">
            <a:avLst>
              <a:gd name="adj" fmla="val 20000"/>
            </a:avLst>
          </a:prstGeom>
          <a:solidFill>
            <a:srgbClr val="F4F4F5"/>
          </a:solidFill>
          <a:ln w="12700">
            <a:solidFill>
              <a:srgbClr val="D4D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00800" y="3127248"/>
            <a:ext cx="1371600" cy="539496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ctr"/>
            <a:r>
              <a:rPr sz="1000" b="1">
                <a:solidFill>
                  <a:srgbClr val="18181B"/>
                </a:solidFill>
                <a:latin typeface="Calibri"/>
              </a:rPr>
              <a:t>INV
inventory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400800" y="3931920"/>
            <a:ext cx="5029200" cy="1645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4D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537960" y="4023360"/>
            <a:ext cx="4754880" cy="256032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300" b="1">
                <a:solidFill>
                  <a:srgbClr val="1E3A5F"/>
                </a:solidFill>
                <a:latin typeface="Calibri"/>
              </a:rPr>
              <a:t>SOT  ·  Source of truth  (coupon master)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537960" y="4343400"/>
            <a:ext cx="4754880" cy="32004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100" b="0">
                <a:solidFill>
                  <a:srgbClr val="71717A"/>
                </a:solidFill>
                <a:latin typeface="Calibri"/>
              </a:rPr>
              <a:t>Coupon catalogue · stock · eligibility attributes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583680" y="4754880"/>
            <a:ext cx="4663440" cy="640080"/>
          </a:xfrm>
          <a:prstGeom prst="roundRect">
            <a:avLst>
              <a:gd name="adj" fmla="val 3000"/>
            </a:avLst>
          </a:prstGeom>
          <a:solidFill>
            <a:srgbClr val="F4F4F5"/>
          </a:solidFill>
          <a:ln w="12700">
            <a:solidFill>
              <a:srgbClr val="D4D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675120" y="4846320"/>
            <a:ext cx="4572000" cy="45720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100" b="0">
                <a:solidFill>
                  <a:srgbClr val="3F3F46"/>
                </a:solidFill>
                <a:latin typeface="Calibri"/>
              </a:rPr>
              <a:t>Coupon master  |  Cut-in  ·  Pin / sim  ·  channel flags  ·  …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7200" y="3931920"/>
            <a:ext cx="5029200" cy="137160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100" b="0">
                <a:solidFill>
                  <a:srgbClr val="3F3F46"/>
                </a:solidFill>
                <a:latin typeface="Calibri"/>
              </a:rPr>
              <a:t>What lives on the RS side
• Points / wallet / earn-burn logic
• Use-case calculation &amp; posting
• Emits redeem / confirm intent only
• Does not hold coupon stock</a:t>
            </a:r>
          </a:p>
        </p:txBody>
      </p:sp>
      <p:sp>
        <p:nvSpPr>
          <p:cNvPr id="55" name="Rectangle 54"/>
          <p:cNvSpPr/>
          <p:nvPr/>
        </p:nvSpPr>
        <p:spPr>
          <a:xfrm>
            <a:off x="0" y="6126480"/>
            <a:ext cx="12191695" cy="73152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65760" y="6263640"/>
            <a:ext cx="11247120" cy="45720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200" b="0">
                <a:solidFill>
                  <a:srgbClr val="18181B"/>
                </a:solidFill>
                <a:latin typeface="Calibri"/>
              </a:rPr>
              <a:t>Alignment with whiteboard: App → RS  |  red boundary  |  CBP owns CoD, inventory, SOT, analytics.
RS asks to redeem/confirm; CBP executes coupon reality.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uaf_badge_4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8016"/>
            <a:ext cx="1097280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600200" y="128016"/>
            <a:ext cx="8229600" cy="256032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800" b="1">
                <a:solidFill>
                  <a:srgbClr val="18181B"/>
                </a:solidFill>
                <a:latin typeface="Calibri"/>
              </a:rPr>
              <a:t>Cross-boundary contract  ·  RS ↔ CBP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402336"/>
            <a:ext cx="8686800" cy="201168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200" b="0">
                <a:solidFill>
                  <a:srgbClr val="71717A"/>
                </a:solidFill>
                <a:latin typeface="Calibri"/>
              </a:rPr>
              <a:t>Keep the red line clean — few intents, clear ownership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201168"/>
            <a:ext cx="914400" cy="219456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100" b="0">
                <a:solidFill>
                  <a:srgbClr val="71717A"/>
                </a:solidFill>
                <a:latin typeface="Calibri"/>
              </a:rPr>
              <a:t>2 / 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822960"/>
            <a:ext cx="5212080" cy="48463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822960"/>
            <a:ext cx="5212080" cy="411480"/>
          </a:xfrm>
          <a:prstGeom prst="rect">
            <a:avLst/>
          </a:prstGeom>
          <a:solidFill>
            <a:srgbClr val="E8EEF4"/>
          </a:solidFill>
          <a:ln w="12700">
            <a:solidFill>
              <a:srgbClr val="D4D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896112"/>
            <a:ext cx="4937760" cy="27432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400" b="1">
                <a:solidFill>
                  <a:srgbClr val="1E3A5F"/>
                </a:solidFill>
                <a:latin typeface="Calibri"/>
              </a:rPr>
              <a:t>Reward System owns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417320"/>
            <a:ext cx="4754880" cy="36576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300" b="0">
                <a:solidFill>
                  <a:srgbClr val="18181B"/>
                </a:solidFill>
                <a:latin typeface="Calibri"/>
              </a:rPr>
              <a:t>• Customer wallet &amp; point balances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801368"/>
            <a:ext cx="4754880" cy="36576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300" b="0">
                <a:solidFill>
                  <a:srgbClr val="18181B"/>
                </a:solidFill>
                <a:latin typeface="Calibri"/>
              </a:rPr>
              <a:t>• Earn / burn / hold calculation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185416"/>
            <a:ext cx="4754880" cy="36576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300" b="0">
                <a:solidFill>
                  <a:srgbClr val="18181B"/>
                </a:solidFill>
                <a:latin typeface="Calibri"/>
              </a:rPr>
              <a:t>• Use-case rules &amp; posting books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569464"/>
            <a:ext cx="4754880" cy="36576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300" b="0">
                <a:solidFill>
                  <a:srgbClr val="18181B"/>
                </a:solidFill>
                <a:latin typeface="Calibri"/>
              </a:rPr>
              <a:t>• Idempotent event identity (eventId)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953512"/>
            <a:ext cx="4754880" cy="36576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300" b="0">
                <a:solidFill>
                  <a:srgbClr val="3F3F46"/>
                </a:solidFill>
                <a:latin typeface="Calibri"/>
              </a:rPr>
              <a:t>• Outbound intents only: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337560"/>
            <a:ext cx="4754880" cy="36576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300" b="0">
                <a:solidFill>
                  <a:srgbClr val="3F3F46"/>
                </a:solidFill>
                <a:latin typeface="Calibri"/>
              </a:rPr>
              <a:t>· Redeem request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721608"/>
            <a:ext cx="4754880" cy="36576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300" b="0">
                <a:solidFill>
                  <a:srgbClr val="3F3F46"/>
                </a:solidFill>
                <a:latin typeface="Calibri"/>
              </a:rPr>
              <a:t>· Confirm / settlement signal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105656"/>
            <a:ext cx="4754880" cy="36576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300" b="0">
                <a:solidFill>
                  <a:srgbClr val="3F3F46"/>
                </a:solidFill>
                <a:latin typeface="Calibri"/>
              </a:rPr>
              <a:t>· Balance-updated facts (optional bus)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37960" y="822960"/>
            <a:ext cx="5212080" cy="48463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37960" y="822960"/>
            <a:ext cx="5212080" cy="411480"/>
          </a:xfrm>
          <a:prstGeom prst="rect">
            <a:avLst/>
          </a:prstGeom>
          <a:solidFill>
            <a:srgbClr val="EEF2F7"/>
          </a:solidFill>
          <a:ln w="12700">
            <a:solidFill>
              <a:srgbClr val="D4D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0" y="896112"/>
            <a:ext cx="4937760" cy="27432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400" b="1">
                <a:solidFill>
                  <a:srgbClr val="1E3A5F"/>
                </a:solidFill>
                <a:latin typeface="Calibri"/>
              </a:rPr>
              <a:t>CBP owns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12280" y="1417320"/>
            <a:ext cx="4754880" cy="36576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300" b="0">
                <a:solidFill>
                  <a:srgbClr val="18181B"/>
                </a:solidFill>
                <a:latin typeface="Calibri"/>
              </a:rPr>
              <a:t>• Coupon inventory (INV)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12280" y="1801368"/>
            <a:ext cx="4754880" cy="36576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300" b="0">
                <a:solidFill>
                  <a:srgbClr val="18181B"/>
                </a:solidFill>
                <a:latin typeface="Calibri"/>
              </a:rPr>
              <a:t>• Coupon master / SOT attributes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12280" y="2185416"/>
            <a:ext cx="4754880" cy="36576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300" b="0">
                <a:solidFill>
                  <a:srgbClr val="18181B"/>
                </a:solidFill>
                <a:latin typeface="Calibri"/>
              </a:rPr>
              <a:t>• Issue · redeem · void execution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12280" y="2569464"/>
            <a:ext cx="4754880" cy="36576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300" b="0">
                <a:solidFill>
                  <a:srgbClr val="18181B"/>
                </a:solidFill>
                <a:latin typeface="Calibri"/>
              </a:rPr>
              <a:t>• CoD &amp; partner connectivity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12280" y="2953512"/>
            <a:ext cx="4754880" cy="36576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300" b="0">
                <a:solidFill>
                  <a:srgbClr val="18181B"/>
                </a:solidFill>
                <a:latin typeface="Calibri"/>
              </a:rPr>
              <a:t>• Analytics stores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12280" y="3337560"/>
            <a:ext cx="4754880" cy="36576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300" b="0">
                <a:solidFill>
                  <a:srgbClr val="18181B"/>
                </a:solidFill>
                <a:latin typeface="Calibri"/>
              </a:rPr>
              <a:t>• Customer-facing coupon state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12280" y="3721608"/>
            <a:ext cx="4754880" cy="36576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300" b="0">
                <a:solidFill>
                  <a:srgbClr val="18181B"/>
                </a:solidFill>
                <a:latin typeface="Calibri"/>
              </a:rPr>
              <a:t>• Partner settlement rails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12280" y="4105656"/>
            <a:ext cx="4754880" cy="36576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300" b="0">
                <a:solidFill>
                  <a:srgbClr val="18181B"/>
                </a:solidFill>
                <a:latin typeface="Calibri"/>
              </a:rPr>
              <a:t>• Never re-implements points math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806440" y="822960"/>
            <a:ext cx="73152" cy="484632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623560" y="5760720"/>
            <a:ext cx="457200" cy="27432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800" b="0">
                <a:solidFill>
                  <a:srgbClr val="B91C1C"/>
                </a:solidFill>
                <a:latin typeface="Calibri"/>
              </a:rPr>
              <a:t> 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5760" y="6035040"/>
            <a:ext cx="11247120" cy="64008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300" b="0">
                <a:solidFill>
                  <a:srgbClr val="18181B"/>
                </a:solidFill>
                <a:latin typeface="Calibri"/>
              </a:rPr>
              <a:t>Presentation line for CTO
We draw one hard boundary. Reward System is the points domain we stand up. CBP is our coupon control plane — inventory, SOT, CoD, analytics stay on our side of the line.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