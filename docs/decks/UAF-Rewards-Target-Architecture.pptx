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af_badg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304"/>
            <a:ext cx="1143000" cy="365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1640" y="146304"/>
            <a:ext cx="82296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Target architecture  ·  Rewards platform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420624"/>
            <a:ext cx="82296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UAF builds the platform  ·  clear domain boundaries  ·  Reward System as the core domain capability</a:t>
            </a:r>
          </a:p>
        </p:txBody>
      </p:sp>
      <p:pic>
        <p:nvPicPr>
          <p:cNvPr id="7" name="Picture 6" descr="sim_mark_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0" y="182880"/>
            <a:ext cx="329184" cy="3291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881360" y="237744"/>
            <a:ext cx="82296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1 /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731520"/>
            <a:ext cx="11365992" cy="384048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804672"/>
            <a:ext cx="1106424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1E3A5F"/>
                </a:solidFill>
                <a:latin typeface="Calibri"/>
              </a:rPr>
              <a:t>Design principle: channel systems · integration fabric · Reward System · UAF orchestration · fulfillment systems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280160"/>
            <a:ext cx="2011680" cy="4709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4604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1280160"/>
            <a:ext cx="201168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335024"/>
            <a:ext cx="18288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A  Channel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536192"/>
            <a:ext cx="1828800" cy="1645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Existing UAF estate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1280160"/>
            <a:ext cx="1965960" cy="4709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4604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06040" y="1280160"/>
            <a:ext cx="19659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1335024"/>
            <a:ext cx="178308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B  Integration fabric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1536192"/>
            <a:ext cx="1783080" cy="1645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How we connect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54880" y="1280160"/>
            <a:ext cx="3520440" cy="4709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4604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1280160"/>
            <a:ext cx="352044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1335024"/>
            <a:ext cx="333756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C  Reward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1536192"/>
            <a:ext cx="3337560" cy="1645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New core domain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1280160"/>
            <a:ext cx="1417320" cy="4709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4604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58200" y="1280160"/>
            <a:ext cx="141732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1335024"/>
            <a:ext cx="123444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D  Platform add-ons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1536192"/>
            <a:ext cx="1234440" cy="1645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Evolve later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1280160"/>
            <a:ext cx="1737360" cy="4709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4604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0" y="1280160"/>
            <a:ext cx="1737360" cy="457200"/>
          </a:xfrm>
          <a:prstGeom prst="rect">
            <a:avLst/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1335024"/>
            <a:ext cx="155448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E3A5F"/>
                </a:solidFill>
                <a:latin typeface="Calibri"/>
              </a:rPr>
              <a:t>E  Fulfillment estate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1536192"/>
            <a:ext cx="1554480" cy="16459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900" b="0">
                <a:solidFill>
                  <a:srgbClr val="71717A"/>
                </a:solidFill>
                <a:latin typeface="Calibri"/>
              </a:rPr>
              <a:t>Existing + CBP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2450592" y="310896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ight Arrow 31"/>
          <p:cNvSpPr/>
          <p:nvPr/>
        </p:nvSpPr>
        <p:spPr>
          <a:xfrm>
            <a:off x="4599432" y="310896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ight Arrow 32"/>
          <p:cNvSpPr/>
          <p:nvPr/>
        </p:nvSpPr>
        <p:spPr>
          <a:xfrm>
            <a:off x="8302752" y="310896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ight Arrow 33"/>
          <p:cNvSpPr/>
          <p:nvPr/>
        </p:nvSpPr>
        <p:spPr>
          <a:xfrm>
            <a:off x="9902952" y="310896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ight Arrow 34"/>
          <p:cNvSpPr/>
          <p:nvPr/>
        </p:nvSpPr>
        <p:spPr>
          <a:xfrm>
            <a:off x="2450592" y="429768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4599432" y="429768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8302752" y="429768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9902952" y="4297680"/>
            <a:ext cx="146304" cy="100584"/>
          </a:xfrm>
          <a:prstGeom prst="rightArrow">
            <a:avLst/>
          </a:prstGeom>
          <a:solidFill>
            <a:srgbClr val="52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02920" y="1874520"/>
            <a:ext cx="1828800" cy="86868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1965960"/>
            <a:ext cx="1664208" cy="74066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Credit card systems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Spend / auth events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2880360"/>
            <a:ext cx="1828800" cy="86868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2971800"/>
            <a:ext cx="1664208" cy="74066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Loan systems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Drawdown / DD events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3886200"/>
            <a:ext cx="1828800" cy="86868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977640"/>
            <a:ext cx="1664208" cy="74066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Digital channels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Yes UA · sim · CRM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5074920"/>
            <a:ext cx="1828800" cy="6400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Stay as systems of record.
Emit business events only.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7480" y="1828800"/>
            <a:ext cx="178308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Thin, standard connectors
(REST · bus · batch)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697480" y="2331720"/>
            <a:ext cx="1783080" cy="77724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re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0632" y="2560320"/>
            <a:ext cx="274320" cy="274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108960" y="2496312"/>
            <a:ext cx="1280160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REST API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Use-case invoke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97480" y="3200400"/>
            <a:ext cx="1783080" cy="77724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kafk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632" y="3429000"/>
            <a:ext cx="274320" cy="27432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108960" y="3364992"/>
            <a:ext cx="1280160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Event bus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Async delivery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697480" y="4069080"/>
            <a:ext cx="1783080" cy="77724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70632" y="4297680"/>
            <a:ext cx="274320" cy="274320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3108960" y="4233672"/>
            <a:ext cx="1280160" cy="5486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Batch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File / bulk path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697480" y="5120640"/>
            <a:ext cx="1783080" cy="5943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Stable contract:
ownerId + use-case code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46320" y="1810512"/>
            <a:ext cx="1371600" cy="237744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145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46320" y="1828800"/>
            <a:ext cx="13716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1">
                <a:solidFill>
                  <a:srgbClr val="14532D"/>
                </a:solidFill>
                <a:latin typeface="Calibri"/>
              </a:rPr>
              <a:t>NEW DOMAIN BUILD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09360" y="1828800"/>
            <a:ext cx="178308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Central rewards domain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846320" y="2176272"/>
            <a:ext cx="1600200" cy="658368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37760" y="2267712"/>
            <a:ext cx="1435608" cy="5303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Customer onboarding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Wallet · multi-currency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37960" y="2176272"/>
            <a:ext cx="1600200" cy="658368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29400" y="2267712"/>
            <a:ext cx="1435608" cy="5303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Referrer management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Referral rules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4846320" y="2907792"/>
            <a:ext cx="1600200" cy="658368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937760" y="2999232"/>
            <a:ext cx="1435608" cy="5303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Posting engine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Double-entry settle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37960" y="2907792"/>
            <a:ext cx="1600200" cy="658368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2999232"/>
            <a:ext cx="1435608" cy="5303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Ledger books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Balances · movements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846320" y="3639312"/>
            <a:ext cx="1600200" cy="658368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37760" y="3730752"/>
            <a:ext cx="1435608" cy="5303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Account rules (COA)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Finance profiles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537960" y="3639312"/>
            <a:ext cx="1600200" cy="658368"/>
          </a:xfrm>
          <a:prstGeom prst="roundRect">
            <a:avLst>
              <a:gd name="adj" fmla="val 3000"/>
            </a:avLst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629400" y="3730752"/>
            <a:ext cx="1435608" cy="53035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Points calculation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Formula engine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4846320" y="4434840"/>
            <a:ext cx="3337560" cy="384048"/>
          </a:xfrm>
          <a:prstGeom prst="roundRect">
            <a:avLst>
              <a:gd name="adj" fmla="val 3000"/>
            </a:avLst>
          </a:prstGeom>
          <a:solidFill>
            <a:srgbClr val="EEF2F7"/>
          </a:solidFill>
          <a:ln w="14604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01184" y="4498848"/>
            <a:ext cx="324612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1">
                <a:solidFill>
                  <a:srgbClr val="1E3A5F"/>
                </a:solidFill>
                <a:latin typeface="Calibri"/>
              </a:rPr>
              <a:t>Runtime: event → admit → calculate → post → books → outbound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46320" y="4983480"/>
            <a:ext cx="3337560" cy="7315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Ops-owned configuration (rules, COA, catalog).
Channel teams call use-cases — they do not re-implement scoring math.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49640" y="1828800"/>
            <a:ext cx="123444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Planned extensions
without forking core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549640" y="2423160"/>
            <a:ext cx="1234440" cy="77724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641080" y="2514600"/>
            <a:ext cx="1069848" cy="64922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Wallet tiering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Roadmap slot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549640" y="3337560"/>
            <a:ext cx="1234440" cy="77724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41080" y="3429000"/>
            <a:ext cx="1069848" cy="64922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Campaign packs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Roadmap slot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8549640" y="4251960"/>
            <a:ext cx="1234440" cy="77724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41080" y="4343400"/>
            <a:ext cx="1069848" cy="649224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8181B"/>
                </a:solidFill>
                <a:latin typeface="Calibri"/>
              </a:rPr>
              <a:t>Future modules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71717A"/>
                </a:solidFill>
                <a:latin typeface="Calibri"/>
              </a:rPr>
              <a:t>Roadmap slot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149840" y="1810512"/>
            <a:ext cx="155448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000" b="0">
                <a:solidFill>
                  <a:srgbClr val="71717A"/>
                </a:solidFill>
                <a:latin typeface="Calibri"/>
              </a:rPr>
              <a:t>Behind boundary
(see slide 2)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149840" y="2331720"/>
            <a:ext cx="1554480" cy="6858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241280" y="2459736"/>
            <a:ext cx="1389888" cy="5212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E-coupon / CBP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0149840" y="3108960"/>
            <a:ext cx="1554480" cy="6858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241280" y="3236976"/>
            <a:ext cx="1389888" cy="5212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Gift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0149840" y="3886200"/>
            <a:ext cx="1554480" cy="6858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241280" y="4014216"/>
            <a:ext cx="1389888" cy="5212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Notification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0149840" y="4663440"/>
            <a:ext cx="1554480" cy="685800"/>
          </a:xfrm>
          <a:prstGeom prst="roundRect">
            <a:avLst>
              <a:gd name="adj" fmla="val 3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241280" y="4791456"/>
            <a:ext cx="1389888" cy="52120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1">
                <a:solidFill>
                  <a:srgbClr val="18181B"/>
                </a:solidFill>
                <a:latin typeface="Calibri"/>
              </a:rPr>
              <a:t>XAPI / CRM</a:t>
            </a:r>
          </a:p>
        </p:txBody>
      </p:sp>
      <p:sp>
        <p:nvSpPr>
          <p:cNvPr id="91" name="Rectangle 90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11480" y="6309360"/>
            <a:ext cx="1097280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CTO narrative: We stand up a modern rewards domain with clean boundaries — channels stay thin, Reward System is centralized, fulfillment remains ours.
This is UAF platform architecture — a domain we own and operate.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af_badge_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"/>
            <a:ext cx="1097280" cy="347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200" y="128016"/>
            <a:ext cx="86868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800" b="1">
                <a:solidFill>
                  <a:srgbClr val="18181B"/>
                </a:solidFill>
                <a:latin typeface="Calibri"/>
              </a:rPr>
              <a:t>Hard boundary  ·  Reward System  |  CBP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402336"/>
            <a:ext cx="8686800" cy="201168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71717A"/>
                </a:solidFill>
                <a:latin typeface="Calibri"/>
              </a:rPr>
              <a:t>Whiteboard alignment: App → RS · red line · CBP (CoD · INV · SOT · Analytics)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182880"/>
            <a:ext cx="914400" cy="219456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2 /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777240"/>
            <a:ext cx="1371600" cy="868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4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914400"/>
            <a:ext cx="13716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300" b="1">
                <a:solidFill>
                  <a:srgbClr val="18181B"/>
                </a:solidFill>
                <a:latin typeface="Calibri"/>
              </a:rPr>
              <a:t>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16152"/>
            <a:ext cx="13716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71717A"/>
                </a:solidFill>
                <a:latin typeface="Calibri"/>
              </a:rPr>
              <a:t>Yes UA · channels
+ Wallet (RP)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874519" y="1143000"/>
            <a:ext cx="201168" cy="128016"/>
          </a:xfrm>
          <a:prstGeom prst="rightArrow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94560" y="777240"/>
            <a:ext cx="2286000" cy="868680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886968"/>
            <a:ext cx="22860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300" b="1">
                <a:solidFill>
                  <a:srgbClr val="1E3A5F"/>
                </a:solidFill>
                <a:latin typeface="Calibri"/>
              </a:rPr>
              <a:t>Reward System (RS)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188720"/>
            <a:ext cx="228600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0">
                <a:solidFill>
                  <a:srgbClr val="71717A"/>
                </a:solidFill>
                <a:latin typeface="Calibri"/>
              </a:rPr>
              <a:t>points · rules · books
+ sim-CC event feed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617720" y="1005840"/>
            <a:ext cx="256032" cy="109728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1216152"/>
            <a:ext cx="1005840" cy="36576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1000" b="1">
                <a:solidFill>
                  <a:srgbClr val="B91C1C"/>
                </a:solidFill>
                <a:latin typeface="Calibri"/>
              </a:rPr>
              <a:t>Redeem /
Confirm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617720" y="1417320"/>
            <a:ext cx="256032" cy="109728"/>
          </a:xfrm>
          <a:prstGeom prst="rightArrow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23560" y="777240"/>
            <a:ext cx="6126480" cy="868680"/>
          </a:xfrm>
          <a:prstGeom prst="roundRect">
            <a:avLst>
              <a:gd name="adj" fmla="val 4000"/>
            </a:avLst>
          </a:prstGeom>
          <a:solidFill>
            <a:srgbClr val="EEF2F7"/>
          </a:solidFill>
          <a:ln w="1905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886968"/>
            <a:ext cx="585216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CBP  ·  Centralized Backend Platform  (UAF-owned)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216152"/>
            <a:ext cx="585216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Executes coupon reality after RS intent  ·  CoD · INV · SOT · Analytics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1783080"/>
            <a:ext cx="54864" cy="3977639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5806440"/>
            <a:ext cx="640080" cy="22860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ctr"/>
            <a:r>
              <a:rPr sz="900" b="1">
                <a:solidFill>
                  <a:srgbClr val="B91C1C"/>
                </a:solidFill>
                <a:latin typeface="Calibri"/>
              </a:rPr>
              <a:t>boundary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1874519"/>
            <a:ext cx="4709160" cy="3794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1874519"/>
            <a:ext cx="4709160" cy="384048"/>
          </a:xfrm>
          <a:prstGeom prst="rect">
            <a:avLst/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1938528"/>
            <a:ext cx="448056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Left of line  ·  Reward System owns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2377440"/>
            <a:ext cx="4297680" cy="34747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8181B"/>
                </a:solidFill>
                <a:latin typeface="Calibri"/>
              </a:rPr>
              <a:t>Wallet / RP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1717A"/>
                </a:solidFill>
                <a:latin typeface="Calibri"/>
              </a:rPr>
              <a:t>Point balances the customer sees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2743200"/>
            <a:ext cx="4297680" cy="34747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8181B"/>
                </a:solidFill>
                <a:latin typeface="Calibri"/>
              </a:rPr>
              <a:t>Earn / burn / hold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1717A"/>
                </a:solidFill>
                <a:latin typeface="Calibri"/>
              </a:rPr>
              <a:t>Calculation &amp; posting books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3108960"/>
            <a:ext cx="4297680" cy="34747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8181B"/>
                </a:solidFill>
                <a:latin typeface="Calibri"/>
              </a:rPr>
              <a:t>Use-case rules + COA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1717A"/>
                </a:solidFill>
                <a:latin typeface="Calibri"/>
              </a:rPr>
              <a:t>Ops config — not channel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474720"/>
            <a:ext cx="4297680" cy="34747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8181B"/>
                </a:solidFill>
                <a:latin typeface="Calibri"/>
              </a:rPr>
              <a:t>sim-CC (+ other rails)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71717A"/>
                </a:solidFill>
                <a:latin typeface="Calibri"/>
              </a:rPr>
              <a:t>Business events in; points 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840480"/>
            <a:ext cx="429768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1">
                <a:solidFill>
                  <a:srgbClr val="B91C1C"/>
                </a:solidFill>
                <a:latin typeface="Calibri"/>
              </a:rPr>
              <a:t>Across the line, only: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4206240"/>
            <a:ext cx="41148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B91C1C"/>
                </a:solidFill>
                <a:latin typeface="Calibri"/>
              </a:rPr>
              <a:t>→ Redeem request  —  Intent to use points → coupon path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572000"/>
            <a:ext cx="41148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B91C1C"/>
                </a:solidFill>
                <a:latin typeface="Calibri"/>
              </a:rPr>
              <a:t>→ Confirm signal  —  Settlement / completion handshake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937760"/>
            <a:ext cx="4114800" cy="3200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3F3F46"/>
                </a:solidFill>
                <a:latin typeface="Calibri"/>
              </a:rPr>
              <a:t>→ (Optional) balance facts  —  Bus event for hub / CRM sync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0" y="1874519"/>
            <a:ext cx="6080760" cy="3794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5875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0" y="1874519"/>
            <a:ext cx="6080760" cy="384048"/>
          </a:xfrm>
          <a:prstGeom prst="rect">
            <a:avLst/>
          </a:prstGeom>
          <a:solidFill>
            <a:srgbClr val="EEF2F7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6440" y="1938528"/>
            <a:ext cx="5852160" cy="2743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1E3A5F"/>
                </a:solidFill>
                <a:latin typeface="Calibri"/>
              </a:rPr>
              <a:t>Right of line  ·  CBP owns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52160" y="2423160"/>
            <a:ext cx="2743200" cy="914400"/>
          </a:xfrm>
          <a:prstGeom prst="roundRect">
            <a:avLst>
              <a:gd name="adj" fmla="val 4000"/>
            </a:avLst>
          </a:prstGeom>
          <a:solidFill>
            <a:srgbClr val="E8EEF4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61888" y="2532888"/>
            <a:ext cx="25146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CoD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61888" y="2834640"/>
            <a:ext cx="251460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Coupon partner connectivity
Partner DB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32520" y="2423160"/>
            <a:ext cx="2743200" cy="91440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42248" y="2532888"/>
            <a:ext cx="25146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INV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42248" y="2834640"/>
            <a:ext cx="251460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Coupon inventory
Stock levels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52160" y="3474720"/>
            <a:ext cx="2743200" cy="91440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61888" y="3584448"/>
            <a:ext cx="25146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SOT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61888" y="3886200"/>
            <a:ext cx="251460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Coupon master (source of truth)
Cut-in · pin/sim · channel flags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32520" y="3474720"/>
            <a:ext cx="2743200" cy="914400"/>
          </a:xfrm>
          <a:prstGeom prst="roundRect">
            <a:avLst>
              <a:gd name="adj" fmla="val 4000"/>
            </a:avLst>
          </a:prstGeom>
          <a:solidFill>
            <a:srgbClr val="F4F4F5"/>
          </a:solidFill>
          <a:ln w="12700">
            <a:solidFill>
              <a:srgbClr val="D4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42248" y="3584448"/>
            <a:ext cx="2514600" cy="256032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300" b="1">
                <a:solidFill>
                  <a:srgbClr val="18181B"/>
                </a:solidFill>
                <a:latin typeface="Calibri"/>
              </a:rPr>
              <a:t>Analytics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42248" y="3886200"/>
            <a:ext cx="2514600" cy="41148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71717A"/>
                </a:solidFill>
                <a:latin typeface="Calibri"/>
              </a:rPr>
              <a:t>Usage / reporting stores
Separate DB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4663440"/>
            <a:ext cx="5669280" cy="77724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100" b="0">
                <a:solidFill>
                  <a:srgbClr val="3F3F46"/>
                </a:solidFill>
                <a:latin typeface="Calibri"/>
              </a:rPr>
              <a:t>Also remains UAF-side (not RS):
Gift · Notification · XAPI/CRM — driven after CBP/hub decisions.
CBP never re-implements points math.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11480" y="5989320"/>
            <a:ext cx="11155680" cy="731520"/>
          </a:xfrm>
          <a:prstGeom prst="rect">
            <a:avLst/>
          </a:prstGeom>
          <a:noFill/>
        </p:spPr>
        <p:txBody>
          <a:bodyPr wrap="square" lIns="25400" rIns="25400" tIns="0" bIns="0">
            <a:spAutoFit/>
          </a:bodyPr>
          <a:lstStyle/>
          <a:p>
            <a:pPr algn="l"/>
            <a:r>
              <a:rPr sz="1200" b="0">
                <a:solidFill>
                  <a:srgbClr val="18181B"/>
                </a:solidFill>
                <a:latin typeface="Calibri"/>
              </a:rPr>
              <a:t>CTO whiteboard → architecture rule
1) One red line: RS does not hold coupon stock or partner rails.
2) Cross-line verbs are few: Redeem / Confirm (not open CRUD into CBP).
3) CBP is our coupon control plane (CoD · INV · SOT · Analytics) — we build and own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