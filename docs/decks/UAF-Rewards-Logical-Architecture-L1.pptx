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9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32004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73152"/>
            <a:ext cx="7863840" cy="256032"/>
          </a:xfrm>
          <a:prstGeom prst="rect">
            <a:avLst/>
          </a:prstGeom>
          <a:noFill/>
        </p:spPr>
        <p:txBody>
          <a:bodyPr wrap="square" lIns="25400" rIns="25400" tIns="381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800" b="1">
                <a:solidFill>
                  <a:srgbClr val="1B3A5F"/>
                </a:solidFill>
                <a:latin typeface="Calibri"/>
              </a:rPr>
              <a:t>UAF Rewards  ·  Logical Architecture  (L1)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" y="329184"/>
            <a:ext cx="8046720" cy="182880"/>
          </a:xfrm>
          <a:prstGeom prst="rect">
            <a:avLst/>
          </a:prstGeom>
          <a:noFill/>
        </p:spPr>
        <p:txBody>
          <a:bodyPr wrap="square" lIns="25400" rIns="25400" tIns="381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6B7C8D"/>
                </a:solidFill>
                <a:latin typeface="Calibri"/>
              </a:rPr>
              <a:t>Channels stay thin   ·   Reward System is the core domain   ·   CRP owns coupon reality   ·   partners at the edge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0" y="146304"/>
            <a:ext cx="164592" cy="128016"/>
          </a:xfrm>
          <a:prstGeom prst="roundRect">
            <a:avLst>
              <a:gd name="adj" fmla="val 25000"/>
            </a:avLst>
          </a:prstGeom>
          <a:solidFill>
            <a:srgbClr val="D6EAF8"/>
          </a:solidFill>
          <a:ln w="9525">
            <a:solidFill>
              <a:srgbClr val="7FB3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87968" y="128016"/>
            <a:ext cx="777240" cy="164592"/>
          </a:xfrm>
          <a:prstGeom prst="rect">
            <a:avLst/>
          </a:prstGeom>
          <a:noFill/>
        </p:spPr>
        <p:txBody>
          <a:bodyPr wrap="square" lIns="25400" rIns="25400" tIns="381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B7C8D"/>
                </a:solidFill>
                <a:latin typeface="Calibri"/>
              </a:rPr>
              <a:t>Capability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46920" y="146304"/>
            <a:ext cx="164592" cy="128016"/>
          </a:xfrm>
          <a:prstGeom prst="roundRect">
            <a:avLst>
              <a:gd name="adj" fmla="val 25000"/>
            </a:avLst>
          </a:prstGeom>
          <a:solidFill>
            <a:srgbClr val="F6C6C7"/>
          </a:solidFill>
          <a:ln w="9525">
            <a:solidFill>
              <a:srgbClr val="E0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848088" y="128016"/>
            <a:ext cx="777240" cy="164592"/>
          </a:xfrm>
          <a:prstGeom prst="rect">
            <a:avLst/>
          </a:prstGeom>
          <a:noFill/>
        </p:spPr>
        <p:txBody>
          <a:bodyPr wrap="square" lIns="25400" rIns="25400" tIns="381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B7C8D"/>
                </a:solidFill>
                <a:latin typeface="Calibri"/>
              </a:rPr>
              <a:t>Service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442448" y="146304"/>
            <a:ext cx="164592" cy="128016"/>
          </a:xfrm>
          <a:prstGeom prst="roundRect">
            <a:avLst>
              <a:gd name="adj" fmla="val 25000"/>
            </a:avLst>
          </a:prstGeom>
          <a:solidFill>
            <a:srgbClr val="D4EDDA"/>
          </a:solidFill>
          <a:ln w="9525">
            <a:solidFill>
              <a:srgbClr val="82C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643616" y="128016"/>
            <a:ext cx="777240" cy="164592"/>
          </a:xfrm>
          <a:prstGeom prst="rect">
            <a:avLst/>
          </a:prstGeom>
          <a:noFill/>
        </p:spPr>
        <p:txBody>
          <a:bodyPr wrap="square" lIns="25400" rIns="25400" tIns="381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B7C8D"/>
                </a:solidFill>
                <a:latin typeface="Calibri"/>
              </a:rPr>
              <a:t>Rail / COD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265408" y="146304"/>
            <a:ext cx="164592" cy="128016"/>
          </a:xfrm>
          <a:prstGeom prst="roundRect">
            <a:avLst>
              <a:gd name="adj" fmla="val 25000"/>
            </a:avLst>
          </a:prstGeom>
          <a:solidFill>
            <a:srgbClr val="E8ECF0"/>
          </a:solidFill>
          <a:ln w="9525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66576" y="128016"/>
            <a:ext cx="777240" cy="164592"/>
          </a:xfrm>
          <a:prstGeom prst="rect">
            <a:avLst/>
          </a:prstGeom>
          <a:noFill/>
        </p:spPr>
        <p:txBody>
          <a:bodyPr wrap="square" lIns="25400" rIns="25400" tIns="381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B7C8D"/>
                </a:solidFill>
                <a:latin typeface="Calibri"/>
              </a:rPr>
              <a:t>Store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42416" y="566928"/>
            <a:ext cx="9646920" cy="987552"/>
          </a:xfrm>
          <a:prstGeom prst="rect">
            <a:avLst/>
          </a:prstGeom>
          <a:solidFill>
            <a:srgbClr val="EEF3F8"/>
          </a:solidFill>
          <a:ln w="762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01168" y="566928"/>
            <a:ext cx="841248" cy="987552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2540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B7C9DC"/>
                </a:solidFill>
                <a:latin typeface="Calibri"/>
              </a:rPr>
              <a:t>01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CHANNELS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33856" y="658368"/>
            <a:ext cx="2240280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2540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B3A5F"/>
                </a:solidFill>
                <a:latin typeface="Calibri"/>
              </a:rPr>
              <a:t>Business use-cases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B7C8D"/>
                </a:solidFill>
                <a:latin typeface="Calibri"/>
              </a:rPr>
              <a:t>Activation · Merchant · App event
Campaign · Game · Offline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65576" y="658368"/>
            <a:ext cx="2331720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2540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B3A5F"/>
                </a:solidFill>
                <a:latin typeface="Calibri"/>
              </a:rPr>
              <a:t>Public clients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B7C8D"/>
                </a:solidFill>
                <a:latin typeface="Calibri"/>
              </a:rPr>
              <a:t>Yes UA   ·   sim   ·   Web / QR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88736" y="658368"/>
            <a:ext cx="1965960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2540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B3A5F"/>
                </a:solidFill>
                <a:latin typeface="Calibri"/>
              </a:rPr>
              <a:t>Internal platform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B7C8D"/>
                </a:solidFill>
                <a:latin typeface="Calibri"/>
              </a:rPr>
              <a:t>Ops UI  ·  CSP  ·  IAM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946136" y="658368"/>
            <a:ext cx="2651760" cy="8046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2540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B3A5F"/>
                </a:solidFill>
                <a:latin typeface="Calibri"/>
              </a:rPr>
              <a:t>External rails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65008" y="969264"/>
            <a:ext cx="768096" cy="219456"/>
          </a:xfrm>
          <a:prstGeom prst="roundRect">
            <a:avLst>
              <a:gd name="adj" fmla="val 22000"/>
            </a:avLst>
          </a:prstGeom>
          <a:solidFill>
            <a:srgbClr val="D4EDDA"/>
          </a:solidFill>
          <a:ln w="9525">
            <a:solidFill>
              <a:srgbClr val="82C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38100" bIns="2540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1E6B48"/>
                </a:solidFill>
                <a:latin typeface="Calibri"/>
              </a:rPr>
              <a:t>e6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887968" y="969264"/>
            <a:ext cx="768096" cy="219456"/>
          </a:xfrm>
          <a:prstGeom prst="roundRect">
            <a:avLst>
              <a:gd name="adj" fmla="val 22000"/>
            </a:avLst>
          </a:prstGeom>
          <a:solidFill>
            <a:srgbClr val="D4EDDA"/>
          </a:solidFill>
          <a:ln w="9525">
            <a:solidFill>
              <a:srgbClr val="82C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38100" bIns="2540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1E6B48"/>
                </a:solidFill>
                <a:latin typeface="Calibri"/>
              </a:rPr>
              <a:t>FPS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10928" y="969264"/>
            <a:ext cx="768096" cy="219456"/>
          </a:xfrm>
          <a:prstGeom prst="roundRect">
            <a:avLst>
              <a:gd name="adj" fmla="val 22000"/>
            </a:avLst>
          </a:prstGeom>
          <a:solidFill>
            <a:srgbClr val="D4EDDA"/>
          </a:solidFill>
          <a:ln w="9525">
            <a:solidFill>
              <a:srgbClr val="82C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38100" bIns="2540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1E6B48"/>
                </a:solidFill>
                <a:latin typeface="Calibri"/>
              </a:rPr>
              <a:t>PPS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65008" y="1225296"/>
            <a:ext cx="768096" cy="219456"/>
          </a:xfrm>
          <a:prstGeom prst="roundRect">
            <a:avLst>
              <a:gd name="adj" fmla="val 22000"/>
            </a:avLst>
          </a:prstGeom>
          <a:solidFill>
            <a:srgbClr val="D4EDDA"/>
          </a:solidFill>
          <a:ln w="9525">
            <a:solidFill>
              <a:srgbClr val="82C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38100" bIns="2540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1E6B48"/>
                </a:solidFill>
                <a:latin typeface="Calibri"/>
              </a:rPr>
              <a:t>Circle 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887968" y="1225296"/>
            <a:ext cx="768096" cy="219456"/>
          </a:xfrm>
          <a:prstGeom prst="roundRect">
            <a:avLst>
              <a:gd name="adj" fmla="val 22000"/>
            </a:avLst>
          </a:prstGeom>
          <a:solidFill>
            <a:srgbClr val="D4EDDA"/>
          </a:solidFill>
          <a:ln w="9525">
            <a:solidFill>
              <a:srgbClr val="82C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38100" bIns="2540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1E6B48"/>
                </a:solidFill>
                <a:latin typeface="Calibri"/>
              </a:rPr>
              <a:t>7-Eleven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042416" y="1627632"/>
            <a:ext cx="9646920" cy="475488"/>
          </a:xfrm>
          <a:prstGeom prst="rect">
            <a:avLst/>
          </a:prstGeom>
          <a:solidFill>
            <a:srgbClr val="EEF3F8"/>
          </a:solidFill>
          <a:ln w="762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01168" y="1627632"/>
            <a:ext cx="841248" cy="475488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2540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B7C9DC"/>
                </a:solidFill>
                <a:latin typeface="Calibri"/>
              </a:rPr>
              <a:t>02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ACCESS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545336" y="1709928"/>
            <a:ext cx="4160520" cy="310896"/>
          </a:xfrm>
          <a:prstGeom prst="roundRect">
            <a:avLst>
              <a:gd name="adj" fmla="val 12000"/>
            </a:avLst>
          </a:prstGeom>
          <a:solidFill>
            <a:srgbClr val="F6C6C7"/>
          </a:solidFill>
          <a:ln w="12700">
            <a:solidFill>
              <a:srgbClr val="E0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2540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1B3A5F"/>
                </a:solidFill>
                <a:latin typeface="Calibri"/>
              </a:rPr>
              <a:t>API Gateway   ·   public ingress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934456" y="1709928"/>
            <a:ext cx="4160520" cy="310896"/>
          </a:xfrm>
          <a:prstGeom prst="roundRect">
            <a:avLst>
              <a:gd name="adj" fmla="val 12000"/>
            </a:avLst>
          </a:prstGeom>
          <a:solidFill>
            <a:srgbClr val="F6C6C7"/>
          </a:solidFill>
          <a:ln w="12700">
            <a:solidFill>
              <a:srgbClr val="E0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2540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1B3A5F"/>
                </a:solidFill>
                <a:latin typeface="Calibri"/>
              </a:rPr>
              <a:t>API Gateway   ·   internal / ops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42416" y="2176272"/>
            <a:ext cx="9646920" cy="914400"/>
          </a:xfrm>
          <a:prstGeom prst="rect">
            <a:avLst/>
          </a:prstGeom>
          <a:solidFill>
            <a:srgbClr val="EEF3F8"/>
          </a:solidFill>
          <a:ln w="762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1168" y="2176272"/>
            <a:ext cx="841248" cy="914400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2540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B7C9DC"/>
                </a:solidFill>
                <a:latin typeface="Calibri"/>
              </a:rPr>
              <a:t>03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DOMAIN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133856" y="2267712"/>
            <a:ext cx="562356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2540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B3A5F"/>
                </a:solidFill>
                <a:latin typeface="Calibri"/>
              </a:rPr>
              <a:t>Credit Card microservices   (40+)  —  existing estate</a:t>
            </a:r>
          </a:p>
        </p:txBody>
      </p:sp>
      <p:sp>
        <p:nvSpPr>
          <p:cNvPr id="32" name="Hexagon 31"/>
          <p:cNvSpPr/>
          <p:nvPr/>
        </p:nvSpPr>
        <p:spPr>
          <a:xfrm>
            <a:off x="1243584" y="2615184"/>
            <a:ext cx="841248" cy="365760"/>
          </a:xfrm>
          <a:prstGeom prst="hexagon">
            <a:avLst/>
          </a:prstGeom>
          <a:solidFill>
            <a:srgbClr val="F6C6C7"/>
          </a:solidFill>
          <a:ln w="9525">
            <a:solidFill>
              <a:srgbClr val="E0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38100" bIns="2540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1F2A37"/>
                </a:solidFill>
                <a:latin typeface="Calibri"/>
              </a:rPr>
              <a:t>ext-sapi</a:t>
            </a:r>
          </a:p>
        </p:txBody>
      </p:sp>
      <p:sp>
        <p:nvSpPr>
          <p:cNvPr id="33" name="Hexagon 32"/>
          <p:cNvSpPr/>
          <p:nvPr/>
        </p:nvSpPr>
        <p:spPr>
          <a:xfrm>
            <a:off x="2157984" y="2615184"/>
            <a:ext cx="841248" cy="365760"/>
          </a:xfrm>
          <a:prstGeom prst="hexagon">
            <a:avLst/>
          </a:prstGeom>
          <a:solidFill>
            <a:srgbClr val="F6C6C7"/>
          </a:solidFill>
          <a:ln w="9525">
            <a:solidFill>
              <a:srgbClr val="E0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38100" bIns="2540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1F2A37"/>
                </a:solidFill>
                <a:latin typeface="Calibri"/>
              </a:rPr>
              <a:t>E6-XAPI</a:t>
            </a:r>
          </a:p>
        </p:txBody>
      </p:sp>
      <p:sp>
        <p:nvSpPr>
          <p:cNvPr id="34" name="Hexagon 33"/>
          <p:cNvSpPr/>
          <p:nvPr/>
        </p:nvSpPr>
        <p:spPr>
          <a:xfrm>
            <a:off x="3072384" y="2615184"/>
            <a:ext cx="841248" cy="365760"/>
          </a:xfrm>
          <a:prstGeom prst="hexagon">
            <a:avLst/>
          </a:prstGeom>
          <a:solidFill>
            <a:srgbClr val="F6C6C7"/>
          </a:solidFill>
          <a:ln w="9525">
            <a:solidFill>
              <a:srgbClr val="E0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38100" bIns="2540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1F2A37"/>
                </a:solidFill>
                <a:latin typeface="Calibri"/>
              </a:rPr>
              <a:t>User-Auth</a:t>
            </a:r>
          </a:p>
        </p:txBody>
      </p:sp>
      <p:sp>
        <p:nvSpPr>
          <p:cNvPr id="35" name="Hexagon 34"/>
          <p:cNvSpPr/>
          <p:nvPr/>
        </p:nvSpPr>
        <p:spPr>
          <a:xfrm>
            <a:off x="3986784" y="2615184"/>
            <a:ext cx="841248" cy="365760"/>
          </a:xfrm>
          <a:prstGeom prst="hexagon">
            <a:avLst/>
          </a:prstGeom>
          <a:solidFill>
            <a:srgbClr val="F6C6C7"/>
          </a:solidFill>
          <a:ln w="9525">
            <a:solidFill>
              <a:srgbClr val="E0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38100" bIns="2540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1F2A37"/>
                </a:solidFill>
                <a:latin typeface="Calibri"/>
              </a:rPr>
              <a:t>Application</a:t>
            </a:r>
          </a:p>
        </p:txBody>
      </p:sp>
      <p:sp>
        <p:nvSpPr>
          <p:cNvPr id="36" name="Hexagon 35"/>
          <p:cNvSpPr/>
          <p:nvPr/>
        </p:nvSpPr>
        <p:spPr>
          <a:xfrm>
            <a:off x="4901184" y="2615184"/>
            <a:ext cx="841248" cy="365760"/>
          </a:xfrm>
          <a:prstGeom prst="hexagon">
            <a:avLst/>
          </a:prstGeom>
          <a:solidFill>
            <a:srgbClr val="F6C6C7"/>
          </a:solidFill>
          <a:ln w="9525">
            <a:solidFill>
              <a:srgbClr val="E0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38100" bIns="2540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1F2A37"/>
                </a:solidFill>
                <a:latin typeface="Calibri"/>
              </a:rPr>
              <a:t>Notification</a:t>
            </a:r>
          </a:p>
        </p:txBody>
      </p:sp>
      <p:sp>
        <p:nvSpPr>
          <p:cNvPr id="37" name="Hexagon 36"/>
          <p:cNvSpPr/>
          <p:nvPr/>
        </p:nvSpPr>
        <p:spPr>
          <a:xfrm>
            <a:off x="5815584" y="2615184"/>
            <a:ext cx="841248" cy="365760"/>
          </a:xfrm>
          <a:prstGeom prst="hexagon">
            <a:avLst/>
          </a:prstGeom>
          <a:solidFill>
            <a:srgbClr val="F6C6C7"/>
          </a:solidFill>
          <a:ln w="9525">
            <a:solidFill>
              <a:srgbClr val="E0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38100" bIns="2540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1F2A37"/>
                </a:solidFill>
                <a:latin typeface="Calibri"/>
              </a:rPr>
              <a:t>Instalment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94576" y="2267712"/>
            <a:ext cx="233172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143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2540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B3A5F"/>
                </a:solidFill>
                <a:latin typeface="Calibri"/>
              </a:rPr>
              <a:t>Loan  (20+)</a:t>
            </a:r>
          </a:p>
        </p:txBody>
      </p:sp>
      <p:sp>
        <p:nvSpPr>
          <p:cNvPr id="39" name="Hexagon 38"/>
          <p:cNvSpPr/>
          <p:nvPr/>
        </p:nvSpPr>
        <p:spPr>
          <a:xfrm>
            <a:off x="7031736" y="2615184"/>
            <a:ext cx="987552" cy="365760"/>
          </a:xfrm>
          <a:prstGeom prst="hexagon">
            <a:avLst/>
          </a:prstGeom>
          <a:solidFill>
            <a:srgbClr val="F6C6C7"/>
          </a:solidFill>
          <a:ln w="9525">
            <a:solidFill>
              <a:srgbClr val="E0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38100" bIns="2540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1F2A37"/>
                </a:solidFill>
                <a:latin typeface="Calibri"/>
              </a:rPr>
              <a:t>application</a:t>
            </a:r>
          </a:p>
        </p:txBody>
      </p:sp>
      <p:sp>
        <p:nvSpPr>
          <p:cNvPr id="40" name="Hexagon 39"/>
          <p:cNvSpPr/>
          <p:nvPr/>
        </p:nvSpPr>
        <p:spPr>
          <a:xfrm>
            <a:off x="8083296" y="2615184"/>
            <a:ext cx="987552" cy="365760"/>
          </a:xfrm>
          <a:prstGeom prst="hexagon">
            <a:avLst/>
          </a:prstGeom>
          <a:solidFill>
            <a:srgbClr val="F6C6C7"/>
          </a:solidFill>
          <a:ln w="9525">
            <a:solidFill>
              <a:srgbClr val="E09A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38100" bIns="2540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1F2A37"/>
                </a:solidFill>
                <a:latin typeface="Calibri"/>
              </a:rPr>
              <a:t>repayment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317736" y="2267712"/>
            <a:ext cx="1280160" cy="731520"/>
          </a:xfrm>
          <a:prstGeom prst="roundRect">
            <a:avLst>
              <a:gd name="adj" fmla="val 6000"/>
            </a:avLst>
          </a:prstGeom>
          <a:solidFill>
            <a:srgbClr val="D6EAF8"/>
          </a:solidFill>
          <a:ln w="11430">
            <a:solidFill>
              <a:srgbClr val="7FB3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2540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B3A5F"/>
                </a:solidFill>
                <a:latin typeface="Calibri"/>
              </a:rPr>
              <a:t>Emit only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B7C8D"/>
                </a:solidFill>
                <a:latin typeface="Calibri"/>
              </a:rPr>
              <a:t>No scoring.
No ledger math.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42416" y="3163824"/>
            <a:ext cx="9646920" cy="1572768"/>
          </a:xfrm>
          <a:prstGeom prst="rect">
            <a:avLst/>
          </a:prstGeom>
          <a:solidFill>
            <a:srgbClr val="EEF3F8"/>
          </a:solidFill>
          <a:ln w="762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01168" y="3163824"/>
            <a:ext cx="841248" cy="1572768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2540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B7C9DC"/>
                </a:solidFill>
                <a:latin typeface="Calibri"/>
              </a:rPr>
              <a:t>04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CORE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33856" y="3255264"/>
            <a:ext cx="9464040" cy="1389888"/>
          </a:xfrm>
          <a:prstGeom prst="roundRect">
            <a:avLst>
              <a:gd name="adj" fmla="val 5000"/>
            </a:avLst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43584" y="3291840"/>
            <a:ext cx="8046720" cy="201168"/>
          </a:xfrm>
          <a:prstGeom prst="rect">
            <a:avLst/>
          </a:prstGeom>
          <a:noFill/>
        </p:spPr>
        <p:txBody>
          <a:bodyPr wrap="square" lIns="25400" rIns="25400" tIns="381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Reward System     NEW DOMAIN WE STAND UP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43584" y="3493008"/>
            <a:ext cx="8686800" cy="164592"/>
          </a:xfrm>
          <a:prstGeom prst="rect">
            <a:avLst/>
          </a:prstGeom>
          <a:noFill/>
        </p:spPr>
        <p:txBody>
          <a:bodyPr wrap="square" lIns="25400" rIns="25400" tIns="381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B7C9DC"/>
                </a:solidFill>
                <a:latin typeface="Calibri"/>
              </a:rPr>
              <a:t>Wallets · posting · calculation · books     ·     does not own coupon stock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186416" y="3310128"/>
            <a:ext cx="292608" cy="182880"/>
          </a:xfrm>
          <a:prstGeom prst="roundRect">
            <a:avLst>
              <a:gd name="adj" fmla="val 20000"/>
            </a:avLst>
          </a:prstGeom>
          <a:solidFill>
            <a:srgbClr val="5DAE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38100" bIns="2540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FFFFFF"/>
                </a:solidFill>
                <a:latin typeface="Calibri"/>
              </a:rPr>
              <a:t>L2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243584" y="3730752"/>
            <a:ext cx="2212848" cy="877824"/>
          </a:xfrm>
          <a:prstGeom prst="roundRect">
            <a:avLst>
              <a:gd name="adj" fmla="val 7000"/>
            </a:avLst>
          </a:prstGeom>
          <a:solidFill>
            <a:srgbClr val="2A557A"/>
          </a:solidFill>
          <a:ln w="11430">
            <a:solidFill>
              <a:srgbClr val="4A7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38100" bIns="2540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Wallet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C5D8EA"/>
                </a:solidFill>
                <a:latin typeface="Calibri"/>
              </a:rPr>
              <a:t>Reward wallet  ·  Inquiry
Hold &amp; release  ·  Tiering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3547872" y="3730752"/>
            <a:ext cx="2212848" cy="877824"/>
          </a:xfrm>
          <a:prstGeom prst="roundRect">
            <a:avLst>
              <a:gd name="adj" fmla="val 7000"/>
            </a:avLst>
          </a:prstGeom>
          <a:solidFill>
            <a:srgbClr val="2A557A"/>
          </a:solidFill>
          <a:ln w="11430">
            <a:solidFill>
              <a:srgbClr val="4A7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38100" bIns="2540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Ledger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C5D8EA"/>
                </a:solidFill>
                <a:latin typeface="Calibri"/>
              </a:rPr>
              <a:t>COA  ·  Double-entry posting
Reconciliation  ·  Statement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852160" y="3730752"/>
            <a:ext cx="2212848" cy="877824"/>
          </a:xfrm>
          <a:prstGeom prst="roundRect">
            <a:avLst>
              <a:gd name="adj" fmla="val 7000"/>
            </a:avLst>
          </a:prstGeom>
          <a:solidFill>
            <a:srgbClr val="2A557A"/>
          </a:solidFill>
          <a:ln w="11430">
            <a:solidFill>
              <a:srgbClr val="4A7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38100" bIns="2540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Rules &amp; calc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C5D8EA"/>
                </a:solidFill>
                <a:latin typeface="Calibri"/>
              </a:rPr>
              <a:t>Eligibility  ·  Points formula
Earn / burn engines  ·  Config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156448" y="3730752"/>
            <a:ext cx="2212848" cy="877824"/>
          </a:xfrm>
          <a:prstGeom prst="roundRect">
            <a:avLst>
              <a:gd name="adj" fmla="val 7000"/>
            </a:avLst>
          </a:prstGeom>
          <a:solidFill>
            <a:srgbClr val="2A557A"/>
          </a:solidFill>
          <a:ln w="11430">
            <a:solidFill>
              <a:srgbClr val="4A7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38100" bIns="2540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Lifecycle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C5D8EA"/>
                </a:solidFill>
                <a:latin typeface="Calibri"/>
              </a:rPr>
              <a:t>Referral  ·  Idempotency
Reversal / adj  ·  Audit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42416" y="4809744"/>
            <a:ext cx="9646920" cy="1005840"/>
          </a:xfrm>
          <a:prstGeom prst="rect">
            <a:avLst/>
          </a:prstGeom>
          <a:solidFill>
            <a:srgbClr val="EEF3F8"/>
          </a:solidFill>
          <a:ln w="762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01168" y="4809744"/>
            <a:ext cx="841248" cy="1005840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2540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B7C9DC"/>
                </a:solidFill>
                <a:latin typeface="Calibri"/>
              </a:rPr>
              <a:t>05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FULFILL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133856" y="4901184"/>
            <a:ext cx="9464040" cy="822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4604">
            <a:solidFill>
              <a:srgbClr val="82C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243584" y="4937760"/>
            <a:ext cx="8412480" cy="182880"/>
          </a:xfrm>
          <a:prstGeom prst="rect">
            <a:avLst/>
          </a:prstGeom>
          <a:noFill/>
        </p:spPr>
        <p:txBody>
          <a:bodyPr wrap="square" lIns="25400" rIns="25400" tIns="381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1E6B48"/>
                </a:solidFill>
                <a:latin typeface="Calibri"/>
              </a:rPr>
              <a:t>CRP  ·  Centralized Redemption Platform      UAF-owned coupon control plane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243584" y="5120640"/>
            <a:ext cx="8961120" cy="146304"/>
          </a:xfrm>
          <a:prstGeom prst="rect">
            <a:avLst/>
          </a:prstGeom>
          <a:noFill/>
        </p:spPr>
        <p:txBody>
          <a:bodyPr wrap="square" lIns="25400" rIns="25400" tIns="381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B7C8D"/>
                </a:solidFill>
                <a:latin typeface="Calibri"/>
              </a:rPr>
              <a:t>Cross-boundary verbs from RS:   Request to issue coupon   ·   Request to use coupon   ·   Retrieve redeemable list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186416" y="4956048"/>
            <a:ext cx="292608" cy="182880"/>
          </a:xfrm>
          <a:prstGeom prst="roundRect">
            <a:avLst>
              <a:gd name="adj" fmla="val 20000"/>
            </a:avLst>
          </a:prstGeom>
          <a:solidFill>
            <a:srgbClr val="D4ED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" rIns="12700" tIns="38100" bIns="2540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1">
                <a:solidFill>
                  <a:srgbClr val="1E6B48"/>
                </a:solidFill>
                <a:latin typeface="Calibri"/>
              </a:rPr>
              <a:t>L2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1243584" y="5303520"/>
            <a:ext cx="2971800" cy="420624"/>
          </a:xfrm>
          <a:prstGeom prst="roundRect">
            <a:avLst>
              <a:gd name="adj" fmla="val 8000"/>
            </a:avLst>
          </a:prstGeom>
          <a:solidFill>
            <a:srgbClr val="D4EDDA"/>
          </a:solidFill>
          <a:ln w="9525">
            <a:solidFill>
              <a:srgbClr val="82C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2540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E6B48"/>
                </a:solidFill>
                <a:latin typeface="Calibri"/>
              </a:rPr>
              <a:t>Catalog &amp; stock     Inventory · Catalog · Codes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4352544" y="5303520"/>
            <a:ext cx="2971800" cy="420624"/>
          </a:xfrm>
          <a:prstGeom prst="roundRect">
            <a:avLst>
              <a:gd name="adj" fmla="val 8000"/>
            </a:avLst>
          </a:prstGeom>
          <a:solidFill>
            <a:srgbClr val="D4EDDA"/>
          </a:solidFill>
          <a:ln w="9525">
            <a:solidFill>
              <a:srgbClr val="82C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2540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E6B48"/>
                </a:solidFill>
                <a:latin typeface="Calibri"/>
              </a:rPr>
              <a:t>Redemption     Validate · Engine · Vendors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461504" y="5303520"/>
            <a:ext cx="2971800" cy="420624"/>
          </a:xfrm>
          <a:prstGeom prst="roundRect">
            <a:avLst>
              <a:gd name="adj" fmla="val 8000"/>
            </a:avLst>
          </a:prstGeom>
          <a:solidFill>
            <a:srgbClr val="D4EDDA"/>
          </a:solidFill>
          <a:ln w="9525">
            <a:solidFill>
              <a:srgbClr val="82C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1600" rIns="101600" tIns="38100" bIns="2540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E6B48"/>
                </a:solidFill>
                <a:latin typeface="Calibri"/>
              </a:rPr>
              <a:t>Customer coupon     Ownership · History · Search</a:t>
            </a:r>
          </a:p>
        </p:txBody>
      </p:sp>
      <p:sp>
        <p:nvSpPr>
          <p:cNvPr id="61" name="Rectangle 60"/>
          <p:cNvSpPr/>
          <p:nvPr/>
        </p:nvSpPr>
        <p:spPr>
          <a:xfrm>
            <a:off x="1042416" y="5888736"/>
            <a:ext cx="9646920" cy="804672"/>
          </a:xfrm>
          <a:prstGeom prst="rect">
            <a:avLst/>
          </a:prstGeom>
          <a:solidFill>
            <a:srgbClr val="EEF3F8"/>
          </a:solidFill>
          <a:ln w="762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201168" y="5888736"/>
            <a:ext cx="841248" cy="804672"/>
          </a:xfrm>
          <a:prstGeom prst="rect">
            <a:avLst/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2540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800" b="0">
                <a:solidFill>
                  <a:srgbClr val="B7C9DC"/>
                </a:solidFill>
                <a:latin typeface="Calibri"/>
              </a:rPr>
              <a:t>06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FFFFFF"/>
                </a:solidFill>
                <a:latin typeface="Calibri"/>
              </a:rPr>
              <a:t>EDGE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52144" y="5943600"/>
            <a:ext cx="1463040" cy="146304"/>
          </a:xfrm>
          <a:prstGeom prst="rect">
            <a:avLst/>
          </a:prstGeom>
          <a:noFill/>
        </p:spPr>
        <p:txBody>
          <a:bodyPr wrap="square" lIns="25400" rIns="25400" tIns="38100" bIns="25400">
            <a:spAutoFit/>
          </a:bodyPr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1B3A5F"/>
                </a:solidFill>
                <a:latin typeface="Calibri"/>
              </a:rPr>
              <a:t>Persistent layer</a:t>
            </a:r>
          </a:p>
        </p:txBody>
      </p:sp>
      <p:sp>
        <p:nvSpPr>
          <p:cNvPr id="64" name="Can 63"/>
          <p:cNvSpPr/>
          <p:nvPr/>
        </p:nvSpPr>
        <p:spPr>
          <a:xfrm>
            <a:off x="1152144" y="6126480"/>
            <a:ext cx="987552" cy="475488"/>
          </a:xfrm>
          <a:prstGeom prst="can">
            <a:avLst/>
          </a:prstGeom>
          <a:solidFill>
            <a:srgbClr val="E8ECF0"/>
          </a:solidFill>
          <a:ln w="9525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38100" bIns="2540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1F2A37"/>
                </a:solidFill>
                <a:latin typeface="Calibri"/>
              </a:rPr>
              <a:t>Wallets</a:t>
            </a:r>
          </a:p>
        </p:txBody>
      </p:sp>
      <p:sp>
        <p:nvSpPr>
          <p:cNvPr id="65" name="Can 64"/>
          <p:cNvSpPr/>
          <p:nvPr/>
        </p:nvSpPr>
        <p:spPr>
          <a:xfrm>
            <a:off x="2231136" y="6126480"/>
            <a:ext cx="987552" cy="475488"/>
          </a:xfrm>
          <a:prstGeom prst="can">
            <a:avLst/>
          </a:prstGeom>
          <a:solidFill>
            <a:srgbClr val="E8ECF0"/>
          </a:solidFill>
          <a:ln w="9525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38100" bIns="2540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1F2A37"/>
                </a:solidFill>
                <a:latin typeface="Calibri"/>
              </a:rPr>
              <a:t>Rewards</a:t>
            </a:r>
          </a:p>
        </p:txBody>
      </p:sp>
      <p:sp>
        <p:nvSpPr>
          <p:cNvPr id="66" name="Can 65"/>
          <p:cNvSpPr/>
          <p:nvPr/>
        </p:nvSpPr>
        <p:spPr>
          <a:xfrm>
            <a:off x="3310128" y="6126480"/>
            <a:ext cx="987552" cy="475488"/>
          </a:xfrm>
          <a:prstGeom prst="can">
            <a:avLst/>
          </a:prstGeom>
          <a:solidFill>
            <a:srgbClr val="E8ECF0"/>
          </a:solidFill>
          <a:ln w="9525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38100" bIns="2540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1F2A37"/>
                </a:solidFill>
                <a:latin typeface="Calibri"/>
              </a:rPr>
              <a:t>CBP</a:t>
            </a:r>
          </a:p>
        </p:txBody>
      </p:sp>
      <p:sp>
        <p:nvSpPr>
          <p:cNvPr id="67" name="Can 66"/>
          <p:cNvSpPr/>
          <p:nvPr/>
        </p:nvSpPr>
        <p:spPr>
          <a:xfrm>
            <a:off x="4389120" y="6126480"/>
            <a:ext cx="987552" cy="475488"/>
          </a:xfrm>
          <a:prstGeom prst="can">
            <a:avLst/>
          </a:prstGeom>
          <a:solidFill>
            <a:srgbClr val="E8ECF0"/>
          </a:solidFill>
          <a:ln w="9525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38100" bIns="2540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1F2A37"/>
                </a:solidFill>
                <a:latin typeface="Calibri"/>
              </a:rPr>
              <a:t>Coupon stocks</a:t>
            </a:r>
          </a:p>
        </p:txBody>
      </p:sp>
      <p:sp>
        <p:nvSpPr>
          <p:cNvPr id="68" name="Can 67"/>
          <p:cNvSpPr/>
          <p:nvPr/>
        </p:nvSpPr>
        <p:spPr>
          <a:xfrm>
            <a:off x="5468112" y="6126480"/>
            <a:ext cx="987552" cy="475488"/>
          </a:xfrm>
          <a:prstGeom prst="can">
            <a:avLst/>
          </a:prstGeom>
          <a:solidFill>
            <a:srgbClr val="E8ECF0"/>
          </a:solidFill>
          <a:ln w="9525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400" rIns="25400" tIns="38100" bIns="2540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1F2A37"/>
                </a:solidFill>
                <a:latin typeface="Calibri"/>
              </a:rPr>
              <a:t>Coupon wallet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711696" y="6053328"/>
            <a:ext cx="1965960" cy="530352"/>
          </a:xfrm>
          <a:prstGeom prst="roundRect">
            <a:avLst>
              <a:gd name="adj" fmla="val 10000"/>
            </a:avLst>
          </a:prstGeom>
          <a:solidFill>
            <a:srgbClr val="D4EDDA"/>
          </a:solidFill>
          <a:ln w="12700">
            <a:solidFill>
              <a:srgbClr val="82C99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2540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>
                <a:solidFill>
                  <a:srgbClr val="1E6B48"/>
                </a:solidFill>
                <a:latin typeface="Calibri"/>
              </a:rPr>
              <a:t>COD  ·  partner fulfill</a:t>
            </a:r>
          </a:p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1E6B48"/>
                </a:solidFill>
                <a:latin typeface="Calibri"/>
              </a:rPr>
              <a:t>server / rails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8814816" y="6053328"/>
            <a:ext cx="1783080" cy="53035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6200" rIns="76200" tIns="38100" bIns="25400"/>
          <a:lstStyle/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1000" b="1">
                <a:solidFill>
                  <a:srgbClr val="1F2A37"/>
                </a:solidFill>
                <a:latin typeface="Calibri"/>
              </a:rPr>
              <a:t>RS never holds stock.</a:t>
            </a:r>
          </a:p>
          <a:p>
            <a:pPr algn="l">
              <a:spcBef>
                <a:spcPts val="0"/>
              </a:spcBef>
              <a:spcAft>
                <a:spcPts val="100"/>
              </a:spcAft>
            </a:pPr>
            <a:r>
              <a:rPr sz="900" b="0">
                <a:solidFill>
                  <a:srgbClr val="6B7C8D"/>
                </a:solidFill>
                <a:latin typeface="Calibri"/>
              </a:rPr>
              <a:t>CRP executes coupon reality.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10881360" y="566928"/>
            <a:ext cx="1115568" cy="6126480"/>
          </a:xfrm>
          <a:prstGeom prst="roundRect">
            <a:avLst>
              <a:gd name="adj" fmla="val 4000"/>
            </a:avLst>
          </a:prstGeom>
          <a:solidFill>
            <a:srgbClr val="1B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10881360" y="640080"/>
            <a:ext cx="1115568" cy="201168"/>
          </a:xfrm>
          <a:prstGeom prst="rect">
            <a:avLst/>
          </a:prstGeom>
          <a:noFill/>
        </p:spPr>
        <p:txBody>
          <a:bodyPr wrap="square" lIns="25400" rIns="25400" tIns="381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EVENT BUS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881360" y="822960"/>
            <a:ext cx="1115568" cy="182880"/>
          </a:xfrm>
          <a:prstGeom prst="rect">
            <a:avLst/>
          </a:prstGeom>
          <a:noFill/>
        </p:spPr>
        <p:txBody>
          <a:bodyPr wrap="square" lIns="25400" rIns="25400" tIns="38100" bIns="2540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200" b="1">
                <a:solidFill>
                  <a:srgbClr val="7EC8E3"/>
                </a:solidFill>
                <a:latin typeface="Calibri"/>
              </a:rPr>
              <a:t>Kafka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0972800" y="1115568"/>
            <a:ext cx="932688" cy="640080"/>
          </a:xfrm>
          <a:prstGeom prst="roundRect">
            <a:avLst>
              <a:gd name="adj" fmla="val 12000"/>
            </a:avLst>
          </a:prstGeom>
          <a:solidFill>
            <a:srgbClr val="2A557A"/>
          </a:solidFill>
          <a:ln w="9525">
            <a:solidFill>
              <a:srgbClr val="4A7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2540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CC / Loan events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10972800" y="1865376"/>
            <a:ext cx="932688" cy="640080"/>
          </a:xfrm>
          <a:prstGeom prst="roundRect">
            <a:avLst>
              <a:gd name="adj" fmla="val 12000"/>
            </a:avLst>
          </a:prstGeom>
          <a:solidFill>
            <a:srgbClr val="2A557A"/>
          </a:solidFill>
          <a:ln w="9525">
            <a:solidFill>
              <a:srgbClr val="4A7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2540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Idempotent ingest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10972800" y="2615184"/>
            <a:ext cx="932688" cy="640080"/>
          </a:xfrm>
          <a:prstGeom prst="roundRect">
            <a:avLst>
              <a:gd name="adj" fmla="val 12000"/>
            </a:avLst>
          </a:prstGeom>
          <a:solidFill>
            <a:srgbClr val="2A557A"/>
          </a:solidFill>
          <a:ln w="9525">
            <a:solidFill>
              <a:srgbClr val="4A7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2540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Balance updated</a:t>
            </a:r>
          </a:p>
        </p:txBody>
      </p:sp>
      <p:sp>
        <p:nvSpPr>
          <p:cNvPr id="77" name="Rounded Rectangle 76"/>
          <p:cNvSpPr/>
          <p:nvPr/>
        </p:nvSpPr>
        <p:spPr>
          <a:xfrm>
            <a:off x="10972800" y="3364992"/>
            <a:ext cx="932688" cy="640080"/>
          </a:xfrm>
          <a:prstGeom prst="roundRect">
            <a:avLst>
              <a:gd name="adj" fmla="val 12000"/>
            </a:avLst>
          </a:prstGeom>
          <a:solidFill>
            <a:srgbClr val="2A557A"/>
          </a:solidFill>
          <a:ln w="9525">
            <a:solidFill>
              <a:srgbClr val="4A7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2540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Issue-coupon intent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10972800" y="4114800"/>
            <a:ext cx="932688" cy="640080"/>
          </a:xfrm>
          <a:prstGeom prst="roundRect">
            <a:avLst>
              <a:gd name="adj" fmla="val 12000"/>
            </a:avLst>
          </a:prstGeom>
          <a:solidFill>
            <a:srgbClr val="2A557A"/>
          </a:solidFill>
          <a:ln w="9525">
            <a:solidFill>
              <a:srgbClr val="4A7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2540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Use-coupon intent</a:t>
            </a:r>
          </a:p>
        </p:txBody>
      </p:sp>
      <p:sp>
        <p:nvSpPr>
          <p:cNvPr id="79" name="Rounded Rectangle 78"/>
          <p:cNvSpPr/>
          <p:nvPr/>
        </p:nvSpPr>
        <p:spPr>
          <a:xfrm>
            <a:off x="10972800" y="4864608"/>
            <a:ext cx="932688" cy="640080"/>
          </a:xfrm>
          <a:prstGeom prst="roundRect">
            <a:avLst>
              <a:gd name="adj" fmla="val 12000"/>
            </a:avLst>
          </a:prstGeom>
          <a:solidFill>
            <a:srgbClr val="2A557A"/>
          </a:solidFill>
          <a:ln w="9525">
            <a:solidFill>
              <a:srgbClr val="4A7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2540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Redeemable list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10972800" y="5614416"/>
            <a:ext cx="932688" cy="640080"/>
          </a:xfrm>
          <a:prstGeom prst="roundRect">
            <a:avLst>
              <a:gd name="adj" fmla="val 12000"/>
            </a:avLst>
          </a:prstGeom>
          <a:solidFill>
            <a:srgbClr val="2A557A"/>
          </a:solidFill>
          <a:ln w="9525">
            <a:solidFill>
              <a:srgbClr val="4A7A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38100" bIns="25400"/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900" b="1">
                <a:solidFill>
                  <a:srgbClr val="FFFFFF"/>
                </a:solidFill>
                <a:latin typeface="Calibri"/>
              </a:rPr>
              <a:t>Audit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