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73152"/>
            <a:ext cx="932688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600" b="1">
                <a:solidFill>
                  <a:srgbClr val="1B4F72"/>
                </a:solidFill>
                <a:latin typeface="Calibri"/>
              </a:rPr>
              <a:t>UAF Rewards  ·  Logical Architecture  (L1)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0896"/>
            <a:ext cx="9326880" cy="16459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Calibri"/>
              </a:rPr>
              <a:t>Channels stay thin  ·  Reward System is the core domain  ·  CRP owns coupon reality  ·  partners at the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146304"/>
            <a:ext cx="1097280" cy="20116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r"/>
            <a:r>
              <a:rPr sz="1100" b="1">
                <a:solidFill>
                  <a:srgbClr val="1B4F72"/>
                </a:solidFill>
                <a:latin typeface="Calibri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73152"/>
            <a:ext cx="960120" cy="201168"/>
          </a:xfrm>
          <a:prstGeom prst="roundRect">
            <a:avLst>
              <a:gd name="adj" fmla="val 15000"/>
            </a:avLst>
          </a:prstGeom>
          <a:solidFill>
            <a:srgbClr val="D4E6F1"/>
          </a:solidFill>
          <a:ln w="9525">
            <a:solidFill>
              <a:srgbClr val="85C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Capability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42248" y="73152"/>
            <a:ext cx="868680" cy="201168"/>
          </a:xfrm>
          <a:prstGeom prst="roundRect">
            <a:avLst>
              <a:gd name="adj" fmla="val 15000"/>
            </a:avLst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74936" y="73152"/>
            <a:ext cx="777240" cy="201168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82E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Rail / COD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16184" y="73152"/>
            <a:ext cx="502920" cy="201168"/>
          </a:xfrm>
          <a:prstGeom prst="roundRect">
            <a:avLst>
              <a:gd name="adj" fmla="val 15000"/>
            </a:avLst>
          </a:prstGeom>
          <a:solidFill>
            <a:srgbClr val="D5DBDB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Store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530352"/>
            <a:ext cx="9646920" cy="960120"/>
          </a:xfrm>
          <a:prstGeom prst="rect">
            <a:avLst/>
          </a:prstGeom>
          <a:solidFill>
            <a:srgbClr val="EAF2F8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" y="530352"/>
            <a:ext cx="640080" cy="960120"/>
          </a:xfrm>
          <a:prstGeom prst="rect">
            <a:avLst/>
          </a:prstGeom>
          <a:solidFill>
            <a:srgbClr val="EAF2F8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" y="585216"/>
            <a:ext cx="603504" cy="3291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1">
                <a:solidFill>
                  <a:srgbClr val="1B4F72"/>
                </a:solidFill>
                <a:latin typeface="Calibri"/>
              </a:rPr>
              <a:t>01
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" y="896112"/>
            <a:ext cx="603504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700" b="0">
                <a:solidFill>
                  <a:srgbClr val="7F8C8D"/>
                </a:solidFill>
                <a:latin typeface="Calibri"/>
              </a:rPr>
              <a:t>clients &amp;
use-cases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603504"/>
            <a:ext cx="21488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621792"/>
            <a:ext cx="2011680" cy="14630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1">
                <a:solidFill>
                  <a:srgbClr val="1B4F72"/>
                </a:solidFill>
                <a:latin typeface="Calibri"/>
              </a:rPr>
              <a:t>Business use-cases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804672"/>
            <a:ext cx="658368" cy="237744"/>
          </a:xfrm>
          <a:prstGeom prst="roundRect">
            <a:avLst>
              <a:gd name="adj" fmla="val 15000"/>
            </a:avLst>
          </a:prstGeom>
          <a:solidFill>
            <a:srgbClr val="D4E6F1"/>
          </a:solidFill>
          <a:ln w="9525">
            <a:solidFill>
              <a:srgbClr val="85C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Card activation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45920" y="804672"/>
            <a:ext cx="658368" cy="237744"/>
          </a:xfrm>
          <a:prstGeom prst="roundRect">
            <a:avLst>
              <a:gd name="adj" fmla="val 15000"/>
            </a:avLst>
          </a:prstGeom>
          <a:solidFill>
            <a:srgbClr val="D4E6F1"/>
          </a:solidFill>
          <a:ln w="9525">
            <a:solidFill>
              <a:srgbClr val="85C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Merchant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1720" y="804672"/>
            <a:ext cx="658368" cy="237744"/>
          </a:xfrm>
          <a:prstGeom prst="roundRect">
            <a:avLst>
              <a:gd name="adj" fmla="val 15000"/>
            </a:avLst>
          </a:prstGeom>
          <a:solidFill>
            <a:srgbClr val="D4E6F1"/>
          </a:solidFill>
          <a:ln w="9525">
            <a:solidFill>
              <a:srgbClr val="85C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App event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1078992"/>
            <a:ext cx="658368" cy="237744"/>
          </a:xfrm>
          <a:prstGeom prst="roundRect">
            <a:avLst>
              <a:gd name="adj" fmla="val 15000"/>
            </a:avLst>
          </a:prstGeom>
          <a:solidFill>
            <a:srgbClr val="D4E6F1"/>
          </a:solidFill>
          <a:ln w="9525">
            <a:solidFill>
              <a:srgbClr val="85C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Campaign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45920" y="1078992"/>
            <a:ext cx="658368" cy="237744"/>
          </a:xfrm>
          <a:prstGeom prst="roundRect">
            <a:avLst>
              <a:gd name="adj" fmla="val 15000"/>
            </a:avLst>
          </a:prstGeom>
          <a:solidFill>
            <a:srgbClr val="D4E6F1"/>
          </a:solidFill>
          <a:ln w="9525">
            <a:solidFill>
              <a:srgbClr val="85C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Game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1078992"/>
            <a:ext cx="658368" cy="237744"/>
          </a:xfrm>
          <a:prstGeom prst="roundRect">
            <a:avLst>
              <a:gd name="adj" fmla="val 15000"/>
            </a:avLst>
          </a:prstGeom>
          <a:solidFill>
            <a:srgbClr val="D4E6F1"/>
          </a:solidFill>
          <a:ln w="9525">
            <a:solidFill>
              <a:srgbClr val="85C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Offline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27248" y="603504"/>
            <a:ext cx="233172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21792"/>
            <a:ext cx="2194560" cy="14630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1">
                <a:solidFill>
                  <a:srgbClr val="1B4F72"/>
                </a:solidFill>
                <a:latin typeface="Calibri"/>
              </a:rPr>
              <a:t>Public clients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18688" y="896112"/>
            <a:ext cx="713232" cy="292608"/>
          </a:xfrm>
          <a:prstGeom prst="roundRect">
            <a:avLst>
              <a:gd name="adj" fmla="val 15000"/>
            </a:avLst>
          </a:prstGeom>
          <a:solidFill>
            <a:srgbClr val="AED6F1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Yes UA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68496" y="896112"/>
            <a:ext cx="713232" cy="292608"/>
          </a:xfrm>
          <a:prstGeom prst="roundRect">
            <a:avLst>
              <a:gd name="adj" fmla="val 15000"/>
            </a:avLst>
          </a:prstGeom>
          <a:solidFill>
            <a:srgbClr val="AED6F1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sim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18304" y="896112"/>
            <a:ext cx="713232" cy="292608"/>
          </a:xfrm>
          <a:prstGeom prst="roundRect">
            <a:avLst>
              <a:gd name="adj" fmla="val 15000"/>
            </a:avLst>
          </a:prstGeom>
          <a:solidFill>
            <a:srgbClr val="AED6F1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Web / QR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2" y="603504"/>
            <a:ext cx="196596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32704" y="621792"/>
            <a:ext cx="1828800" cy="14630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1">
                <a:solidFill>
                  <a:srgbClr val="1B4F72"/>
                </a:solidFill>
                <a:latin typeface="Calibri"/>
              </a:rPr>
              <a:t>Internal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822960"/>
            <a:ext cx="1828800" cy="4572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0">
                <a:solidFill>
                  <a:srgbClr val="4A5568"/>
                </a:solidFill>
                <a:latin typeface="Calibri"/>
              </a:rPr>
              <a:t>Ops UI  ·  CSP  ·  IAM
(UAF network)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5240" y="603504"/>
            <a:ext cx="269748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9248" y="621792"/>
            <a:ext cx="2560320" cy="14630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1">
                <a:solidFill>
                  <a:srgbClr val="1B4F72"/>
                </a:solidFill>
                <a:latin typeface="Calibri"/>
              </a:rPr>
              <a:t>External parties / rails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99248" y="914400"/>
            <a:ext cx="493776" cy="292608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82E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e6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11312" y="914400"/>
            <a:ext cx="493776" cy="292608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82E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FPS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23376" y="914400"/>
            <a:ext cx="493776" cy="292608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82E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PPS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5440" y="914400"/>
            <a:ext cx="493776" cy="292608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82E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Circle 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47504" y="914400"/>
            <a:ext cx="493776" cy="292608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82E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C283A"/>
                </a:solidFill>
                <a:latin typeface="Calibri"/>
              </a:rPr>
              <a:t>7-Eleven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" y="1554480"/>
            <a:ext cx="9646920" cy="566928"/>
          </a:xfrm>
          <a:prstGeom prst="rect">
            <a:avLst/>
          </a:prstGeom>
          <a:solidFill>
            <a:srgbClr val="FDF2E9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" y="1554480"/>
            <a:ext cx="640080" cy="566928"/>
          </a:xfrm>
          <a:prstGeom prst="rect">
            <a:avLst/>
          </a:prstGeom>
          <a:solidFill>
            <a:srgbClr val="FDF2E9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016" y="1609344"/>
            <a:ext cx="603504" cy="3291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1">
                <a:solidFill>
                  <a:srgbClr val="1B4F72"/>
                </a:solidFill>
                <a:latin typeface="Calibri"/>
              </a:rPr>
              <a:t>02
Access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" y="1920240"/>
            <a:ext cx="603504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700" b="0">
                <a:solidFill>
                  <a:srgbClr val="7F8C8D"/>
                </a:solidFill>
                <a:latin typeface="Calibri"/>
              </a:rPr>
              <a:t>DMZ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94560" y="1645920"/>
            <a:ext cx="3108960" cy="384048"/>
          </a:xfrm>
          <a:prstGeom prst="roundRect">
            <a:avLst>
              <a:gd name="adj" fmla="val 8000"/>
            </a:avLst>
          </a:prstGeom>
          <a:solidFill>
            <a:srgbClr val="E6B0AA"/>
          </a:solidFill>
          <a:ln w="14604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194560" y="1645920"/>
            <a:ext cx="3108960" cy="384048"/>
          </a:xfrm>
          <a:prstGeom prst="roundRect">
            <a:avLst>
              <a:gd name="adj" fmla="val 8000"/>
            </a:avLst>
          </a:prstGeom>
          <a:solidFill>
            <a:srgbClr val="E6B0AA"/>
          </a:solidFill>
          <a:ln w="14604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1100" b="1">
                <a:solidFill>
                  <a:srgbClr val="1B4F72"/>
                </a:solidFill>
                <a:latin typeface="Calibri"/>
              </a:rPr>
              <a:t>API Gateway  ·  public ingress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77840" y="1645920"/>
            <a:ext cx="3108960" cy="384048"/>
          </a:xfrm>
          <a:prstGeom prst="roundRect">
            <a:avLst>
              <a:gd name="adj" fmla="val 8000"/>
            </a:avLst>
          </a:prstGeom>
          <a:solidFill>
            <a:srgbClr val="E6B0AA"/>
          </a:solidFill>
          <a:ln w="14604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577840" y="1645920"/>
            <a:ext cx="3108960" cy="384048"/>
          </a:xfrm>
          <a:prstGeom prst="roundRect">
            <a:avLst>
              <a:gd name="adj" fmla="val 8000"/>
            </a:avLst>
          </a:prstGeom>
          <a:solidFill>
            <a:srgbClr val="F5B7B1"/>
          </a:solidFill>
          <a:ln w="14604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1100" b="1">
                <a:solidFill>
                  <a:srgbClr val="1B4F72"/>
                </a:solidFill>
                <a:latin typeface="Calibri"/>
              </a:rPr>
              <a:t>API Gateway  ·  internal / ops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1719072"/>
            <a:ext cx="1463040" cy="292608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0">
                <a:solidFill>
                  <a:srgbClr val="7F8C8D"/>
                </a:solidFill>
                <a:latin typeface="Calibri"/>
              </a:rPr>
              <a:t>Single controlled entry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2" y="2176272"/>
            <a:ext cx="9646920" cy="868680"/>
          </a:xfrm>
          <a:prstGeom prst="rect">
            <a:avLst/>
          </a:prstGeom>
          <a:solidFill>
            <a:srgbClr val="EAF2F8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728" y="2176272"/>
            <a:ext cx="640080" cy="868680"/>
          </a:xfrm>
          <a:prstGeom prst="rect">
            <a:avLst/>
          </a:prstGeom>
          <a:solidFill>
            <a:srgbClr val="EAF2F8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" y="2231136"/>
            <a:ext cx="603504" cy="3291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1">
                <a:solidFill>
                  <a:srgbClr val="1B4F72"/>
                </a:solidFill>
                <a:latin typeface="Calibri"/>
              </a:rPr>
              <a:t>03
Domain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" y="2542032"/>
            <a:ext cx="603504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700" b="0">
                <a:solidFill>
                  <a:srgbClr val="7F8C8D"/>
                </a:solidFill>
                <a:latin typeface="Calibri"/>
              </a:rPr>
              <a:t>existing
estate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6112" y="2249424"/>
            <a:ext cx="48920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7552" y="2267712"/>
            <a:ext cx="3657600" cy="14630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  <a:latin typeface="Calibri"/>
              </a:rPr>
              <a:t>Credit Card microservices  (40+)</a:t>
            </a:r>
          </a:p>
        </p:txBody>
      </p:sp>
      <p:sp>
        <p:nvSpPr>
          <p:cNvPr id="53" name="Hexagon 52"/>
          <p:cNvSpPr/>
          <p:nvPr/>
        </p:nvSpPr>
        <p:spPr>
          <a:xfrm>
            <a:off x="987552" y="2468880"/>
            <a:ext cx="54864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2542032"/>
            <a:ext cx="585216" cy="2743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600" b="1">
                <a:solidFill>
                  <a:srgbClr val="1C283A"/>
                </a:solidFill>
                <a:latin typeface="Calibri"/>
              </a:rPr>
              <a:t>CC-ext-sapi</a:t>
            </a:r>
          </a:p>
        </p:txBody>
      </p:sp>
      <p:sp>
        <p:nvSpPr>
          <p:cNvPr id="55" name="Hexagon 54"/>
          <p:cNvSpPr/>
          <p:nvPr/>
        </p:nvSpPr>
        <p:spPr>
          <a:xfrm>
            <a:off x="1572768" y="2468880"/>
            <a:ext cx="54864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54480" y="2542032"/>
            <a:ext cx="585216" cy="2743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600" b="1">
                <a:solidFill>
                  <a:srgbClr val="1C283A"/>
                </a:solidFill>
                <a:latin typeface="Calibri"/>
              </a:rPr>
              <a:t>CC-E6-XAPI</a:t>
            </a:r>
          </a:p>
        </p:txBody>
      </p:sp>
      <p:sp>
        <p:nvSpPr>
          <p:cNvPr id="57" name="Hexagon 56"/>
          <p:cNvSpPr/>
          <p:nvPr/>
        </p:nvSpPr>
        <p:spPr>
          <a:xfrm>
            <a:off x="2157984" y="2468880"/>
            <a:ext cx="54864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39696" y="2542032"/>
            <a:ext cx="585216" cy="2743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600" b="1">
                <a:solidFill>
                  <a:srgbClr val="1C283A"/>
                </a:solidFill>
                <a:latin typeface="Calibri"/>
              </a:rPr>
              <a:t>CC-User-Auth</a:t>
            </a:r>
          </a:p>
        </p:txBody>
      </p:sp>
      <p:sp>
        <p:nvSpPr>
          <p:cNvPr id="59" name="Hexagon 58"/>
          <p:cNvSpPr/>
          <p:nvPr/>
        </p:nvSpPr>
        <p:spPr>
          <a:xfrm>
            <a:off x="2743200" y="2468880"/>
            <a:ext cx="54864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24912" y="2542032"/>
            <a:ext cx="585216" cy="2743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600" b="1">
                <a:solidFill>
                  <a:srgbClr val="1C283A"/>
                </a:solidFill>
                <a:latin typeface="Calibri"/>
              </a:rPr>
              <a:t>CC-Application</a:t>
            </a:r>
          </a:p>
        </p:txBody>
      </p:sp>
      <p:sp>
        <p:nvSpPr>
          <p:cNvPr id="61" name="Hexagon 60"/>
          <p:cNvSpPr/>
          <p:nvPr/>
        </p:nvSpPr>
        <p:spPr>
          <a:xfrm>
            <a:off x="3328416" y="2468880"/>
            <a:ext cx="54864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10128" y="2542032"/>
            <a:ext cx="585216" cy="2743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600" b="1">
                <a:solidFill>
                  <a:srgbClr val="1C283A"/>
                </a:solidFill>
                <a:latin typeface="Calibri"/>
              </a:rPr>
              <a:t>CC-Notification</a:t>
            </a:r>
          </a:p>
        </p:txBody>
      </p:sp>
      <p:sp>
        <p:nvSpPr>
          <p:cNvPr id="63" name="Hexagon 62"/>
          <p:cNvSpPr/>
          <p:nvPr/>
        </p:nvSpPr>
        <p:spPr>
          <a:xfrm>
            <a:off x="3913632" y="2468880"/>
            <a:ext cx="54864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2542032"/>
            <a:ext cx="585216" cy="2743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600" b="1">
                <a:solidFill>
                  <a:srgbClr val="1C283A"/>
                </a:solidFill>
                <a:latin typeface="Calibri"/>
              </a:rPr>
              <a:t>CC-Instalment</a:t>
            </a:r>
          </a:p>
        </p:txBody>
      </p:sp>
      <p:sp>
        <p:nvSpPr>
          <p:cNvPr id="65" name="Hexagon 64"/>
          <p:cNvSpPr/>
          <p:nvPr/>
        </p:nvSpPr>
        <p:spPr>
          <a:xfrm>
            <a:off x="4498848" y="2468880"/>
            <a:ext cx="54864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80560" y="2542032"/>
            <a:ext cx="585216" cy="2743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600" b="1">
                <a:solidFill>
                  <a:srgbClr val="1C283A"/>
                </a:solidFill>
                <a:latin typeface="Calibri"/>
              </a:rPr>
              <a:t>CC-Card-ops</a:t>
            </a:r>
          </a:p>
        </p:txBody>
      </p:sp>
      <p:sp>
        <p:nvSpPr>
          <p:cNvPr id="67" name="Hexagon 66"/>
          <p:cNvSpPr/>
          <p:nvPr/>
        </p:nvSpPr>
        <p:spPr>
          <a:xfrm>
            <a:off x="5084064" y="2468880"/>
            <a:ext cx="54864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65776" y="2542032"/>
            <a:ext cx="585216" cy="2743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600" b="1">
                <a:solidFill>
                  <a:srgbClr val="1C283A"/>
                </a:solidFill>
                <a:latin typeface="Calibri"/>
              </a:rPr>
              <a:t>CC-BillPayment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25312" y="2249424"/>
            <a:ext cx="26060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16752" y="2267712"/>
            <a:ext cx="2377440" cy="14630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B4F72"/>
                </a:solidFill>
                <a:latin typeface="Calibri"/>
              </a:rPr>
              <a:t>Loan microservices  (20+)</a:t>
            </a:r>
          </a:p>
        </p:txBody>
      </p:sp>
      <p:sp>
        <p:nvSpPr>
          <p:cNvPr id="71" name="Hexagon 70"/>
          <p:cNvSpPr/>
          <p:nvPr/>
        </p:nvSpPr>
        <p:spPr>
          <a:xfrm>
            <a:off x="6080760" y="2468880"/>
            <a:ext cx="109728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80760" y="2542032"/>
            <a:ext cx="109728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loan-application</a:t>
            </a:r>
          </a:p>
        </p:txBody>
      </p:sp>
      <p:sp>
        <p:nvSpPr>
          <p:cNvPr id="73" name="Hexagon 72"/>
          <p:cNvSpPr/>
          <p:nvPr/>
        </p:nvSpPr>
        <p:spPr>
          <a:xfrm>
            <a:off x="7269480" y="2468880"/>
            <a:ext cx="1097280" cy="384048"/>
          </a:xfrm>
          <a:prstGeom prst="hexagon">
            <a:avLst/>
          </a:prstGeom>
          <a:solidFill>
            <a:srgbClr val="F5B7B1"/>
          </a:solidFill>
          <a:ln w="9525">
            <a:solidFill>
              <a:srgbClr val="E6B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69480" y="2542032"/>
            <a:ext cx="1097280" cy="25603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loan-repayment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41080" y="2249424"/>
            <a:ext cx="16916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705088" y="2340864"/>
            <a:ext cx="1554480" cy="50292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0">
                <a:solidFill>
                  <a:srgbClr val="4A5568"/>
                </a:solidFill>
                <a:latin typeface="Calibri"/>
              </a:rPr>
              <a:t>Emit events /
transactions only
(no scoring)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4672" y="3108960"/>
            <a:ext cx="9646920" cy="1572768"/>
          </a:xfrm>
          <a:prstGeom prst="rect">
            <a:avLst/>
          </a:prstGeom>
          <a:solidFill>
            <a:srgbClr val="E8EEF4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9728" y="3108960"/>
            <a:ext cx="640080" cy="1572768"/>
          </a:xfrm>
          <a:prstGeom prst="rect">
            <a:avLst/>
          </a:prstGeom>
          <a:solidFill>
            <a:srgbClr val="E8EEF4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8016" y="3163824"/>
            <a:ext cx="603504" cy="3291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1">
                <a:solidFill>
                  <a:srgbClr val="1B4F72"/>
                </a:solidFill>
                <a:latin typeface="Calibri"/>
              </a:rPr>
              <a:t>04
Core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8016" y="3474720"/>
            <a:ext cx="603504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700" b="0">
                <a:solidFill>
                  <a:srgbClr val="7F8C8D"/>
                </a:solidFill>
                <a:latin typeface="Calibri"/>
              </a:rPr>
              <a:t>Reward
System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6112" y="3182112"/>
            <a:ext cx="9464040" cy="1426464"/>
          </a:xfrm>
          <a:prstGeom prst="roundRect">
            <a:avLst>
              <a:gd name="adj" fmla="val 3000"/>
            </a:avLst>
          </a:prstGeom>
          <a:solidFill>
            <a:srgbClr val="1A365D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3200400"/>
            <a:ext cx="5943600" cy="18288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Reward System (RS)   ·   NEW DOMAIN WE STAND UP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" y="3364992"/>
            <a:ext cx="6583680" cy="14630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0">
                <a:solidFill>
                  <a:srgbClr val="AEC6CF"/>
                </a:solidFill>
                <a:latin typeface="Calibri"/>
              </a:rPr>
              <a:t>Wallets · posting · calculation · books   ·   Kafka as the integration bus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5840" y="3566160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Reward Wallet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816352" y="3566160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Chart of Accounts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626864" y="3566160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Points Calculation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37376" y="3566160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Hold &amp; Release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247888" y="3566160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Referral Posting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05840" y="3849624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Double-Entry Posting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816352" y="3849624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Earn Engine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626864" y="3849624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Txn Eligibility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37376" y="3849624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Balance Inquiry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247888" y="3849624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Reconciliation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5840" y="4133088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Accounting Rules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816352" y="4133088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Burn Engine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26864" y="4133088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Rule Configurator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437376" y="4133088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Referrer Mgmt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247888" y="4133088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5840" y="4416552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Idempotency Queue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816352" y="4416552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Wallet Tiering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626864" y="4416552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Balance Reversal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437376" y="4416552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Balance Adjustment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247888" y="4416552"/>
            <a:ext cx="1737360" cy="237744"/>
          </a:xfrm>
          <a:prstGeom prst="roundRect">
            <a:avLst>
              <a:gd name="adj" fmla="val 15000"/>
            </a:avLst>
          </a:prstGeom>
          <a:solidFill>
            <a:srgbClr val="2E86AB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Statement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04672" y="4736592"/>
            <a:ext cx="9646920" cy="1078992"/>
          </a:xfrm>
          <a:prstGeom prst="rect">
            <a:avLst/>
          </a:prstGeom>
          <a:solidFill>
            <a:srgbClr val="EAF7F0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9728" y="4736592"/>
            <a:ext cx="640080" cy="1078992"/>
          </a:xfrm>
          <a:prstGeom prst="rect">
            <a:avLst/>
          </a:prstGeom>
          <a:solidFill>
            <a:srgbClr val="EAF7F0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28016" y="4791456"/>
            <a:ext cx="603504" cy="3291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1">
                <a:solidFill>
                  <a:srgbClr val="1B4F72"/>
                </a:solidFill>
                <a:latin typeface="Calibri"/>
              </a:rPr>
              <a:t>05
Fulfill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8016" y="5102352"/>
            <a:ext cx="603504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700" b="0">
                <a:solidFill>
                  <a:srgbClr val="7F8C8D"/>
                </a:solidFill>
                <a:latin typeface="Calibri"/>
              </a:rPr>
              <a:t>CRP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96112" y="4791456"/>
            <a:ext cx="9464040" cy="9692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4604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5840" y="4809744"/>
            <a:ext cx="8686800" cy="16459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1000" b="1">
                <a:solidFill>
                  <a:srgbClr val="14532D"/>
                </a:solidFill>
                <a:latin typeface="Calibri"/>
              </a:rPr>
              <a:t>CRP  ·  Centralized Redemption Platform     UAF-owned coupon control plane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40" y="4974336"/>
            <a:ext cx="8961120" cy="128016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0">
                <a:solidFill>
                  <a:srgbClr val="7F8C8D"/>
                </a:solidFill>
                <a:latin typeface="Calibri"/>
              </a:rPr>
              <a:t>Cross-boundary verbs from RS:  Request to issue coupon  ·  Request to use coupon  ·  Retrieve redeemable list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05840" y="515721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Coupon Validation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304288" y="515721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Inventory Mgmt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602736" y="515721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Coupon Catalog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901184" y="515721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Redemption Engine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199632" y="515721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Code Generation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498080" y="515721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Usage Reporting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796528" y="515721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Vendor Mgmt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05840" y="543153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UA Coupon Provider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304288" y="543153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Audit Trail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02736" y="543153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Low-stock Monitor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901184" y="543153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Customer Ownership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199632" y="543153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Coupon Wallet History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498080" y="5431536"/>
            <a:ext cx="1243584" cy="237744"/>
          </a:xfrm>
          <a:prstGeom prst="roundRect">
            <a:avLst>
              <a:gd name="adj" fmla="val 15000"/>
            </a:avLst>
          </a:prstGeom>
          <a:solidFill>
            <a:srgbClr val="D5F5E3"/>
          </a:solidFill>
          <a:ln w="9525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700" b="1">
                <a:solidFill>
                  <a:srgbClr val="14532D"/>
                </a:solidFill>
                <a:latin typeface="Calibri"/>
              </a:rPr>
              <a:t>Coupon Wallet Search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04672" y="5870448"/>
            <a:ext cx="9646920" cy="713232"/>
          </a:xfrm>
          <a:prstGeom prst="rect">
            <a:avLst/>
          </a:prstGeom>
          <a:solidFill>
            <a:srgbClr val="F4F6F7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9728" y="5870448"/>
            <a:ext cx="640080" cy="713232"/>
          </a:xfrm>
          <a:prstGeom prst="rect">
            <a:avLst/>
          </a:prstGeom>
          <a:solidFill>
            <a:srgbClr val="F4F6F7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28016" y="5925312"/>
            <a:ext cx="603504" cy="3291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800" b="1">
                <a:solidFill>
                  <a:srgbClr val="1B4F72"/>
                </a:solidFill>
                <a:latin typeface="Calibri"/>
              </a:rPr>
              <a:t>06
Store &amp;
edge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8016" y="6236208"/>
            <a:ext cx="603504" cy="36576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700" b="0">
                <a:solidFill>
                  <a:srgbClr val="7F8C8D"/>
                </a:solidFill>
                <a:latin typeface="Calibri"/>
              </a:rPr>
              <a:t>data +
COD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96112" y="5925312"/>
            <a:ext cx="1280160" cy="14630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1">
                <a:solidFill>
                  <a:srgbClr val="1B4F72"/>
                </a:solidFill>
                <a:latin typeface="Calibri"/>
              </a:rPr>
              <a:t>Persistent layer</a:t>
            </a:r>
          </a:p>
        </p:txBody>
      </p:sp>
      <p:sp>
        <p:nvSpPr>
          <p:cNvPr id="129" name="Can 128"/>
          <p:cNvSpPr/>
          <p:nvPr/>
        </p:nvSpPr>
        <p:spPr>
          <a:xfrm>
            <a:off x="896112" y="6089904"/>
            <a:ext cx="960120" cy="420624"/>
          </a:xfrm>
          <a:prstGeom prst="can">
            <a:avLst/>
          </a:prstGeom>
          <a:solidFill>
            <a:srgbClr val="D5DBDB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Wallets</a:t>
            </a:r>
          </a:p>
        </p:txBody>
      </p:sp>
      <p:sp>
        <p:nvSpPr>
          <p:cNvPr id="130" name="Can 129"/>
          <p:cNvSpPr/>
          <p:nvPr/>
        </p:nvSpPr>
        <p:spPr>
          <a:xfrm>
            <a:off x="1947672" y="6089904"/>
            <a:ext cx="960120" cy="420624"/>
          </a:xfrm>
          <a:prstGeom prst="can">
            <a:avLst/>
          </a:prstGeom>
          <a:solidFill>
            <a:srgbClr val="D5DBDB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Rewards</a:t>
            </a:r>
          </a:p>
        </p:txBody>
      </p:sp>
      <p:sp>
        <p:nvSpPr>
          <p:cNvPr id="131" name="Can 130"/>
          <p:cNvSpPr/>
          <p:nvPr/>
        </p:nvSpPr>
        <p:spPr>
          <a:xfrm>
            <a:off x="2999232" y="6089904"/>
            <a:ext cx="960120" cy="420624"/>
          </a:xfrm>
          <a:prstGeom prst="can">
            <a:avLst/>
          </a:prstGeom>
          <a:solidFill>
            <a:srgbClr val="D5DBDB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CBP</a:t>
            </a:r>
          </a:p>
        </p:txBody>
      </p:sp>
      <p:sp>
        <p:nvSpPr>
          <p:cNvPr id="132" name="Can 131"/>
          <p:cNvSpPr/>
          <p:nvPr/>
        </p:nvSpPr>
        <p:spPr>
          <a:xfrm>
            <a:off x="4050791" y="6089904"/>
            <a:ext cx="960120" cy="420624"/>
          </a:xfrm>
          <a:prstGeom prst="can">
            <a:avLst/>
          </a:prstGeom>
          <a:solidFill>
            <a:srgbClr val="D5DBDB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Coupon stocks</a:t>
            </a:r>
          </a:p>
        </p:txBody>
      </p:sp>
      <p:sp>
        <p:nvSpPr>
          <p:cNvPr id="133" name="Can 132"/>
          <p:cNvSpPr/>
          <p:nvPr/>
        </p:nvSpPr>
        <p:spPr>
          <a:xfrm>
            <a:off x="5102352" y="6089904"/>
            <a:ext cx="960120" cy="420624"/>
          </a:xfrm>
          <a:prstGeom prst="can">
            <a:avLst/>
          </a:prstGeom>
          <a:solidFill>
            <a:srgbClr val="D5DBDB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1C283A"/>
                </a:solidFill>
                <a:latin typeface="Calibri"/>
              </a:rPr>
              <a:t>Coupon wallet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63640" y="5961888"/>
            <a:ext cx="1874519" cy="530352"/>
          </a:xfrm>
          <a:prstGeom prst="roundRect">
            <a:avLst>
              <a:gd name="adj" fmla="val 8000"/>
            </a:avLst>
          </a:prstGeom>
          <a:solidFill>
            <a:srgbClr val="D5F5E3"/>
          </a:solidFill>
          <a:ln w="127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263640" y="5961888"/>
            <a:ext cx="1874519" cy="530352"/>
          </a:xfrm>
          <a:prstGeom prst="roundRect">
            <a:avLst>
              <a:gd name="adj" fmla="val 8000"/>
            </a:avLst>
          </a:prstGeom>
          <a:solidFill>
            <a:srgbClr val="D5F5E3"/>
          </a:solidFill>
          <a:ln w="12700">
            <a:solidFill>
              <a:srgbClr val="1E8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900" b="1">
                <a:solidFill>
                  <a:srgbClr val="14532D"/>
                </a:solidFill>
                <a:latin typeface="Calibri"/>
              </a:rPr>
              <a:t>COD  ·  partner fulfill
(server / rails)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275320" y="5961888"/>
            <a:ext cx="2029968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339327" y="6016752"/>
            <a:ext cx="1920240" cy="42062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b="0">
                <a:solidFill>
                  <a:srgbClr val="4A5568"/>
                </a:solidFill>
                <a:latin typeface="Calibri"/>
              </a:rPr>
              <a:t>RS never holds coupon stock.
CBP/CRP executes coupon reality.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588752" y="530352"/>
            <a:ext cx="1444752" cy="6053328"/>
          </a:xfrm>
          <a:prstGeom prst="rect">
            <a:avLst/>
          </a:prstGeom>
          <a:solidFill>
            <a:srgbClr val="1A365D"/>
          </a:solidFill>
          <a:ln w="14604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25328" y="603504"/>
            <a:ext cx="1371600" cy="329184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EVENT BUS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25328" y="896112"/>
            <a:ext cx="1371600" cy="164592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ctr"/>
            <a:r>
              <a:rPr sz="1000" b="1">
                <a:solidFill>
                  <a:srgbClr val="5DAEE2"/>
                </a:solidFill>
                <a:latin typeface="Calibri"/>
              </a:rPr>
              <a:t>Kafka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680192" y="1188720"/>
            <a:ext cx="1261872" cy="502920"/>
          </a:xfrm>
          <a:prstGeom prst="roundRect">
            <a:avLst>
              <a:gd name="adj" fmla="val 15000"/>
            </a:avLst>
          </a:prstGeom>
          <a:solidFill>
            <a:srgbClr val="2C5282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CC / Loan events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680192" y="1810512"/>
            <a:ext cx="1261872" cy="502920"/>
          </a:xfrm>
          <a:prstGeom prst="roundRect">
            <a:avLst>
              <a:gd name="adj" fmla="val 15000"/>
            </a:avLst>
          </a:prstGeom>
          <a:solidFill>
            <a:srgbClr val="2C5282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Idempotent ingest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0680192" y="2432304"/>
            <a:ext cx="1261872" cy="502920"/>
          </a:xfrm>
          <a:prstGeom prst="roundRect">
            <a:avLst>
              <a:gd name="adj" fmla="val 15000"/>
            </a:avLst>
          </a:prstGeom>
          <a:solidFill>
            <a:srgbClr val="2C5282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Balance updated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0680192" y="3054096"/>
            <a:ext cx="1261872" cy="502920"/>
          </a:xfrm>
          <a:prstGeom prst="roundRect">
            <a:avLst>
              <a:gd name="adj" fmla="val 15000"/>
            </a:avLst>
          </a:prstGeom>
          <a:solidFill>
            <a:srgbClr val="2C5282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Issue-coupon intent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680192" y="3675888"/>
            <a:ext cx="1261872" cy="502920"/>
          </a:xfrm>
          <a:prstGeom prst="roundRect">
            <a:avLst>
              <a:gd name="adj" fmla="val 15000"/>
            </a:avLst>
          </a:prstGeom>
          <a:solidFill>
            <a:srgbClr val="2C5282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Use-coupon intent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10680192" y="4297680"/>
            <a:ext cx="1261872" cy="502920"/>
          </a:xfrm>
          <a:prstGeom prst="roundRect">
            <a:avLst>
              <a:gd name="adj" fmla="val 15000"/>
            </a:avLst>
          </a:prstGeom>
          <a:solidFill>
            <a:srgbClr val="2C5282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Redeemable list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0680192" y="4919472"/>
            <a:ext cx="1261872" cy="502920"/>
          </a:xfrm>
          <a:prstGeom prst="roundRect">
            <a:avLst>
              <a:gd name="adj" fmla="val 15000"/>
            </a:avLst>
          </a:prstGeom>
          <a:solidFill>
            <a:srgbClr val="2C5282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Audit / trail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0680192" y="5541264"/>
            <a:ext cx="1261872" cy="502920"/>
          </a:xfrm>
          <a:prstGeom prst="roundRect">
            <a:avLst>
              <a:gd name="adj" fmla="val 15000"/>
            </a:avLst>
          </a:prstGeom>
          <a:solidFill>
            <a:srgbClr val="2C5282"/>
          </a:solidFill>
          <a:ln w="9525">
            <a:solidFill>
              <a:srgbClr val="5DA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1270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Ops entitlements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